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0:30</a:t>
            </a:r>
          </a:p>
          <a:p>
            <a:r>
              <a:t>Remember: I measured how accurately language models read chemistry papers, and what it costs.</a:t>
            </a:r>
          </a:p>
          <a:p/>
          <a:p>
            <a:r>
              <a:t>Good morning. My name is Devendra Singh Dhakad, and this is my Case Study 2, supervised by</a:t>
            </a:r>
          </a:p>
          <a:p>
            <a:r>
              <a:t>Professor Jalali.</a:t>
            </a:r>
          </a:p>
          <a:p/>
          <a:p>
            <a:r>
              <a:t>The title is Building and Validating a Metal–Organic Framework Synthesis Knowledge Graph with</a:t>
            </a:r>
          </a:p>
          <a:p>
            <a:r>
              <a:t>Large Language Models.</a:t>
            </a:r>
          </a:p>
          <a:p/>
          <a:p>
            <a:r>
              <a:t>In one sentence: I measured how accurately AI language models can read chemistry papers and pull</a:t>
            </a:r>
          </a:p>
          <a:p>
            <a:r>
              <a:t>out how a material was made, and what that accuracy costs.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1:15</a:t>
            </a:r>
          </a:p>
          <a:p>
            <a:r>
              <a:t>Remember: The recipes exist, but only as sentences in papers.</a:t>
            </a:r>
          </a:p>
          <a:p/>
          <a:p>
            <a:r>
              <a:t>First, the problem.</a:t>
            </a:r>
          </a:p>
          <a:p/>
          <a:p>
            <a:r>
              <a:t>Metal–organic frameworks, or MOFs, are crystals built from metal nodes connected by organic</a:t>
            </a:r>
          </a:p>
          <a:p>
            <a:r>
              <a:t>linkers. Inside they are mostly empty space, and that is what makes them useful: capturing</a:t>
            </a:r>
          </a:p>
          <a:p>
            <a:r>
              <a:t>carbon dioxide, storing gas, catalysis, drug delivery. More than a hundred thousand of them are</a:t>
            </a:r>
          </a:p>
          <a:p>
            <a:r>
              <a:t>recorded in the Cambridge Structural Database.</a:t>
            </a:r>
          </a:p>
          <a:p/>
          <a:p>
            <a:r>
              <a:t>Every one was made by following a recipe: a metal precursor, a linker, a solvent, a method, a</a:t>
            </a:r>
          </a:p>
          <a:p>
            <a:r>
              <a:t>temperature and a time. But those recipes are written as sentences, inside tens of thousands of</a:t>
            </a:r>
          </a:p>
          <a:p>
            <a:r>
              <a:t>papers. There is no complete structured table of them.</a:t>
            </a:r>
          </a:p>
          <a:p/>
          <a:p>
            <a:r>
              <a:t>The databases that do exist, like DigiMOF, were built with rule-based text mining. And their own</a:t>
            </a:r>
          </a:p>
          <a:p>
            <a:r>
              <a:t>authors wrote that routes a paper only implies are hard for rules to extract.</a:t>
            </a:r>
          </a:p>
          <a:p/>
          <a:p>
            <a:r>
              <a:t>[point to the box] So the gap is this. Nobody had measured language-model extraction of MOF</a:t>
            </a:r>
          </a:p>
          <a:p>
            <a:r>
              <a:t>recipes field by field, against both a human answer key and a rule-based baseline, and reported</a:t>
            </a:r>
          </a:p>
          <a:p>
            <a:r>
              <a:t>the cost.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1:00 *(can shorten)*</a:t>
            </a:r>
          </a:p>
          <a:p>
            <a:r>
              <a:t>Remember: Five questions, four answered, and the fifth has a reason.</a:t>
            </a:r>
          </a:p>
          <a:p/>
          <a:p>
            <a:r>
              <a:t>That gives five research questions.</a:t>
            </a:r>
          </a:p>
          <a:p/>
          <a:p>
            <a:r>
              <a:t>RQ1: field by field, how do language models compare with a rule-based baseline built from the</a:t>
            </a:r>
          </a:p>
          <a:p>
            <a:r>
              <a:t>same vocabulary?</a:t>
            </a:r>
          </a:p>
          <a:p/>
          <a:p>
            <a:r>
              <a:t>RQ2: which of four prompting strategies works best?</a:t>
            </a:r>
          </a:p>
          <a:p/>
          <a:p>
            <a:r>
              <a:t>RQ3: where do the extractions disagree with DigiMOF and SynMOF?</a:t>
            </a:r>
          </a:p>
          <a:p/>
          <a:p>
            <a:r>
              <a:t>RQ4: open-weight models against commercial ones, on accuracy, cost and latency.</a:t>
            </a:r>
          </a:p>
          <a:p/>
          <a:p>
            <a:r>
              <a:t>And RQ5: can the knowledge graph answer questions across hundreds of papers?</a:t>
            </a:r>
          </a:p>
          <a:p/>
          <a:p>
            <a:r>
              <a:t>I answered four of the five. RQ3 I could not answer, and I will explain exactly why near the</a:t>
            </a:r>
          </a:p>
          <a:p>
            <a:r>
              <a:t>end, because I think the reason is a finding in itself.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1:30</a:t>
            </a:r>
          </a:p>
          <a:p>
            <a:r>
              <a:t>Remember: Every extractor has the same interface, so the comparison is fair.</a:t>
            </a:r>
          </a:p>
          <a:p/>
          <a:p>
            <a:r>
              <a:t>This is the pipeline.</a:t>
            </a:r>
          </a:p>
          <a:p/>
          <a:p>
            <a:r>
              <a:t>[start at the top left] I collected 399 open-access papers from Europe PMC, with their sections</a:t>
            </a:r>
          </a:p>
          <a:p>
            <a:r>
              <a:t>already labelled. The segmentation step cut them into 22,086 passages and scored each one on how</a:t>
            </a:r>
          </a:p>
          <a:p>
            <a:r>
              <a:t>much it looks like a synthesis procedure. 794 passed the threshold.</a:t>
            </a:r>
          </a:p>
          <a:p/>
          <a:p>
            <a:r>
              <a:t>[point to Extraction] Then extraction. The rule-based baseline and the language models sit</a:t>
            </a:r>
          </a:p>
          <a:p>
            <a:r>
              <a:t>inside one stage, because they all implement the same interface and return exactly the same</a:t>
            </a:r>
          </a:p>
          <a:p>
            <a:r>
              <a:t>output shape. That is the design decision that makes the comparison fair: every extractor is</a:t>
            </a:r>
          </a:p>
          <a:p>
            <a:r>
              <a:t>scored on identical terms.</a:t>
            </a:r>
          </a:p>
          <a:p/>
          <a:p>
            <a:r>
              <a:t>[point to the orange boxes] Notice that every stage writes a file to disk, and the next stage</a:t>
            </a:r>
          </a:p>
          <a:p>
            <a:r>
              <a:t>reads it. So I can rerun any single stage without rerunning the rest, and every intermediate</a:t>
            </a:r>
          </a:p>
          <a:p>
            <a:r>
              <a:t>result can be opened and checked. Every language-model response is also cached, so I never paid</a:t>
            </a:r>
          </a:p>
          <a:p>
            <a:r>
              <a:t>twice for the same call.</a:t>
            </a:r>
          </a:p>
          <a:p/>
          <a:p>
            <a:r>
              <a:t>[point to the green boxes] At the end, the results go to evaluation, and into a Neo4j knowledge</a:t>
            </a:r>
          </a:p>
          <a:p>
            <a:r>
              <a:t>graph.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1:15</a:t>
            </a:r>
          </a:p>
          <a:p>
            <a:r>
              <a:t>Remember: The answer key was made by hand, because a model-made one would be circular.</a:t>
            </a:r>
          </a:p>
          <a:p/>
          <a:p>
            <a:r>
              <a:t>The most important part of the whole project is this one: the gold standard, the answer key.</a:t>
            </a:r>
          </a:p>
          <a:p/>
          <a:p>
            <a:r>
              <a:t>I annotated 100 passages by hand, which gave 138 facts, or triples.</a:t>
            </a:r>
          </a:p>
          <a:p/>
          <a:p>
            <a:r>
              <a:t>The sample was stratified with a fixed seed: 90 passages the filter had flagged as synthesis,</a:t>
            </a:r>
          </a:p>
          <a:p>
            <a:r>
              <a:t>and 10 it had not. Those 10 controls let me measure how often the filter itself misses a recipe,</a:t>
            </a:r>
          </a:p>
          <a:p>
            <a:r>
              <a:t>instead of simply assuming it works.</a:t>
            </a:r>
          </a:p>
          <a:p/>
          <a:p>
            <a:r>
              <a:t>[point to the box] And I deliberately did not let any model pre-fill it. The gold standard is</a:t>
            </a:r>
          </a:p>
          <a:p>
            <a:r>
              <a:t>the ruler every model is measured against. If a language model had written it, the evaluation</a:t>
            </a:r>
          </a:p>
          <a:p>
            <a:r>
              <a:t>would be circular: any mistake the models share would be counted as correct.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1:15</a:t>
            </a:r>
          </a:p>
          <a:p>
            <a:r>
              <a:t>Remember: Provenance is added by the pipeline, so it cannot be hallucinated.</a:t>
            </a:r>
          </a:p>
          <a:p/>
          <a:p>
            <a:r>
              <a:t>This is the ontology: the schema of what gets extracted. Nine entity types and nine relations,</a:t>
            </a:r>
          </a:p>
          <a:p>
            <a:r>
              <a:t>with the MOF at the centre.</a:t>
            </a:r>
          </a:p>
          <a:p/>
          <a:p>
            <a:r>
              <a:t>Two details matter. [point] Solvent and Condition attach to the SynthesisMethod, not directly to</a:t>
            </a:r>
          </a:p>
          <a:p>
            <a:r>
              <a:t>the MOF. And MENTIONED_IN, the link back to the source paper, is added by the pipeline and never</a:t>
            </a:r>
          </a:p>
          <a:p>
            <a:r>
              <a:t>by a model, so provenance cannot be hallucinated.</a:t>
            </a:r>
          </a:p>
          <a:p/>
          <a:p>
            <a:r>
              <a:t>Matching is done per passage and per relation, one to one, so no answer can be credited twice.</a:t>
            </a:r>
          </a:p>
          <a:p/>
          <a:p>
            <a:r>
              <a:t>And one thing I declare openly. My annotation tool had a bug: it kept the MOF name in the</a:t>
            </a:r>
          </a:p>
          <a:p>
            <a:r>
              <a:t>subject field of the solvent and condition triples. Rather than let a model rewrite the gold</a:t>
            </a:r>
          </a:p>
          <a:p>
            <a:r>
              <a:t>standard, I scored those two relations on the object only, and the report says so.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1:00</a:t>
            </a:r>
          </a:p>
          <a:p>
            <a:r>
              <a:t>Remember: Every model beat the rules, and the best one was also one of the cheapest.</a:t>
            </a:r>
          </a:p>
          <a:p/>
          <a:p>
            <a:r>
              <a:t>Now the results. Ten configurations: the rule baseline, two commercial models, gpt-4o and</a:t>
            </a:r>
          </a:p>
          <a:p>
            <a:r>
              <a:t>gpt-4o-mini, and one open-weight model, with different prompting strategies. The complete set of</a:t>
            </a:r>
          </a:p>
          <a:p>
            <a:r>
              <a:t>experiments cost an estimated 3.06 US dollars, calculated from the recorded token counts at the</a:t>
            </a:r>
          </a:p>
          <a:p>
            <a:r>
              <a:t>providers' published prices.</a:t>
            </a:r>
          </a:p>
          <a:p/>
          <a:p>
            <a:r>
              <a:t>[point to the chart] Cost runs along the bottom, accuracy up the side, measured as F1.</a:t>
            </a:r>
          </a:p>
          <a:p/>
          <a:p>
            <a:r>
              <a:t>Two things stand out. Every language-model configuration beats the rule baseline: the weakest</a:t>
            </a:r>
          </a:p>
          <a:p>
            <a:r>
              <a:t>scores 0.191, the baseline 0.112. And the best configuration, here at the top left, is also one</a:t>
            </a:r>
          </a:p>
          <a:p>
            <a:r>
              <a:t>of the cheapest.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1:30</a:t>
            </a:r>
          </a:p>
          <a:p>
            <a:r>
              <a:t>Remember: I predicted it in advance; the part that can be tested held.</a:t>
            </a:r>
          </a:p>
          <a:p/>
          <a:p>
            <a:r>
              <a:t>Now field by field.</a:t>
            </a:r>
          </a:p>
          <a:p/>
          <a:p>
            <a:r>
              <a:t>On 23 August, eight days before the first model results were recorded, I wrote down a</a:t>
            </a:r>
          </a:p>
          <a:p>
            <a:r>
              <a:t>prediction and committed it to the repository. [point to the box] The language models should beat the rules by</a:t>
            </a:r>
          </a:p>
          <a:p>
            <a:r>
              <a:t>the most on the metal precursor, the linker and the synthesis method, and by the least on</a:t>
            </a:r>
          </a:p>
          <a:p>
            <a:r>
              <a:t>conditions and solvents. My reasoning was that working out which material is being made needs</a:t>
            </a:r>
          </a:p>
          <a:p>
            <a:r>
              <a:t>reading comprehension, whereas a temperature or a solvent name is a simple pattern.</a:t>
            </a:r>
          </a:p>
          <a:p/>
          <a:p>
            <a:r>
              <a:t>One of those three, the synthesis method, has only a single triple in my gold standard, so it</a:t>
            </a:r>
          </a:p>
          <a:p>
            <a:r>
              <a:t>cannot be tested either way. On the four fields that can be tested, the margins were plus 0.42,</a:t>
            </a:r>
          </a:p>
          <a:p>
            <a:r>
              <a:t>0.31, 0.25 and 0.17. Precursor and linker lead, solvent and condition trail, as predicted. And</a:t>
            </a:r>
          </a:p>
          <a:p>
            <a:r>
              <a:t>because it was written down first, that part is a genuine confirmation.</a:t>
            </a:r>
          </a:p>
          <a:p/>
          <a:p>
            <a:r>
              <a:t>One caveat. The condition scores are low for every system, because I annotated conditions as one</a:t>
            </a:r>
          </a:p>
          <a:p>
            <a:r>
              <a:t>combined string, while the models split them into separate parts. So that field measures</a:t>
            </a:r>
          </a:p>
          <a:p>
            <a:r>
              <a:t>annotation style rather than accuracy, and I leave it out of my conclusions. Without it, the best</a:t>
            </a:r>
          </a:p>
          <a:p>
            <a:r>
              <a:t>configuration averages about 0.53.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1:45</a:t>
            </a:r>
          </a:p>
          <a:p>
            <a:r>
              <a:t>Remember: gpt-4o extracts less. Measured. Why, not yet.</a:t>
            </a:r>
          </a:p>
          <a:p/>
          <a:p>
            <a:r>
              <a:t>This is the result I think matters most. The cheap model beat the expensive one.</a:t>
            </a:r>
          </a:p>
          <a:p/>
          <a:p>
            <a:r>
              <a:t>[point to the numbers] gpt-4o-mini with schema-guided prompting scored 0.364, for under three</a:t>
            </a:r>
          </a:p>
          <a:p>
            <a:r>
              <a:t>cents. gpt-4o with few-shot prompting cost 1.29 dollars and scored 0.245. That is a 47 times</a:t>
            </a:r>
          </a:p>
          <a:p>
            <a:r>
              <a:t>cost difference, in favour of the weaker model.</a:t>
            </a:r>
          </a:p>
          <a:p/>
          <a:p>
            <a:r>
              <a:t>My first explanation was that the bigger model writes more, and the extra output turns into</a:t>
            </a:r>
          </a:p>
          <a:p>
            <a:r>
              <a:t>false positives. But that is a claim I could test for free, because every output was saved. So</a:t>
            </a:r>
          </a:p>
          <a:p>
            <a:r>
              <a:t>I counted.</a:t>
            </a:r>
          </a:p>
          <a:p/>
          <a:p>
            <a:r>
              <a:t>It was wrong, and wrong in the opposite direction. gpt-4o produces fewer triples than</a:t>
            </a:r>
          </a:p>
          <a:p>
            <a:r>
              <a:t>gpt-4o-mini in all four strategies. The gap is not precision, it is recall. On schema-guided,</a:t>
            </a:r>
          </a:p>
          <a:p>
            <a:r>
              <a:t>gpt-4o finds 39 of the 138 correct facts, gpt-4o-mini finds 61, and precision is almost the</a:t>
            </a:r>
          </a:p>
          <a:p>
            <a:r>
              <a:t>same.</a:t>
            </a:r>
          </a:p>
          <a:p/>
          <a:p>
            <a:r>
              <a:t>So the larger model extracts less. But I have to be honest about one thing. Every one of my</a:t>
            </a:r>
          </a:p>
          <a:p>
            <a:r>
              <a:t>prompts tells the model to leave a fact out if it is unsure. So gpt-4o might be more cautious</a:t>
            </a:r>
          </a:p>
          <a:p>
            <a:r>
              <a:t>by nature, or it might simply follow my instruction more faithfully. My design cannot tell those</a:t>
            </a:r>
          </a:p>
          <a:p>
            <a:r>
              <a:t>two apart. The fix is simple: run both models again without that 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1:15</a:t>
            </a:r>
          </a:p>
          <a:p>
            <a:r>
              <a:t>Remember: It is not a dictionary problem, it is a linking problem.</a:t>
            </a:r>
          </a:p>
          <a:p/>
          <a:p>
            <a:r>
              <a:t>So why does the rule baseline do so badly?</a:t>
            </a:r>
          </a:p>
          <a:p/>
          <a:p>
            <a:r>
              <a:t>[point to the chart] It identifies which MOF a passage is about in only 121 of 794 passages,</a:t>
            </a:r>
          </a:p>
          <a:p>
            <a:r>
              <a:t>about 15 percent. And five of the eight relations have the MOF as their subject, so when the MOF</a:t>
            </a:r>
          </a:p>
          <a:p>
            <a:r>
              <a:t>is missing, most of the recipe cannot be extracted at all.</a:t>
            </a:r>
          </a:p>
          <a:p/>
          <a:p>
            <a:r>
              <a:t>The interesting part is why. In 331 passages, the MOF is named somewhere else in the paper. In</a:t>
            </a:r>
          </a:p>
          <a:p>
            <a:r>
              <a:t>251, it is called something like "compound 1", which is defined in a table. Neither of those is</a:t>
            </a:r>
          </a:p>
          <a:p>
            <a:r>
              <a:t>a missing word in a dictionary.</a:t>
            </a:r>
          </a:p>
          <a:p/>
          <a:p>
            <a:r>
              <a:t>So for anyone maintaining a rule-based system, the fix is linking across the paper and reading</a:t>
            </a:r>
          </a:p>
          <a:p>
            <a:r>
              <a:t>tables, not a bigger dictionary.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1:00 *(can shorten)*</a:t>
            </a:r>
          </a:p>
          <a:p>
            <a:r>
              <a:t>Remember: Every fact traces back to its paper, and I checked that with a query.</a:t>
            </a:r>
          </a:p>
          <a:p/>
          <a:p>
            <a:r>
              <a:t>RQ5, the knowledge graph. Built from the rule-based extractions over all 794 passages, it has</a:t>
            </a:r>
          </a:p>
          <a:p>
            <a:r>
              <a:t>485 distinct nodes and 2,429 relationships, across 182 papers.</a:t>
            </a:r>
          </a:p>
          <a:p/>
          <a:p>
            <a:r>
              <a:t>Every entity has a MENTIONED_IN edge back to its source paper. I verify that with a query that</a:t>
            </a:r>
          </a:p>
          <a:p>
            <a:r>
              <a:t>looks for any entity without one, and it returns zero rows. So provenance is checked, not just</a:t>
            </a:r>
          </a:p>
          <a:p>
            <a:r>
              <a:t>claimed.</a:t>
            </a:r>
          </a:p>
          <a:p/>
          <a:p>
            <a:r>
              <a:t>The graph can answer questions across papers. For example, solvothermal synthesis appears in 61</a:t>
            </a:r>
          </a:p>
          <a:p>
            <a:r>
              <a:t>papers, covering 30 MOFs.</a:t>
            </a:r>
          </a:p>
          <a:p/>
          <a:p>
            <a:r>
              <a:t>[point to the box] One open question. DigiMOF found more hydrothermal than solvothermal records,</a:t>
            </a:r>
          </a:p>
          <a:p>
            <a:r>
              <a:t>and called that surprising. My corpus shows the opposite. I record that; I do not claim to</a:t>
            </a:r>
          </a:p>
          <a:p>
            <a:r>
              <a:t>explain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1:30</a:t>
            </a:r>
          </a:p>
          <a:p>
            <a:r>
              <a:t>Remember: Undetermined is not the same as zero.</a:t>
            </a:r>
          </a:p>
          <a:p/>
          <a:p>
            <a:r>
              <a:t>This slide is what the study cannot show, and I want to be direct about it.</a:t>
            </a:r>
          </a:p>
          <a:p/>
          <a:p>
            <a:r>
              <a:t>RQ3 is not answered. DigiMOF and SynMOF identify each material by a CSD refcode. My corpus uses</a:t>
            </a:r>
          </a:p>
          <a:p>
            <a:r>
              <a:t>DOIs and the names written in the papers. Joining the two needs a licensed mapping that I did not</a:t>
            </a:r>
          </a:p>
          <a:p>
            <a:r>
              <a:t>have. So the overlap is undetermined, and that is not the same as zero. What I could measure is</a:t>
            </a:r>
          </a:p>
          <a:p>
            <a:r>
              <a:t>that the two databases agree with each other on the metal 98.9 percent of the time, across the</a:t>
            </a:r>
          </a:p>
          <a:p>
            <a:r>
              <a:t>509 MOFs they share.</a:t>
            </a:r>
          </a:p>
          <a:p/>
          <a:p>
            <a:r>
              <a:t>The best F1, 0.364, is below the 0.80 I targeted in the exposé. Part of that is strict text</a:t>
            </a:r>
          </a:p>
          <a:p>
            <a:r>
              <a:t>matching: a correct answer written differently counts as wrong. So 0.364 is a lower bound.</a:t>
            </a:r>
          </a:p>
          <a:p/>
          <a:p>
            <a:r>
              <a:t>The gold standard is 100 passages with one annotator, so I cannot compute agreement between</a:t>
            </a:r>
          </a:p>
          <a:p>
            <a:r>
              <a:t>annotators.</a:t>
            </a:r>
          </a:p>
          <a:p/>
          <a:p>
            <a:r>
              <a:t>Two open-weight runs hit a daily free-tier limit, and I deleted them rather than score them,</a:t>
            </a:r>
          </a:p>
          <a:p>
            <a:r>
              <a:t>because a half-finished run makes a rate-limited model look like a bad model.</a:t>
            </a:r>
          </a:p>
          <a:p/>
          <a:p>
            <a:r>
              <a:t>And every configuration ran once, so there is no estimate of variance.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a:t>
            </a:r>
          </a:p>
          <a:p>
            <a:r>
              <a:t>Remember: Beat the rules, predicted where, measured what the cheap one does better.</a:t>
            </a:r>
          </a:p>
          <a:p/>
          <a:p>
            <a:r>
              <a:t>To conclude.</a:t>
            </a:r>
          </a:p>
          <a:p/>
          <a:p>
            <a:r>
              <a:t>Language models beat the rule baseline in every configuration, and the testable part of my</a:t>
            </a:r>
          </a:p>
          <a:p>
            <a:r>
              <a:t>pre-registered prediction held. The cheaper model won because the larger one extracts less.</a:t>
            </a:r>
          </a:p>
          <a:p>
            <a:r>
              <a:t>That is measured; why it extracts less is not yet. On the like-for-like zero-shot comparison, a free open-weight model reached about</a:t>
            </a:r>
          </a:p>
          <a:p>
            <a:r>
              <a:t>two thirds of the commercial score. And the knowledge graph is provenance-complete, verified by</a:t>
            </a:r>
          </a:p>
          <a:p>
            <a:r>
              <a:t>query.</a:t>
            </a:r>
          </a:p>
          <a:p/>
          <a:p>
            <a:r>
              <a:t>For future work: obtain a refcode mapping and close RQ3, rerun both models without the</a:t>
            </a:r>
          </a:p>
          <a:p>
            <a:r>
              <a:t>"omit when unsure" instruction to separate caution from obedience, repair the condition</a:t>
            </a:r>
          </a:p>
          <a:p>
            <a:r>
              <a:t>evaluation, and add a second annotator.</a:t>
            </a:r>
          </a:p>
          <a:p/>
          <a:p>
            <a:r>
              <a:t>Thank you. I am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5.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6.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rh_logo.jpg"/>
          <p:cNvPicPr>
            <a:picLocks noChangeAspect="1"/>
          </p:cNvPicPr>
          <p:nvPr/>
        </p:nvPicPr>
        <p:blipFill>
          <a:blip r:embed="rId2"/>
          <a:stretch>
            <a:fillRect/>
          </a:stretch>
        </p:blipFill>
        <p:spPr>
          <a:xfrm>
            <a:off x="5318607" y="960120"/>
            <a:ext cx="1554480" cy="1202025"/>
          </a:xfrm>
          <a:prstGeom prst="rect">
            <a:avLst/>
          </a:prstGeom>
        </p:spPr>
      </p:pic>
      <p:sp>
        <p:nvSpPr>
          <p:cNvPr id="3" name="TextBox 2"/>
          <p:cNvSpPr txBox="1"/>
          <p:nvPr/>
        </p:nvSpPr>
        <p:spPr>
          <a:xfrm>
            <a:off x="914400" y="2514600"/>
            <a:ext cx="10360152" cy="365760"/>
          </a:xfrm>
          <a:prstGeom prst="rect">
            <a:avLst/>
          </a:prstGeom>
          <a:noFill/>
        </p:spPr>
        <p:txBody>
          <a:bodyPr wrap="square" anchor="t" lIns="0" rIns="0" tIns="0" bIns="0">
            <a:spAutoFit/>
          </a:bodyPr>
          <a:lstStyle/>
          <a:p>
            <a:pPr algn="ctr">
              <a:lnSpc>
                <a:spcPct val="112000"/>
              </a:lnSpc>
              <a:spcBef>
                <a:spcPts val="0"/>
              </a:spcBef>
              <a:spcAft>
                <a:spcPts val="600"/>
              </a:spcAft>
            </a:pPr>
            <a:r>
              <a:rPr sz="1400" b="1" i="0">
                <a:solidFill>
                  <a:srgbClr val="555555"/>
                </a:solidFill>
                <a:latin typeface="Lato"/>
              </a:rPr>
              <a:t>C A S E   S T U D Y   2      ·      F I N A L</a:t>
            </a:r>
          </a:p>
        </p:txBody>
      </p:sp>
      <p:sp>
        <p:nvSpPr>
          <p:cNvPr id="4" name="TextBox 3"/>
          <p:cNvSpPr txBox="1"/>
          <p:nvPr/>
        </p:nvSpPr>
        <p:spPr>
          <a:xfrm>
            <a:off x="914400" y="2971800"/>
            <a:ext cx="10360152" cy="1188720"/>
          </a:xfrm>
          <a:prstGeom prst="rect">
            <a:avLst/>
          </a:prstGeom>
          <a:noFill/>
        </p:spPr>
        <p:txBody>
          <a:bodyPr wrap="square" anchor="t" lIns="0" rIns="0" tIns="0" bIns="0">
            <a:spAutoFit/>
          </a:bodyPr>
          <a:lstStyle/>
          <a:p>
            <a:pPr algn="ctr">
              <a:lnSpc>
                <a:spcPct val="118000"/>
              </a:lnSpc>
              <a:spcBef>
                <a:spcPts val="0"/>
              </a:spcBef>
              <a:spcAft>
                <a:spcPts val="600"/>
              </a:spcAft>
            </a:pPr>
            <a:r>
              <a:rPr sz="3100" b="1" i="0">
                <a:solidFill>
                  <a:srgbClr val="1A1A1A"/>
                </a:solidFill>
                <a:latin typeface="Lato"/>
              </a:rPr>
              <a:t>Building and Validating a Metal–Organic Framework</a:t>
            </a:r>
          </a:p>
          <a:p>
            <a:pPr algn="ctr">
              <a:lnSpc>
                <a:spcPct val="118000"/>
              </a:lnSpc>
              <a:spcBef>
                <a:spcPts val="0"/>
              </a:spcBef>
              <a:spcAft>
                <a:spcPts val="600"/>
              </a:spcAft>
            </a:pPr>
            <a:r>
              <a:rPr sz="3100" b="1" i="0">
                <a:solidFill>
                  <a:srgbClr val="1A1A1A"/>
                </a:solidFill>
                <a:latin typeface="Lato"/>
              </a:rPr>
              <a:t>Synthesis Knowledge Graph with Large Language Models</a:t>
            </a:r>
          </a:p>
        </p:txBody>
      </p:sp>
      <p:sp>
        <p:nvSpPr>
          <p:cNvPr id="5" name="Rectangle 4"/>
          <p:cNvSpPr/>
          <p:nvPr/>
        </p:nvSpPr>
        <p:spPr>
          <a:xfrm>
            <a:off x="5458968" y="4498848"/>
            <a:ext cx="1280160" cy="30480"/>
          </a:xfrm>
          <a:prstGeom prst="rect">
            <a:avLst/>
          </a:prstGeom>
          <a:solidFill>
            <a:srgbClr val="E64415"/>
          </a:solidFill>
          <a:ln>
            <a:noFill/>
          </a:ln>
          <a:effectLst/>
        </p:spPr>
        <p:txBody>
          <a:bodyPr rtlCol="0" anchor="ctr"/>
          <a:lstStyle/>
          <a:p>
            <a:pPr algn="ctr"/>
          </a:p>
        </p:txBody>
      </p:sp>
      <p:sp>
        <p:nvSpPr>
          <p:cNvPr id="6" name="TextBox 5"/>
          <p:cNvSpPr txBox="1"/>
          <p:nvPr/>
        </p:nvSpPr>
        <p:spPr>
          <a:xfrm>
            <a:off x="914400" y="4864608"/>
            <a:ext cx="10360152" cy="1371600"/>
          </a:xfrm>
          <a:prstGeom prst="rect">
            <a:avLst/>
          </a:prstGeom>
          <a:noFill/>
        </p:spPr>
        <p:txBody>
          <a:bodyPr wrap="square" anchor="t" lIns="0" rIns="0" tIns="0" bIns="0">
            <a:spAutoFit/>
          </a:bodyPr>
          <a:lstStyle/>
          <a:p>
            <a:pPr algn="ctr">
              <a:lnSpc>
                <a:spcPct val="112000"/>
              </a:lnSpc>
              <a:spcBef>
                <a:spcPts val="0"/>
              </a:spcBef>
              <a:spcAft>
                <a:spcPts val="500"/>
              </a:spcAft>
            </a:pPr>
            <a:r>
              <a:rPr sz="1600" b="1" i="0">
                <a:solidFill>
                  <a:srgbClr val="1A1A1A"/>
                </a:solidFill>
                <a:latin typeface="Lato"/>
              </a:rPr>
              <a:t>Devendra Singh Dhakad</a:t>
            </a:r>
            <a:r>
              <a:rPr sz="1600" b="0" i="0">
                <a:solidFill>
                  <a:srgbClr val="BBBBBB"/>
                </a:solidFill>
                <a:latin typeface="Lato"/>
              </a:rPr>
              <a:t>      ·      </a:t>
            </a:r>
            <a:r>
              <a:rPr sz="1600" b="0" i="0">
                <a:solidFill>
                  <a:srgbClr val="555555"/>
                </a:solidFill>
                <a:latin typeface="Lato"/>
              </a:rPr>
              <a:t>Matriculation No. 100004684</a:t>
            </a:r>
          </a:p>
          <a:p>
            <a:pPr algn="ctr">
              <a:lnSpc>
                <a:spcPct val="112000"/>
              </a:lnSpc>
              <a:spcBef>
                <a:spcPts val="0"/>
              </a:spcBef>
              <a:spcAft>
                <a:spcPts val="500"/>
              </a:spcAft>
            </a:pPr>
            <a:r>
              <a:rPr sz="1400" b="0" i="0">
                <a:solidFill>
                  <a:srgbClr val="555555"/>
                </a:solidFill>
                <a:latin typeface="Lato"/>
              </a:rPr>
              <a:t>M.Sc. Data Science and Artificial Intelligence</a:t>
            </a:r>
          </a:p>
          <a:p>
            <a:pPr algn="ctr">
              <a:lnSpc>
                <a:spcPct val="112000"/>
              </a:lnSpc>
              <a:spcBef>
                <a:spcPts val="0"/>
              </a:spcBef>
              <a:spcAft>
                <a:spcPts val="500"/>
              </a:spcAft>
            </a:pPr>
            <a:r>
              <a:rPr sz="1400" b="0" i="0">
                <a:solidFill>
                  <a:srgbClr val="555555"/>
                </a:solidFill>
                <a:latin typeface="Lato"/>
              </a:rPr>
              <a:t>Supervisor: Prof. Dr. Mehrdad Jalali</a:t>
            </a:r>
          </a:p>
          <a:p>
            <a:pPr algn="ctr">
              <a:lnSpc>
                <a:spcPct val="112000"/>
              </a:lnSpc>
              <a:spcBef>
                <a:spcPts val="0"/>
              </a:spcBef>
              <a:spcAft>
                <a:spcPts val="500"/>
              </a:spcAft>
            </a:pPr>
            <a:r>
              <a:rPr sz="1400" b="0" i="0">
                <a:solidFill>
                  <a:srgbClr val="555555"/>
                </a:solidFill>
                <a:latin typeface="Lato"/>
              </a:rPr>
              <a:t>SRH University of Applied Sciences Heidelberg</a:t>
            </a:r>
          </a:p>
          <a:p>
            <a:pPr algn="ctr">
              <a:lnSpc>
                <a:spcPct val="112000"/>
              </a:lnSpc>
              <a:spcBef>
                <a:spcPts val="0"/>
              </a:spcBef>
              <a:spcAft>
                <a:spcPts val="500"/>
              </a:spcAft>
            </a:pPr>
            <a:r>
              <a:rPr sz="1200" b="0" i="0">
                <a:solidFill>
                  <a:srgbClr val="BBBBBB"/>
                </a:solidFill>
                <a:latin typeface="Lato"/>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rh_logo.jpg"/>
          <p:cNvPicPr>
            <a:picLocks noChangeAspect="1"/>
          </p:cNvPicPr>
          <p:nvPr/>
        </p:nvPicPr>
        <p:blipFill>
          <a:blip r:embed="rId2"/>
          <a:stretch>
            <a:fillRect/>
          </a:stretch>
        </p:blipFill>
        <p:spPr>
          <a:xfrm>
            <a:off x="548640" y="420624"/>
            <a:ext cx="868680" cy="671720"/>
          </a:xfrm>
          <a:prstGeom prst="rect">
            <a:avLst/>
          </a:prstGeom>
        </p:spPr>
      </p:pic>
      <p:sp>
        <p:nvSpPr>
          <p:cNvPr id="3" name="TextBox 2"/>
          <p:cNvSpPr txBox="1"/>
          <p:nvPr/>
        </p:nvSpPr>
        <p:spPr>
          <a:xfrm>
            <a:off x="566928" y="1298448"/>
            <a:ext cx="11064240" cy="640080"/>
          </a:xfrm>
          <a:prstGeom prst="rect">
            <a:avLst/>
          </a:prstGeom>
          <a:noFill/>
        </p:spPr>
        <p:txBody>
          <a:bodyPr wrap="square" anchor="t" lIns="0" rIns="0" tIns="0" bIns="0">
            <a:spAutoFit/>
          </a:bodyPr>
          <a:lstStyle/>
          <a:p>
            <a:pPr algn="l">
              <a:lnSpc>
                <a:spcPct val="112000"/>
              </a:lnSpc>
              <a:spcBef>
                <a:spcPts val="0"/>
              </a:spcBef>
              <a:spcAft>
                <a:spcPts val="600"/>
              </a:spcAft>
            </a:pPr>
            <a:r>
              <a:rPr sz="2700" b="1" i="0">
                <a:solidFill>
                  <a:srgbClr val="E64415"/>
                </a:solidFill>
                <a:latin typeface="Lato"/>
              </a:rPr>
              <a:t>1   </a:t>
            </a:r>
            <a:r>
              <a:rPr sz="2700" b="1" i="0">
                <a:solidFill>
                  <a:srgbClr val="1A1A1A"/>
                </a:solidFill>
                <a:latin typeface="Lato"/>
              </a:rPr>
              <a:t>The problem</a:t>
            </a:r>
          </a:p>
        </p:txBody>
      </p:sp>
      <p:sp>
        <p:nvSpPr>
          <p:cNvPr id="4" name="Rectangle 3"/>
          <p:cNvSpPr/>
          <p:nvPr/>
        </p:nvSpPr>
        <p:spPr>
          <a:xfrm>
            <a:off x="585216" y="1993392"/>
            <a:ext cx="11018520" cy="15240"/>
          </a:xfrm>
          <a:prstGeom prst="rect">
            <a:avLst/>
          </a:prstGeom>
          <a:solidFill>
            <a:srgbClr val="E3E3E3"/>
          </a:solidFill>
          <a:ln>
            <a:noFill/>
          </a:ln>
          <a:effectLst/>
        </p:spPr>
        <p:txBody>
          <a:bodyPr rtlCol="0" anchor="ctr"/>
          <a:lstStyle/>
          <a:p>
            <a:pPr algn="ctr"/>
          </a:p>
        </p:txBody>
      </p:sp>
      <p:sp>
        <p:nvSpPr>
          <p:cNvPr id="5" name="TextBox 4"/>
          <p:cNvSpPr txBox="1"/>
          <p:nvPr/>
        </p:nvSpPr>
        <p:spPr>
          <a:xfrm>
            <a:off x="11430000" y="6437376"/>
            <a:ext cx="640080" cy="274320"/>
          </a:xfrm>
          <a:prstGeom prst="rect">
            <a:avLst/>
          </a:prstGeom>
          <a:noFill/>
        </p:spPr>
        <p:txBody>
          <a:bodyPr wrap="square" anchor="t" lIns="0" rIns="0" tIns="0" bIns="0">
            <a:spAutoFit/>
          </a:bodyPr>
          <a:lstStyle/>
          <a:p>
            <a:pPr algn="r">
              <a:lnSpc>
                <a:spcPct val="112000"/>
              </a:lnSpc>
              <a:spcBef>
                <a:spcPts val="0"/>
              </a:spcBef>
              <a:spcAft>
                <a:spcPts val="600"/>
              </a:spcAft>
            </a:pPr>
            <a:r>
              <a:rPr sz="1000" b="0" i="0">
                <a:solidFill>
                  <a:srgbClr val="BBBBBB"/>
                </a:solidFill>
                <a:latin typeface="Lato"/>
              </a:rPr>
              <a:t>2</a:t>
            </a:r>
          </a:p>
        </p:txBody>
      </p:sp>
      <p:sp>
        <p:nvSpPr>
          <p:cNvPr id="6" name="TextBox 5"/>
          <p:cNvSpPr txBox="1"/>
          <p:nvPr/>
        </p:nvSpPr>
        <p:spPr>
          <a:xfrm>
            <a:off x="566928" y="2286000"/>
            <a:ext cx="6766560" cy="4023360"/>
          </a:xfrm>
          <a:prstGeom prst="rect">
            <a:avLst/>
          </a:prstGeom>
          <a:noFill/>
        </p:spPr>
        <p:txBody>
          <a:bodyPr wrap="square" anchor="t" lIns="0" rIns="0" tIns="0" bIns="0">
            <a:spAutoFit/>
          </a:bodyPr>
          <a:lstStyle/>
          <a:p>
            <a:pPr algn="l">
              <a:lnSpc>
                <a:spcPct val="116000"/>
              </a:lnSpc>
              <a:spcBef>
                <a:spcPts val="0"/>
              </a:spcBef>
              <a:spcAft>
                <a:spcPts val="900"/>
              </a:spcAft>
            </a:pPr>
            <a:r>
              <a:rPr sz="1550" b="1" i="0">
                <a:solidFill>
                  <a:srgbClr val="E64415"/>
                </a:solidFill>
                <a:latin typeface="Lato"/>
              </a:rPr>
              <a:t>•  </a:t>
            </a:r>
            <a:r>
              <a:rPr sz="1550" b="0" i="0">
                <a:solidFill>
                  <a:srgbClr val="1A1A1A"/>
                </a:solidFill>
                <a:latin typeface="Lato"/>
              </a:rPr>
              <a:t>MOFs are porous crystals built from metal nodes and organic linkers. Over 100,000 synthesised structures are recorded in the CSD.</a:t>
            </a:r>
          </a:p>
          <a:p>
            <a:pPr algn="l">
              <a:lnSpc>
                <a:spcPct val="116000"/>
              </a:lnSpc>
              <a:spcBef>
                <a:spcPts val="0"/>
              </a:spcBef>
              <a:spcAft>
                <a:spcPts val="900"/>
              </a:spcAft>
            </a:pPr>
            <a:r>
              <a:rPr sz="1550" b="1" i="0">
                <a:solidFill>
                  <a:srgbClr val="E64415"/>
                </a:solidFill>
                <a:latin typeface="Lato"/>
              </a:rPr>
              <a:t>•  </a:t>
            </a:r>
            <a:r>
              <a:rPr sz="1550" b="0" i="0">
                <a:solidFill>
                  <a:srgbClr val="1A1A1A"/>
                </a:solidFill>
                <a:latin typeface="Lato"/>
              </a:rPr>
              <a:t>Applications span CO2 capture, gas storage, catalysis, sensing and drug delivery.</a:t>
            </a:r>
          </a:p>
          <a:p>
            <a:pPr algn="l">
              <a:lnSpc>
                <a:spcPct val="116000"/>
              </a:lnSpc>
              <a:spcBef>
                <a:spcPts val="0"/>
              </a:spcBef>
              <a:spcAft>
                <a:spcPts val="900"/>
              </a:spcAft>
            </a:pPr>
            <a:r>
              <a:rPr sz="1550" b="1" i="0">
                <a:solidFill>
                  <a:srgbClr val="E64415"/>
                </a:solidFill>
                <a:latin typeface="Lato"/>
              </a:rPr>
              <a:t>•  </a:t>
            </a:r>
            <a:r>
              <a:rPr sz="1550" b="0" i="0">
                <a:solidFill>
                  <a:srgbClr val="1A1A1A"/>
                </a:solidFill>
                <a:latin typeface="Lato"/>
              </a:rPr>
              <a:t>How any given MOF is actually made (precursor, linker, solvent, method, temperature, time) stays locked in the prose of tens of thousands of papers.</a:t>
            </a:r>
          </a:p>
          <a:p>
            <a:pPr algn="l">
              <a:lnSpc>
                <a:spcPct val="116000"/>
              </a:lnSpc>
              <a:spcBef>
                <a:spcPts val="0"/>
              </a:spcBef>
              <a:spcAft>
                <a:spcPts val="900"/>
              </a:spcAft>
            </a:pPr>
            <a:r>
              <a:rPr sz="1550" b="1" i="0">
                <a:solidFill>
                  <a:srgbClr val="E64415"/>
                </a:solidFill>
                <a:latin typeface="Lato"/>
              </a:rPr>
              <a:t>•  </a:t>
            </a:r>
            <a:r>
              <a:rPr sz="1550" b="0" i="0">
                <a:solidFill>
                  <a:srgbClr val="1A1A1A"/>
                </a:solidFill>
                <a:latin typeface="Lato"/>
              </a:rPr>
              <a:t>Existing text-mined databases were built with rule-based systems whose own authors report that implicit synthesis routes are hard to extract.</a:t>
            </a:r>
          </a:p>
        </p:txBody>
      </p:sp>
      <p:sp>
        <p:nvSpPr>
          <p:cNvPr id="7" name="Rectangle 6"/>
          <p:cNvSpPr/>
          <p:nvPr/>
        </p:nvSpPr>
        <p:spPr>
          <a:xfrm>
            <a:off x="7635240" y="2286000"/>
            <a:ext cx="3977639" cy="2148840"/>
          </a:xfrm>
          <a:prstGeom prst="rect">
            <a:avLst/>
          </a:prstGeom>
          <a:solidFill>
            <a:srgbClr val="FAF6F4"/>
          </a:solidFill>
          <a:ln>
            <a:noFill/>
          </a:ln>
          <a:effectLst/>
        </p:spPr>
        <p:txBody>
          <a:bodyPr rtlCol="0" anchor="ctr"/>
          <a:lstStyle/>
          <a:p>
            <a:pPr algn="ctr"/>
          </a:p>
        </p:txBody>
      </p:sp>
      <p:sp>
        <p:nvSpPr>
          <p:cNvPr id="8" name="TextBox 7"/>
          <p:cNvSpPr txBox="1"/>
          <p:nvPr/>
        </p:nvSpPr>
        <p:spPr>
          <a:xfrm>
            <a:off x="7936992" y="2560320"/>
            <a:ext cx="3383280" cy="1737360"/>
          </a:xfrm>
          <a:prstGeom prst="rect">
            <a:avLst/>
          </a:prstGeom>
          <a:noFill/>
        </p:spPr>
        <p:txBody>
          <a:bodyPr wrap="square" anchor="t" lIns="0" rIns="0" tIns="0" bIns="0">
            <a:spAutoFit/>
          </a:bodyPr>
          <a:lstStyle/>
          <a:p>
            <a:pPr algn="l">
              <a:lnSpc>
                <a:spcPct val="120000"/>
              </a:lnSpc>
              <a:spcBef>
                <a:spcPts val="0"/>
              </a:spcBef>
              <a:spcAft>
                <a:spcPts val="800"/>
              </a:spcAft>
            </a:pPr>
            <a:r>
              <a:rPr sz="1300" b="1" i="0">
                <a:solidFill>
                  <a:srgbClr val="E64415"/>
                </a:solidFill>
                <a:latin typeface="Lato"/>
              </a:rPr>
              <a:t>The gap</a:t>
            </a:r>
          </a:p>
          <a:p>
            <a:pPr algn="l">
              <a:lnSpc>
                <a:spcPct val="120000"/>
              </a:lnSpc>
              <a:spcBef>
                <a:spcPts val="0"/>
              </a:spcBef>
              <a:spcAft>
                <a:spcPts val="800"/>
              </a:spcAft>
            </a:pPr>
            <a:r>
              <a:rPr sz="1400" b="0" i="0">
                <a:solidFill>
                  <a:srgbClr val="1A1A1A"/>
                </a:solidFill>
                <a:latin typeface="Lato"/>
              </a:rPr>
              <a:t>No published study measures LLM MOF extraction field by field against both expert annotation and a rule-based baseline, while reporting what each configuration costs.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rh_logo.jpg"/>
          <p:cNvPicPr>
            <a:picLocks noChangeAspect="1"/>
          </p:cNvPicPr>
          <p:nvPr/>
        </p:nvPicPr>
        <p:blipFill>
          <a:blip r:embed="rId2"/>
          <a:stretch>
            <a:fillRect/>
          </a:stretch>
        </p:blipFill>
        <p:spPr>
          <a:xfrm>
            <a:off x="548640" y="420624"/>
            <a:ext cx="868680" cy="671720"/>
          </a:xfrm>
          <a:prstGeom prst="rect">
            <a:avLst/>
          </a:prstGeom>
        </p:spPr>
      </p:pic>
      <p:sp>
        <p:nvSpPr>
          <p:cNvPr id="3" name="TextBox 2"/>
          <p:cNvSpPr txBox="1"/>
          <p:nvPr/>
        </p:nvSpPr>
        <p:spPr>
          <a:xfrm>
            <a:off x="566928" y="1298448"/>
            <a:ext cx="11064240" cy="640080"/>
          </a:xfrm>
          <a:prstGeom prst="rect">
            <a:avLst/>
          </a:prstGeom>
          <a:noFill/>
        </p:spPr>
        <p:txBody>
          <a:bodyPr wrap="square" anchor="t" lIns="0" rIns="0" tIns="0" bIns="0">
            <a:spAutoFit/>
          </a:bodyPr>
          <a:lstStyle/>
          <a:p>
            <a:pPr algn="l">
              <a:lnSpc>
                <a:spcPct val="112000"/>
              </a:lnSpc>
              <a:spcBef>
                <a:spcPts val="0"/>
              </a:spcBef>
              <a:spcAft>
                <a:spcPts val="600"/>
              </a:spcAft>
            </a:pPr>
            <a:r>
              <a:rPr sz="2700" b="1" i="0">
                <a:solidFill>
                  <a:srgbClr val="E64415"/>
                </a:solidFill>
                <a:latin typeface="Lato"/>
              </a:rPr>
              <a:t>2   </a:t>
            </a:r>
            <a:r>
              <a:rPr sz="2700" b="1" i="0">
                <a:solidFill>
                  <a:srgbClr val="1A1A1A"/>
                </a:solidFill>
                <a:latin typeface="Lato"/>
              </a:rPr>
              <a:t>Research questions</a:t>
            </a:r>
          </a:p>
        </p:txBody>
      </p:sp>
      <p:sp>
        <p:nvSpPr>
          <p:cNvPr id="4" name="Rectangle 3"/>
          <p:cNvSpPr/>
          <p:nvPr/>
        </p:nvSpPr>
        <p:spPr>
          <a:xfrm>
            <a:off x="585216" y="1993392"/>
            <a:ext cx="11018520" cy="15240"/>
          </a:xfrm>
          <a:prstGeom prst="rect">
            <a:avLst/>
          </a:prstGeom>
          <a:solidFill>
            <a:srgbClr val="E3E3E3"/>
          </a:solidFill>
          <a:ln>
            <a:noFill/>
          </a:ln>
          <a:effectLst/>
        </p:spPr>
        <p:txBody>
          <a:bodyPr rtlCol="0" anchor="ctr"/>
          <a:lstStyle/>
          <a:p>
            <a:pPr algn="ctr"/>
          </a:p>
        </p:txBody>
      </p:sp>
      <p:sp>
        <p:nvSpPr>
          <p:cNvPr id="5" name="TextBox 4"/>
          <p:cNvSpPr txBox="1"/>
          <p:nvPr/>
        </p:nvSpPr>
        <p:spPr>
          <a:xfrm>
            <a:off x="11430000" y="6437376"/>
            <a:ext cx="640080" cy="274320"/>
          </a:xfrm>
          <a:prstGeom prst="rect">
            <a:avLst/>
          </a:prstGeom>
          <a:noFill/>
        </p:spPr>
        <p:txBody>
          <a:bodyPr wrap="square" anchor="t" lIns="0" rIns="0" tIns="0" bIns="0">
            <a:spAutoFit/>
          </a:bodyPr>
          <a:lstStyle/>
          <a:p>
            <a:pPr algn="r">
              <a:lnSpc>
                <a:spcPct val="112000"/>
              </a:lnSpc>
              <a:spcBef>
                <a:spcPts val="0"/>
              </a:spcBef>
              <a:spcAft>
                <a:spcPts val="600"/>
              </a:spcAft>
            </a:pPr>
            <a:r>
              <a:rPr sz="1000" b="0" i="0">
                <a:solidFill>
                  <a:srgbClr val="BBBBBB"/>
                </a:solidFill>
                <a:latin typeface="Lato"/>
              </a:rPr>
              <a:t>3</a:t>
            </a:r>
          </a:p>
        </p:txBody>
      </p:sp>
      <p:sp>
        <p:nvSpPr>
          <p:cNvPr id="6" name="TextBox 5"/>
          <p:cNvSpPr txBox="1"/>
          <p:nvPr/>
        </p:nvSpPr>
        <p:spPr>
          <a:xfrm>
            <a:off x="566928" y="2286000"/>
            <a:ext cx="10972800" cy="4023360"/>
          </a:xfrm>
          <a:prstGeom prst="rect">
            <a:avLst/>
          </a:prstGeom>
          <a:noFill/>
        </p:spPr>
        <p:txBody>
          <a:bodyPr wrap="square" anchor="t" lIns="0" rIns="0" tIns="0" bIns="0">
            <a:spAutoFit/>
          </a:bodyPr>
          <a:lstStyle/>
          <a:p>
            <a:pPr algn="l">
              <a:lnSpc>
                <a:spcPct val="116000"/>
              </a:lnSpc>
              <a:spcBef>
                <a:spcPts val="0"/>
              </a:spcBef>
              <a:spcAft>
                <a:spcPts val="1300"/>
              </a:spcAft>
            </a:pPr>
            <a:r>
              <a:rPr sz="1550" b="1" i="0">
                <a:solidFill>
                  <a:srgbClr val="E64415"/>
                </a:solidFill>
                <a:latin typeface="Lato"/>
              </a:rPr>
              <a:t>•  </a:t>
            </a:r>
            <a:r>
              <a:rPr sz="1550" b="0" i="0">
                <a:solidFill>
                  <a:srgbClr val="1A1A1A"/>
                </a:solidFill>
                <a:latin typeface="Lato"/>
              </a:rPr>
              <a:t>RQ1  Per-field accuracy: LLMs against a rule-based baseline built from the same domain vocabulary.</a:t>
            </a:r>
          </a:p>
          <a:p>
            <a:pPr algn="l">
              <a:lnSpc>
                <a:spcPct val="116000"/>
              </a:lnSpc>
              <a:spcBef>
                <a:spcPts val="0"/>
              </a:spcBef>
              <a:spcAft>
                <a:spcPts val="1300"/>
              </a:spcAft>
            </a:pPr>
            <a:r>
              <a:rPr sz="1550" b="1" i="0">
                <a:solidFill>
                  <a:srgbClr val="E64415"/>
                </a:solidFill>
                <a:latin typeface="Lato"/>
              </a:rPr>
              <a:t>•  </a:t>
            </a:r>
            <a:r>
              <a:rPr sz="1550" b="0" i="0">
                <a:solidFill>
                  <a:srgbClr val="1A1A1A"/>
                </a:solidFill>
                <a:latin typeface="Lato"/>
              </a:rPr>
              <a:t>RQ2  Which prompting strategy is most reliable: zero-shot, few-shot, schema-guided, chain-of-thought.</a:t>
            </a:r>
          </a:p>
          <a:p>
            <a:pPr algn="l">
              <a:lnSpc>
                <a:spcPct val="116000"/>
              </a:lnSpc>
              <a:spcBef>
                <a:spcPts val="0"/>
              </a:spcBef>
              <a:spcAft>
                <a:spcPts val="1300"/>
              </a:spcAft>
            </a:pPr>
            <a:r>
              <a:rPr sz="1550" b="1" i="0">
                <a:solidFill>
                  <a:srgbClr val="E64415"/>
                </a:solidFill>
                <a:latin typeface="Lato"/>
              </a:rPr>
              <a:t>•  </a:t>
            </a:r>
            <a:r>
              <a:rPr sz="1550" b="0" i="0">
                <a:solidFill>
                  <a:srgbClr val="1A1A1A"/>
                </a:solidFill>
                <a:latin typeface="Lato"/>
              </a:rPr>
              <a:t>RQ3  Where and why extractions disagree with the DigiMOF and SynMOF reference databases.</a:t>
            </a:r>
          </a:p>
          <a:p>
            <a:pPr algn="l">
              <a:lnSpc>
                <a:spcPct val="116000"/>
              </a:lnSpc>
              <a:spcBef>
                <a:spcPts val="0"/>
              </a:spcBef>
              <a:spcAft>
                <a:spcPts val="1300"/>
              </a:spcAft>
            </a:pPr>
            <a:r>
              <a:rPr sz="1550" b="1" i="0">
                <a:solidFill>
                  <a:srgbClr val="E64415"/>
                </a:solidFill>
                <a:latin typeface="Lato"/>
              </a:rPr>
              <a:t>•  </a:t>
            </a:r>
            <a:r>
              <a:rPr sz="1550" b="0" i="0">
                <a:solidFill>
                  <a:srgbClr val="1A1A1A"/>
                </a:solidFill>
                <a:latin typeface="Lato"/>
              </a:rPr>
              <a:t>RQ4  Open-weight models against commercial APIs on accuracy, cost and latency.</a:t>
            </a:r>
          </a:p>
          <a:p>
            <a:pPr algn="l">
              <a:lnSpc>
                <a:spcPct val="116000"/>
              </a:lnSpc>
              <a:spcBef>
                <a:spcPts val="0"/>
              </a:spcBef>
              <a:spcAft>
                <a:spcPts val="1300"/>
              </a:spcAft>
            </a:pPr>
            <a:r>
              <a:rPr sz="1550" b="1" i="0">
                <a:solidFill>
                  <a:srgbClr val="E64415"/>
                </a:solidFill>
                <a:latin typeface="Lato"/>
              </a:rPr>
              <a:t>•  </a:t>
            </a:r>
            <a:r>
              <a:rPr sz="1550" b="0" i="0">
                <a:solidFill>
                  <a:srgbClr val="1A1A1A"/>
                </a:solidFill>
                <a:latin typeface="Lato"/>
              </a:rPr>
              <a:t>RQ5  Can the resulting knowledge graph answer aggregation queries across hundreds of papers.</a:t>
            </a:r>
          </a:p>
        </p:txBody>
      </p:sp>
      <p:sp>
        <p:nvSpPr>
          <p:cNvPr id="7" name="TextBox 6"/>
          <p:cNvSpPr txBox="1"/>
          <p:nvPr/>
        </p:nvSpPr>
        <p:spPr>
          <a:xfrm>
            <a:off x="566928" y="5806440"/>
            <a:ext cx="10972800" cy="548640"/>
          </a:xfrm>
          <a:prstGeom prst="rect">
            <a:avLst/>
          </a:prstGeom>
          <a:noFill/>
        </p:spPr>
        <p:txBody>
          <a:bodyPr wrap="square" anchor="t" lIns="0" rIns="0" tIns="0" bIns="0">
            <a:spAutoFit/>
          </a:bodyPr>
          <a:lstStyle/>
          <a:p>
            <a:pPr algn="l">
              <a:lnSpc>
                <a:spcPct val="112000"/>
              </a:lnSpc>
              <a:spcBef>
                <a:spcPts val="0"/>
              </a:spcBef>
              <a:spcAft>
                <a:spcPts val="600"/>
              </a:spcAft>
            </a:pPr>
            <a:r>
              <a:rPr sz="1400" b="1" i="0">
                <a:solidFill>
                  <a:srgbClr val="1A1A1A"/>
                </a:solidFill>
                <a:latin typeface="Lato"/>
              </a:rPr>
              <a:t>Answered: RQ1, RQ2, RQ4, RQ5.    </a:t>
            </a:r>
            <a:r>
              <a:rPr sz="1400" b="0" i="0">
                <a:solidFill>
                  <a:srgbClr val="555555"/>
                </a:solidFill>
                <a:latin typeface="Lato"/>
              </a:rPr>
              <a:t>RQ3 could not be answered; the reason is on slide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rh_logo.jpg"/>
          <p:cNvPicPr>
            <a:picLocks noChangeAspect="1"/>
          </p:cNvPicPr>
          <p:nvPr/>
        </p:nvPicPr>
        <p:blipFill>
          <a:blip r:embed="rId2"/>
          <a:stretch>
            <a:fillRect/>
          </a:stretch>
        </p:blipFill>
        <p:spPr>
          <a:xfrm>
            <a:off x="548640" y="420624"/>
            <a:ext cx="868680" cy="671720"/>
          </a:xfrm>
          <a:prstGeom prst="rect">
            <a:avLst/>
          </a:prstGeom>
        </p:spPr>
      </p:pic>
      <p:sp>
        <p:nvSpPr>
          <p:cNvPr id="3" name="TextBox 2"/>
          <p:cNvSpPr txBox="1"/>
          <p:nvPr/>
        </p:nvSpPr>
        <p:spPr>
          <a:xfrm>
            <a:off x="566928" y="1298448"/>
            <a:ext cx="11064240" cy="640080"/>
          </a:xfrm>
          <a:prstGeom prst="rect">
            <a:avLst/>
          </a:prstGeom>
          <a:noFill/>
        </p:spPr>
        <p:txBody>
          <a:bodyPr wrap="square" anchor="t" lIns="0" rIns="0" tIns="0" bIns="0">
            <a:spAutoFit/>
          </a:bodyPr>
          <a:lstStyle/>
          <a:p>
            <a:pPr algn="l">
              <a:lnSpc>
                <a:spcPct val="112000"/>
              </a:lnSpc>
              <a:spcBef>
                <a:spcPts val="0"/>
              </a:spcBef>
              <a:spcAft>
                <a:spcPts val="600"/>
              </a:spcAft>
            </a:pPr>
            <a:r>
              <a:rPr sz="2700" b="1" i="0">
                <a:solidFill>
                  <a:srgbClr val="E64415"/>
                </a:solidFill>
                <a:latin typeface="Lato"/>
              </a:rPr>
              <a:t>3   </a:t>
            </a:r>
            <a:r>
              <a:rPr sz="2700" b="1" i="0">
                <a:solidFill>
                  <a:srgbClr val="1A1A1A"/>
                </a:solidFill>
                <a:latin typeface="Lato"/>
              </a:rPr>
              <a:t>What was built</a:t>
            </a:r>
          </a:p>
        </p:txBody>
      </p:sp>
      <p:sp>
        <p:nvSpPr>
          <p:cNvPr id="4" name="Rectangle 3"/>
          <p:cNvSpPr/>
          <p:nvPr/>
        </p:nvSpPr>
        <p:spPr>
          <a:xfrm>
            <a:off x="585216" y="1993392"/>
            <a:ext cx="11018520" cy="15240"/>
          </a:xfrm>
          <a:prstGeom prst="rect">
            <a:avLst/>
          </a:prstGeom>
          <a:solidFill>
            <a:srgbClr val="E3E3E3"/>
          </a:solidFill>
          <a:ln>
            <a:noFill/>
          </a:ln>
          <a:effectLst/>
        </p:spPr>
        <p:txBody>
          <a:bodyPr rtlCol="0" anchor="ctr"/>
          <a:lstStyle/>
          <a:p>
            <a:pPr algn="ctr"/>
          </a:p>
        </p:txBody>
      </p:sp>
      <p:sp>
        <p:nvSpPr>
          <p:cNvPr id="5" name="TextBox 4"/>
          <p:cNvSpPr txBox="1"/>
          <p:nvPr/>
        </p:nvSpPr>
        <p:spPr>
          <a:xfrm>
            <a:off x="11430000" y="6437376"/>
            <a:ext cx="640080" cy="274320"/>
          </a:xfrm>
          <a:prstGeom prst="rect">
            <a:avLst/>
          </a:prstGeom>
          <a:noFill/>
        </p:spPr>
        <p:txBody>
          <a:bodyPr wrap="square" anchor="t" lIns="0" rIns="0" tIns="0" bIns="0">
            <a:spAutoFit/>
          </a:bodyPr>
          <a:lstStyle/>
          <a:p>
            <a:pPr algn="r">
              <a:lnSpc>
                <a:spcPct val="112000"/>
              </a:lnSpc>
              <a:spcBef>
                <a:spcPts val="0"/>
              </a:spcBef>
              <a:spcAft>
                <a:spcPts val="600"/>
              </a:spcAft>
            </a:pPr>
            <a:r>
              <a:rPr sz="1000" b="0" i="0">
                <a:solidFill>
                  <a:srgbClr val="BBBBBB"/>
                </a:solidFill>
                <a:latin typeface="Lato"/>
              </a:rPr>
              <a:t>4</a:t>
            </a:r>
          </a:p>
        </p:txBody>
      </p:sp>
      <p:pic>
        <p:nvPicPr>
          <p:cNvPr id="6" name="Picture 5" descr="pipeline_architecture.png"/>
          <p:cNvPicPr>
            <a:picLocks noChangeAspect="1"/>
          </p:cNvPicPr>
          <p:nvPr/>
        </p:nvPicPr>
        <p:blipFill>
          <a:blip r:embed="rId3"/>
          <a:stretch>
            <a:fillRect/>
          </a:stretch>
        </p:blipFill>
        <p:spPr>
          <a:xfrm>
            <a:off x="3098647" y="2121408"/>
            <a:ext cx="5994400" cy="3657600"/>
          </a:xfrm>
          <a:prstGeom prst="rect">
            <a:avLst/>
          </a:prstGeom>
        </p:spPr>
      </p:pic>
      <p:sp>
        <p:nvSpPr>
          <p:cNvPr id="7" name="TextBox 6"/>
          <p:cNvSpPr txBox="1"/>
          <p:nvPr/>
        </p:nvSpPr>
        <p:spPr>
          <a:xfrm>
            <a:off x="566928" y="5806440"/>
            <a:ext cx="10972800" cy="457200"/>
          </a:xfrm>
          <a:prstGeom prst="rect">
            <a:avLst/>
          </a:prstGeom>
          <a:noFill/>
        </p:spPr>
        <p:txBody>
          <a:bodyPr wrap="square" anchor="t" lIns="0" rIns="0" tIns="0" bIns="0">
            <a:spAutoFit/>
          </a:bodyPr>
          <a:lstStyle/>
          <a:p>
            <a:pPr algn="l">
              <a:lnSpc>
                <a:spcPct val="112000"/>
              </a:lnSpc>
              <a:spcBef>
                <a:spcPts val="0"/>
              </a:spcBef>
              <a:spcAft>
                <a:spcPts val="600"/>
              </a:spcAft>
            </a:pPr>
            <a:r>
              <a:rPr sz="1350" b="0" i="0">
                <a:solidFill>
                  <a:srgbClr val="555555"/>
                </a:solidFill>
                <a:latin typeface="Lato"/>
              </a:rPr>
              <a:t>Six stages, each writing a JSON Lines file the next one reads. Any stage can be rerun without rerunning the others, and every intermediate is inspectable.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rh_logo.jpg"/>
          <p:cNvPicPr>
            <a:picLocks noChangeAspect="1"/>
          </p:cNvPicPr>
          <p:nvPr/>
        </p:nvPicPr>
        <p:blipFill>
          <a:blip r:embed="rId2"/>
          <a:stretch>
            <a:fillRect/>
          </a:stretch>
        </p:blipFill>
        <p:spPr>
          <a:xfrm>
            <a:off x="548640" y="420624"/>
            <a:ext cx="868680" cy="671720"/>
          </a:xfrm>
          <a:prstGeom prst="rect">
            <a:avLst/>
          </a:prstGeom>
        </p:spPr>
      </p:pic>
      <p:sp>
        <p:nvSpPr>
          <p:cNvPr id="3" name="TextBox 2"/>
          <p:cNvSpPr txBox="1"/>
          <p:nvPr/>
        </p:nvSpPr>
        <p:spPr>
          <a:xfrm>
            <a:off x="566928" y="1298448"/>
            <a:ext cx="11064240" cy="640080"/>
          </a:xfrm>
          <a:prstGeom prst="rect">
            <a:avLst/>
          </a:prstGeom>
          <a:noFill/>
        </p:spPr>
        <p:txBody>
          <a:bodyPr wrap="square" anchor="t" lIns="0" rIns="0" tIns="0" bIns="0">
            <a:spAutoFit/>
          </a:bodyPr>
          <a:lstStyle/>
          <a:p>
            <a:pPr algn="l">
              <a:lnSpc>
                <a:spcPct val="112000"/>
              </a:lnSpc>
              <a:spcBef>
                <a:spcPts val="0"/>
              </a:spcBef>
              <a:spcAft>
                <a:spcPts val="600"/>
              </a:spcAft>
            </a:pPr>
            <a:r>
              <a:rPr sz="2700" b="1" i="0">
                <a:solidFill>
                  <a:srgbClr val="E64415"/>
                </a:solidFill>
                <a:latin typeface="Lato"/>
              </a:rPr>
              <a:t>4   </a:t>
            </a:r>
            <a:r>
              <a:rPr sz="2700" b="1" i="0">
                <a:solidFill>
                  <a:srgbClr val="1A1A1A"/>
                </a:solidFill>
                <a:latin typeface="Lato"/>
              </a:rPr>
              <a:t>The gold standard</a:t>
            </a:r>
          </a:p>
        </p:txBody>
      </p:sp>
      <p:sp>
        <p:nvSpPr>
          <p:cNvPr id="4" name="Rectangle 3"/>
          <p:cNvSpPr/>
          <p:nvPr/>
        </p:nvSpPr>
        <p:spPr>
          <a:xfrm>
            <a:off x="585216" y="1993392"/>
            <a:ext cx="11018520" cy="15240"/>
          </a:xfrm>
          <a:prstGeom prst="rect">
            <a:avLst/>
          </a:prstGeom>
          <a:solidFill>
            <a:srgbClr val="E3E3E3"/>
          </a:solidFill>
          <a:ln>
            <a:noFill/>
          </a:ln>
          <a:effectLst/>
        </p:spPr>
        <p:txBody>
          <a:bodyPr rtlCol="0" anchor="ctr"/>
          <a:lstStyle/>
          <a:p>
            <a:pPr algn="ctr"/>
          </a:p>
        </p:txBody>
      </p:sp>
      <p:sp>
        <p:nvSpPr>
          <p:cNvPr id="5" name="TextBox 4"/>
          <p:cNvSpPr txBox="1"/>
          <p:nvPr/>
        </p:nvSpPr>
        <p:spPr>
          <a:xfrm>
            <a:off x="11430000" y="6437376"/>
            <a:ext cx="640080" cy="274320"/>
          </a:xfrm>
          <a:prstGeom prst="rect">
            <a:avLst/>
          </a:prstGeom>
          <a:noFill/>
        </p:spPr>
        <p:txBody>
          <a:bodyPr wrap="square" anchor="t" lIns="0" rIns="0" tIns="0" bIns="0">
            <a:spAutoFit/>
          </a:bodyPr>
          <a:lstStyle/>
          <a:p>
            <a:pPr algn="r">
              <a:lnSpc>
                <a:spcPct val="112000"/>
              </a:lnSpc>
              <a:spcBef>
                <a:spcPts val="0"/>
              </a:spcBef>
              <a:spcAft>
                <a:spcPts val="600"/>
              </a:spcAft>
            </a:pPr>
            <a:r>
              <a:rPr sz="1000" b="0" i="0">
                <a:solidFill>
                  <a:srgbClr val="BBBBBB"/>
                </a:solidFill>
                <a:latin typeface="Lato"/>
              </a:rPr>
              <a:t>5</a:t>
            </a:r>
          </a:p>
        </p:txBody>
      </p:sp>
      <p:sp>
        <p:nvSpPr>
          <p:cNvPr id="6" name="TextBox 5"/>
          <p:cNvSpPr txBox="1"/>
          <p:nvPr/>
        </p:nvSpPr>
        <p:spPr>
          <a:xfrm>
            <a:off x="566928" y="2286000"/>
            <a:ext cx="6675120" cy="4023360"/>
          </a:xfrm>
          <a:prstGeom prst="rect">
            <a:avLst/>
          </a:prstGeom>
          <a:noFill/>
        </p:spPr>
        <p:txBody>
          <a:bodyPr wrap="square" anchor="t" lIns="0" rIns="0" tIns="0" bIns="0">
            <a:spAutoFit/>
          </a:bodyPr>
          <a:lstStyle/>
          <a:p>
            <a:pPr algn="l">
              <a:lnSpc>
                <a:spcPct val="116000"/>
              </a:lnSpc>
              <a:spcBef>
                <a:spcPts val="0"/>
              </a:spcBef>
              <a:spcAft>
                <a:spcPts val="900"/>
              </a:spcAft>
            </a:pPr>
            <a:r>
              <a:rPr sz="1550" b="1" i="0">
                <a:solidFill>
                  <a:srgbClr val="E64415"/>
                </a:solidFill>
                <a:latin typeface="Lato"/>
              </a:rPr>
              <a:t>•  </a:t>
            </a:r>
            <a:r>
              <a:rPr sz="1550" b="0" i="0">
                <a:solidFill>
                  <a:srgbClr val="1A1A1A"/>
                </a:solidFill>
                <a:latin typeface="Lato"/>
              </a:rPr>
              <a:t>100 passages annotated by hand, yielding 138 triples. Drawn by a seeded stratified sample.</a:t>
            </a:r>
          </a:p>
          <a:p>
            <a:pPr algn="l">
              <a:lnSpc>
                <a:spcPct val="116000"/>
              </a:lnSpc>
              <a:spcBef>
                <a:spcPts val="0"/>
              </a:spcBef>
              <a:spcAft>
                <a:spcPts val="900"/>
              </a:spcAft>
            </a:pPr>
            <a:r>
              <a:rPr sz="1550" b="1" i="0">
                <a:solidFill>
                  <a:srgbClr val="E64415"/>
                </a:solidFill>
                <a:latin typeface="Lato"/>
              </a:rPr>
              <a:t>•  </a:t>
            </a:r>
            <a:r>
              <a:rPr sz="1550" b="0" i="0">
                <a:solidFill>
                  <a:srgbClr val="1A1A1A"/>
                </a:solidFill>
                <a:latin typeface="Lato"/>
              </a:rPr>
              <a:t>90 from the synthesis-flagged pool, plus 10 unflagged controls so the pre-filter's own miss rate is measurable rather than assumed.</a:t>
            </a:r>
          </a:p>
          <a:p>
            <a:pPr algn="l">
              <a:lnSpc>
                <a:spcPct val="116000"/>
              </a:lnSpc>
              <a:spcBef>
                <a:spcPts val="0"/>
              </a:spcBef>
              <a:spcAft>
                <a:spcPts val="900"/>
              </a:spcAft>
            </a:pPr>
            <a:r>
              <a:rPr sz="1550" b="1" i="0">
                <a:solidFill>
                  <a:srgbClr val="E64415"/>
                </a:solidFill>
                <a:latin typeface="Lato"/>
              </a:rPr>
              <a:t>•  </a:t>
            </a:r>
            <a:r>
              <a:rPr sz="1550" b="0" i="0">
                <a:solidFill>
                  <a:srgbClr val="1A1A1A"/>
                </a:solidFill>
                <a:latin typeface="Lato"/>
              </a:rPr>
              <a:t>Annotation used an ontology-constrained interface: an invalid triple cannot be created.</a:t>
            </a:r>
          </a:p>
        </p:txBody>
      </p:sp>
      <p:sp>
        <p:nvSpPr>
          <p:cNvPr id="7" name="Rectangle 6"/>
          <p:cNvSpPr/>
          <p:nvPr/>
        </p:nvSpPr>
        <p:spPr>
          <a:xfrm>
            <a:off x="7452360" y="2286000"/>
            <a:ext cx="4160520" cy="2514600"/>
          </a:xfrm>
          <a:prstGeom prst="rect">
            <a:avLst/>
          </a:prstGeom>
          <a:noFill/>
          <a:ln w="17780">
            <a:solidFill>
              <a:srgbClr val="E64415"/>
            </a:solidFill>
          </a:ln>
          <a:effectLst/>
        </p:spPr>
        <p:txBody>
          <a:bodyPr rtlCol="0" anchor="ctr"/>
          <a:lstStyle/>
          <a:p>
            <a:pPr algn="ctr"/>
          </a:p>
        </p:txBody>
      </p:sp>
      <p:sp>
        <p:nvSpPr>
          <p:cNvPr id="8" name="TextBox 7"/>
          <p:cNvSpPr txBox="1"/>
          <p:nvPr/>
        </p:nvSpPr>
        <p:spPr>
          <a:xfrm>
            <a:off x="7754112" y="2578608"/>
            <a:ext cx="3566160" cy="2011680"/>
          </a:xfrm>
          <a:prstGeom prst="rect">
            <a:avLst/>
          </a:prstGeom>
          <a:noFill/>
        </p:spPr>
        <p:txBody>
          <a:bodyPr wrap="square" anchor="t" lIns="0" rIns="0" tIns="0" bIns="0">
            <a:spAutoFit/>
          </a:bodyPr>
          <a:lstStyle/>
          <a:p>
            <a:pPr algn="l">
              <a:lnSpc>
                <a:spcPct val="120000"/>
              </a:lnSpc>
              <a:spcBef>
                <a:spcPts val="0"/>
              </a:spcBef>
              <a:spcAft>
                <a:spcPts val="800"/>
              </a:spcAft>
            </a:pPr>
            <a:r>
              <a:rPr sz="1300" b="1" i="0">
                <a:solidFill>
                  <a:srgbClr val="E64415"/>
                </a:solidFill>
                <a:latin typeface="Lato"/>
              </a:rPr>
              <a:t>Why it was not pre-filled by a model</a:t>
            </a:r>
          </a:p>
          <a:p>
            <a:pPr algn="l">
              <a:lnSpc>
                <a:spcPct val="120000"/>
              </a:lnSpc>
              <a:spcBef>
                <a:spcPts val="0"/>
              </a:spcBef>
              <a:spcAft>
                <a:spcPts val="800"/>
              </a:spcAft>
            </a:pPr>
            <a:r>
              <a:rPr sz="1350" b="0" i="0">
                <a:solidFill>
                  <a:srgbClr val="1A1A1A"/>
                </a:solidFill>
                <a:latin typeface="Lato"/>
              </a:rPr>
              <a:t>The gold standard is the instrument the models are measured against. Generating it with a language model would make the evaluation circular: any error the models share would score as correct.</a:t>
            </a:r>
          </a:p>
        </p:txBody>
      </p:sp>
      <p:sp>
        <p:nvSpPr>
          <p:cNvPr id="9" name="TextBox 8"/>
          <p:cNvSpPr txBox="1"/>
          <p:nvPr/>
        </p:nvSpPr>
        <p:spPr>
          <a:xfrm>
            <a:off x="566928" y="5257800"/>
            <a:ext cx="2651760" cy="548640"/>
          </a:xfrm>
          <a:prstGeom prst="rect">
            <a:avLst/>
          </a:prstGeom>
          <a:noFill/>
        </p:spPr>
        <p:txBody>
          <a:bodyPr wrap="square" anchor="t" lIns="0" rIns="0" tIns="0" bIns="0">
            <a:spAutoFit/>
          </a:bodyPr>
          <a:lstStyle/>
          <a:p>
            <a:pPr algn="l">
              <a:lnSpc>
                <a:spcPct val="112000"/>
              </a:lnSpc>
              <a:spcBef>
                <a:spcPts val="0"/>
              </a:spcBef>
              <a:spcAft>
                <a:spcPts val="600"/>
              </a:spcAft>
            </a:pPr>
            <a:r>
              <a:rPr sz="3300" b="1" i="0">
                <a:solidFill>
                  <a:srgbClr val="E64415"/>
                </a:solidFill>
                <a:latin typeface="Lato"/>
              </a:rPr>
              <a:t>399</a:t>
            </a:r>
          </a:p>
        </p:txBody>
      </p:sp>
      <p:sp>
        <p:nvSpPr>
          <p:cNvPr id="10" name="TextBox 9"/>
          <p:cNvSpPr txBox="1"/>
          <p:nvPr/>
        </p:nvSpPr>
        <p:spPr>
          <a:xfrm>
            <a:off x="566928" y="5824728"/>
            <a:ext cx="2651760" cy="457200"/>
          </a:xfrm>
          <a:prstGeom prst="rect">
            <a:avLst/>
          </a:prstGeom>
          <a:noFill/>
        </p:spPr>
        <p:txBody>
          <a:bodyPr wrap="square" anchor="t" lIns="0" rIns="0" tIns="0" bIns="0">
            <a:spAutoFit/>
          </a:bodyPr>
          <a:lstStyle/>
          <a:p>
            <a:pPr algn="l">
              <a:lnSpc>
                <a:spcPct val="110000"/>
              </a:lnSpc>
              <a:spcBef>
                <a:spcPts val="0"/>
              </a:spcBef>
              <a:spcAft>
                <a:spcPts val="600"/>
              </a:spcAft>
            </a:pPr>
            <a:r>
              <a:rPr sz="1250" b="0" i="0">
                <a:solidFill>
                  <a:srgbClr val="555555"/>
                </a:solidFill>
                <a:latin typeface="Lato"/>
              </a:rPr>
              <a:t>papers collected</a:t>
            </a:r>
          </a:p>
        </p:txBody>
      </p:sp>
      <p:sp>
        <p:nvSpPr>
          <p:cNvPr id="11" name="TextBox 10"/>
          <p:cNvSpPr txBox="1"/>
          <p:nvPr/>
        </p:nvSpPr>
        <p:spPr>
          <a:xfrm>
            <a:off x="3328416" y="5257800"/>
            <a:ext cx="2651760" cy="548640"/>
          </a:xfrm>
          <a:prstGeom prst="rect">
            <a:avLst/>
          </a:prstGeom>
          <a:noFill/>
        </p:spPr>
        <p:txBody>
          <a:bodyPr wrap="square" anchor="t" lIns="0" rIns="0" tIns="0" bIns="0">
            <a:spAutoFit/>
          </a:bodyPr>
          <a:lstStyle/>
          <a:p>
            <a:pPr algn="l">
              <a:lnSpc>
                <a:spcPct val="112000"/>
              </a:lnSpc>
              <a:spcBef>
                <a:spcPts val="0"/>
              </a:spcBef>
              <a:spcAft>
                <a:spcPts val="600"/>
              </a:spcAft>
            </a:pPr>
            <a:r>
              <a:rPr sz="3300" b="1" i="0">
                <a:solidFill>
                  <a:srgbClr val="E64415"/>
                </a:solidFill>
                <a:latin typeface="Lato"/>
              </a:rPr>
              <a:t>22,086</a:t>
            </a:r>
          </a:p>
        </p:txBody>
      </p:sp>
      <p:sp>
        <p:nvSpPr>
          <p:cNvPr id="12" name="TextBox 11"/>
          <p:cNvSpPr txBox="1"/>
          <p:nvPr/>
        </p:nvSpPr>
        <p:spPr>
          <a:xfrm>
            <a:off x="3328416" y="5824728"/>
            <a:ext cx="2651760" cy="457200"/>
          </a:xfrm>
          <a:prstGeom prst="rect">
            <a:avLst/>
          </a:prstGeom>
          <a:noFill/>
        </p:spPr>
        <p:txBody>
          <a:bodyPr wrap="square" anchor="t" lIns="0" rIns="0" tIns="0" bIns="0">
            <a:spAutoFit/>
          </a:bodyPr>
          <a:lstStyle/>
          <a:p>
            <a:pPr algn="l">
              <a:lnSpc>
                <a:spcPct val="110000"/>
              </a:lnSpc>
              <a:spcBef>
                <a:spcPts val="0"/>
              </a:spcBef>
              <a:spcAft>
                <a:spcPts val="600"/>
              </a:spcAft>
            </a:pPr>
            <a:r>
              <a:rPr sz="1250" b="0" i="0">
                <a:solidFill>
                  <a:srgbClr val="555555"/>
                </a:solidFill>
                <a:latin typeface="Lato"/>
              </a:rPr>
              <a:t>passages segmented</a:t>
            </a:r>
          </a:p>
        </p:txBody>
      </p:sp>
      <p:sp>
        <p:nvSpPr>
          <p:cNvPr id="13" name="TextBox 12"/>
          <p:cNvSpPr txBox="1"/>
          <p:nvPr/>
        </p:nvSpPr>
        <p:spPr>
          <a:xfrm>
            <a:off x="6089904" y="5257800"/>
            <a:ext cx="2651760" cy="548640"/>
          </a:xfrm>
          <a:prstGeom prst="rect">
            <a:avLst/>
          </a:prstGeom>
          <a:noFill/>
        </p:spPr>
        <p:txBody>
          <a:bodyPr wrap="square" anchor="t" lIns="0" rIns="0" tIns="0" bIns="0">
            <a:spAutoFit/>
          </a:bodyPr>
          <a:lstStyle/>
          <a:p>
            <a:pPr algn="l">
              <a:lnSpc>
                <a:spcPct val="112000"/>
              </a:lnSpc>
              <a:spcBef>
                <a:spcPts val="0"/>
              </a:spcBef>
              <a:spcAft>
                <a:spcPts val="600"/>
              </a:spcAft>
            </a:pPr>
            <a:r>
              <a:rPr sz="3300" b="1" i="0">
                <a:solidFill>
                  <a:srgbClr val="E64415"/>
                </a:solidFill>
                <a:latin typeface="Lato"/>
              </a:rPr>
              <a:t>794</a:t>
            </a:r>
          </a:p>
        </p:txBody>
      </p:sp>
      <p:sp>
        <p:nvSpPr>
          <p:cNvPr id="14" name="TextBox 13"/>
          <p:cNvSpPr txBox="1"/>
          <p:nvPr/>
        </p:nvSpPr>
        <p:spPr>
          <a:xfrm>
            <a:off x="6089904" y="5824728"/>
            <a:ext cx="2651760" cy="457200"/>
          </a:xfrm>
          <a:prstGeom prst="rect">
            <a:avLst/>
          </a:prstGeom>
          <a:noFill/>
        </p:spPr>
        <p:txBody>
          <a:bodyPr wrap="square" anchor="t" lIns="0" rIns="0" tIns="0" bIns="0">
            <a:spAutoFit/>
          </a:bodyPr>
          <a:lstStyle/>
          <a:p>
            <a:pPr algn="l">
              <a:lnSpc>
                <a:spcPct val="110000"/>
              </a:lnSpc>
              <a:spcBef>
                <a:spcPts val="0"/>
              </a:spcBef>
              <a:spcAft>
                <a:spcPts val="600"/>
              </a:spcAft>
            </a:pPr>
            <a:r>
              <a:rPr sz="1250" b="0" i="0">
                <a:solidFill>
                  <a:srgbClr val="555555"/>
                </a:solidFill>
                <a:latin typeface="Lato"/>
              </a:rPr>
              <a:t>flagged as synthesis</a:t>
            </a:r>
          </a:p>
        </p:txBody>
      </p:sp>
      <p:sp>
        <p:nvSpPr>
          <p:cNvPr id="15" name="TextBox 14"/>
          <p:cNvSpPr txBox="1"/>
          <p:nvPr/>
        </p:nvSpPr>
        <p:spPr>
          <a:xfrm>
            <a:off x="8851392" y="5257800"/>
            <a:ext cx="2651760" cy="548640"/>
          </a:xfrm>
          <a:prstGeom prst="rect">
            <a:avLst/>
          </a:prstGeom>
          <a:noFill/>
        </p:spPr>
        <p:txBody>
          <a:bodyPr wrap="square" anchor="t" lIns="0" rIns="0" tIns="0" bIns="0">
            <a:spAutoFit/>
          </a:bodyPr>
          <a:lstStyle/>
          <a:p>
            <a:pPr algn="l">
              <a:lnSpc>
                <a:spcPct val="112000"/>
              </a:lnSpc>
              <a:spcBef>
                <a:spcPts val="0"/>
              </a:spcBef>
              <a:spcAft>
                <a:spcPts val="600"/>
              </a:spcAft>
            </a:pPr>
            <a:r>
              <a:rPr sz="3300" b="1" i="0">
                <a:solidFill>
                  <a:srgbClr val="E64415"/>
                </a:solidFill>
                <a:latin typeface="Lato"/>
              </a:rPr>
              <a:t>138</a:t>
            </a:r>
          </a:p>
        </p:txBody>
      </p:sp>
      <p:sp>
        <p:nvSpPr>
          <p:cNvPr id="16" name="TextBox 15"/>
          <p:cNvSpPr txBox="1"/>
          <p:nvPr/>
        </p:nvSpPr>
        <p:spPr>
          <a:xfrm>
            <a:off x="8851392" y="5824728"/>
            <a:ext cx="2651760" cy="457200"/>
          </a:xfrm>
          <a:prstGeom prst="rect">
            <a:avLst/>
          </a:prstGeom>
          <a:noFill/>
        </p:spPr>
        <p:txBody>
          <a:bodyPr wrap="square" anchor="t" lIns="0" rIns="0" tIns="0" bIns="0">
            <a:spAutoFit/>
          </a:bodyPr>
          <a:lstStyle/>
          <a:p>
            <a:pPr algn="l">
              <a:lnSpc>
                <a:spcPct val="110000"/>
              </a:lnSpc>
              <a:spcBef>
                <a:spcPts val="0"/>
              </a:spcBef>
              <a:spcAft>
                <a:spcPts val="600"/>
              </a:spcAft>
            </a:pPr>
            <a:r>
              <a:rPr sz="1250" b="0" i="0">
                <a:solidFill>
                  <a:srgbClr val="555555"/>
                </a:solidFill>
                <a:latin typeface="Lato"/>
              </a:rPr>
              <a:t>triples, annotated by hand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rh_logo.jpg"/>
          <p:cNvPicPr>
            <a:picLocks noChangeAspect="1"/>
          </p:cNvPicPr>
          <p:nvPr/>
        </p:nvPicPr>
        <p:blipFill>
          <a:blip r:embed="rId2"/>
          <a:stretch>
            <a:fillRect/>
          </a:stretch>
        </p:blipFill>
        <p:spPr>
          <a:xfrm>
            <a:off x="548640" y="420624"/>
            <a:ext cx="868680" cy="671720"/>
          </a:xfrm>
          <a:prstGeom prst="rect">
            <a:avLst/>
          </a:prstGeom>
        </p:spPr>
      </p:pic>
      <p:sp>
        <p:nvSpPr>
          <p:cNvPr id="3" name="TextBox 2"/>
          <p:cNvSpPr txBox="1"/>
          <p:nvPr/>
        </p:nvSpPr>
        <p:spPr>
          <a:xfrm>
            <a:off x="566928" y="1298448"/>
            <a:ext cx="11064240" cy="640080"/>
          </a:xfrm>
          <a:prstGeom prst="rect">
            <a:avLst/>
          </a:prstGeom>
          <a:noFill/>
        </p:spPr>
        <p:txBody>
          <a:bodyPr wrap="square" anchor="t" lIns="0" rIns="0" tIns="0" bIns="0">
            <a:spAutoFit/>
          </a:bodyPr>
          <a:lstStyle/>
          <a:p>
            <a:pPr algn="l">
              <a:lnSpc>
                <a:spcPct val="112000"/>
              </a:lnSpc>
              <a:spcBef>
                <a:spcPts val="0"/>
              </a:spcBef>
              <a:spcAft>
                <a:spcPts val="600"/>
              </a:spcAft>
            </a:pPr>
            <a:r>
              <a:rPr sz="2700" b="1" i="0">
                <a:solidFill>
                  <a:srgbClr val="E64415"/>
                </a:solidFill>
                <a:latin typeface="Lato"/>
              </a:rPr>
              <a:t>5   </a:t>
            </a:r>
            <a:r>
              <a:rPr sz="2700" b="1" i="0">
                <a:solidFill>
                  <a:srgbClr val="1A1A1A"/>
                </a:solidFill>
                <a:latin typeface="Lato"/>
              </a:rPr>
              <a:t>How accuracy was measured</a:t>
            </a:r>
          </a:p>
        </p:txBody>
      </p:sp>
      <p:sp>
        <p:nvSpPr>
          <p:cNvPr id="4" name="Rectangle 3"/>
          <p:cNvSpPr/>
          <p:nvPr/>
        </p:nvSpPr>
        <p:spPr>
          <a:xfrm>
            <a:off x="585216" y="1993392"/>
            <a:ext cx="11018520" cy="15240"/>
          </a:xfrm>
          <a:prstGeom prst="rect">
            <a:avLst/>
          </a:prstGeom>
          <a:solidFill>
            <a:srgbClr val="E3E3E3"/>
          </a:solidFill>
          <a:ln>
            <a:noFill/>
          </a:ln>
          <a:effectLst/>
        </p:spPr>
        <p:txBody>
          <a:bodyPr rtlCol="0" anchor="ctr"/>
          <a:lstStyle/>
          <a:p>
            <a:pPr algn="ctr"/>
          </a:p>
        </p:txBody>
      </p:sp>
      <p:sp>
        <p:nvSpPr>
          <p:cNvPr id="5" name="TextBox 4"/>
          <p:cNvSpPr txBox="1"/>
          <p:nvPr/>
        </p:nvSpPr>
        <p:spPr>
          <a:xfrm>
            <a:off x="11430000" y="6437376"/>
            <a:ext cx="640080" cy="274320"/>
          </a:xfrm>
          <a:prstGeom prst="rect">
            <a:avLst/>
          </a:prstGeom>
          <a:noFill/>
        </p:spPr>
        <p:txBody>
          <a:bodyPr wrap="square" anchor="t" lIns="0" rIns="0" tIns="0" bIns="0">
            <a:spAutoFit/>
          </a:bodyPr>
          <a:lstStyle/>
          <a:p>
            <a:pPr algn="r">
              <a:lnSpc>
                <a:spcPct val="112000"/>
              </a:lnSpc>
              <a:spcBef>
                <a:spcPts val="0"/>
              </a:spcBef>
              <a:spcAft>
                <a:spcPts val="600"/>
              </a:spcAft>
            </a:pPr>
            <a:r>
              <a:rPr sz="1000" b="0" i="0">
                <a:solidFill>
                  <a:srgbClr val="BBBBBB"/>
                </a:solidFill>
                <a:latin typeface="Lato"/>
              </a:rPr>
              <a:t>6</a:t>
            </a:r>
          </a:p>
        </p:txBody>
      </p:sp>
      <p:pic>
        <p:nvPicPr>
          <p:cNvPr id="6" name="Picture 5" descr="ontology_schema.png"/>
          <p:cNvPicPr>
            <a:picLocks noChangeAspect="1"/>
          </p:cNvPicPr>
          <p:nvPr/>
        </p:nvPicPr>
        <p:blipFill>
          <a:blip r:embed="rId3"/>
          <a:stretch>
            <a:fillRect/>
          </a:stretch>
        </p:blipFill>
        <p:spPr>
          <a:xfrm>
            <a:off x="3791039" y="2194560"/>
            <a:ext cx="4609617" cy="2880360"/>
          </a:xfrm>
          <a:prstGeom prst="rect">
            <a:avLst/>
          </a:prstGeom>
        </p:spPr>
      </p:pic>
      <p:sp>
        <p:nvSpPr>
          <p:cNvPr id="7" name="TextBox 6"/>
          <p:cNvSpPr txBox="1"/>
          <p:nvPr/>
        </p:nvSpPr>
        <p:spPr>
          <a:xfrm>
            <a:off x="566928" y="5349240"/>
            <a:ext cx="10972800" cy="4023360"/>
          </a:xfrm>
          <a:prstGeom prst="rect">
            <a:avLst/>
          </a:prstGeom>
          <a:noFill/>
        </p:spPr>
        <p:txBody>
          <a:bodyPr wrap="square" anchor="t" lIns="0" rIns="0" tIns="0" bIns="0">
            <a:spAutoFit/>
          </a:bodyPr>
          <a:lstStyle/>
          <a:p>
            <a:pPr algn="l">
              <a:lnSpc>
                <a:spcPct val="116000"/>
              </a:lnSpc>
              <a:spcBef>
                <a:spcPts val="0"/>
              </a:spcBef>
              <a:spcAft>
                <a:spcPts val="600"/>
              </a:spcAft>
            </a:pPr>
            <a:r>
              <a:rPr sz="1350" b="1" i="0">
                <a:solidFill>
                  <a:srgbClr val="E64415"/>
                </a:solidFill>
                <a:latin typeface="Lato"/>
              </a:rPr>
              <a:t>•  </a:t>
            </a:r>
            <a:r>
              <a:rPr sz="1350" b="0" i="0">
                <a:solidFill>
                  <a:srgbClr val="1A1A1A"/>
                </a:solidFill>
                <a:latin typeface="Lato"/>
              </a:rPr>
              <a:t>Matching is per passage and per relation, greedy one-to-one, so no gold triple is credited twice and nothing matches across passages.</a:t>
            </a:r>
          </a:p>
          <a:p>
            <a:pPr algn="l">
              <a:lnSpc>
                <a:spcPct val="116000"/>
              </a:lnSpc>
              <a:spcBef>
                <a:spcPts val="0"/>
              </a:spcBef>
              <a:spcAft>
                <a:spcPts val="600"/>
              </a:spcAft>
            </a:pPr>
            <a:r>
              <a:rPr sz="1350" b="1" i="0">
                <a:solidFill>
                  <a:srgbClr val="E64415"/>
                </a:solidFill>
                <a:latin typeface="Lato"/>
              </a:rPr>
              <a:t>•  </a:t>
            </a:r>
            <a:r>
              <a:rPr sz="1350" b="0" i="0">
                <a:solidFill>
                  <a:srgbClr val="1A1A1A"/>
                </a:solidFill>
                <a:latin typeface="Lato"/>
              </a:rPr>
              <a:t>One concession is declared: IN_SOLVENT and AT_CONDITION are scored on the object alone, because an annotation-tool defect left the MOF name in the subject slot.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rh_logo.jpg"/>
          <p:cNvPicPr>
            <a:picLocks noChangeAspect="1"/>
          </p:cNvPicPr>
          <p:nvPr/>
        </p:nvPicPr>
        <p:blipFill>
          <a:blip r:embed="rId2"/>
          <a:stretch>
            <a:fillRect/>
          </a:stretch>
        </p:blipFill>
        <p:spPr>
          <a:xfrm>
            <a:off x="548640" y="420624"/>
            <a:ext cx="868680" cy="671720"/>
          </a:xfrm>
          <a:prstGeom prst="rect">
            <a:avLst/>
          </a:prstGeom>
        </p:spPr>
      </p:pic>
      <p:sp>
        <p:nvSpPr>
          <p:cNvPr id="3" name="TextBox 2"/>
          <p:cNvSpPr txBox="1"/>
          <p:nvPr/>
        </p:nvSpPr>
        <p:spPr>
          <a:xfrm>
            <a:off x="566928" y="1298448"/>
            <a:ext cx="11064240" cy="640080"/>
          </a:xfrm>
          <a:prstGeom prst="rect">
            <a:avLst/>
          </a:prstGeom>
          <a:noFill/>
        </p:spPr>
        <p:txBody>
          <a:bodyPr wrap="square" anchor="t" lIns="0" rIns="0" tIns="0" bIns="0">
            <a:spAutoFit/>
          </a:bodyPr>
          <a:lstStyle/>
          <a:p>
            <a:pPr algn="l">
              <a:lnSpc>
                <a:spcPct val="112000"/>
              </a:lnSpc>
              <a:spcBef>
                <a:spcPts val="0"/>
              </a:spcBef>
              <a:spcAft>
                <a:spcPts val="600"/>
              </a:spcAft>
            </a:pPr>
            <a:r>
              <a:rPr sz="2700" b="1" i="0">
                <a:solidFill>
                  <a:srgbClr val="E64415"/>
                </a:solidFill>
                <a:latin typeface="Lato"/>
              </a:rPr>
              <a:t>6   </a:t>
            </a:r>
            <a:r>
              <a:rPr sz="2700" b="1" i="0">
                <a:solidFill>
                  <a:srgbClr val="1A1A1A"/>
                </a:solidFill>
                <a:latin typeface="Lato"/>
              </a:rPr>
              <a:t>Results: ten configurations, 3.06 USD</a:t>
            </a:r>
          </a:p>
        </p:txBody>
      </p:sp>
      <p:sp>
        <p:nvSpPr>
          <p:cNvPr id="4" name="Rectangle 3"/>
          <p:cNvSpPr/>
          <p:nvPr/>
        </p:nvSpPr>
        <p:spPr>
          <a:xfrm>
            <a:off x="585216" y="1993392"/>
            <a:ext cx="11018520" cy="15240"/>
          </a:xfrm>
          <a:prstGeom prst="rect">
            <a:avLst/>
          </a:prstGeom>
          <a:solidFill>
            <a:srgbClr val="E3E3E3"/>
          </a:solidFill>
          <a:ln>
            <a:noFill/>
          </a:ln>
          <a:effectLst/>
        </p:spPr>
        <p:txBody>
          <a:bodyPr rtlCol="0" anchor="ctr"/>
          <a:lstStyle/>
          <a:p>
            <a:pPr algn="ctr"/>
          </a:p>
        </p:txBody>
      </p:sp>
      <p:sp>
        <p:nvSpPr>
          <p:cNvPr id="5" name="TextBox 4"/>
          <p:cNvSpPr txBox="1"/>
          <p:nvPr/>
        </p:nvSpPr>
        <p:spPr>
          <a:xfrm>
            <a:off x="11430000" y="6437376"/>
            <a:ext cx="640080" cy="274320"/>
          </a:xfrm>
          <a:prstGeom prst="rect">
            <a:avLst/>
          </a:prstGeom>
          <a:noFill/>
        </p:spPr>
        <p:txBody>
          <a:bodyPr wrap="square" anchor="t" lIns="0" rIns="0" tIns="0" bIns="0">
            <a:spAutoFit/>
          </a:bodyPr>
          <a:lstStyle/>
          <a:p>
            <a:pPr algn="r">
              <a:lnSpc>
                <a:spcPct val="112000"/>
              </a:lnSpc>
              <a:spcBef>
                <a:spcPts val="0"/>
              </a:spcBef>
              <a:spcAft>
                <a:spcPts val="600"/>
              </a:spcAft>
            </a:pPr>
            <a:r>
              <a:rPr sz="1000" b="0" i="0">
                <a:solidFill>
                  <a:srgbClr val="BBBBBB"/>
                </a:solidFill>
                <a:latin typeface="Lato"/>
              </a:rPr>
              <a:t>7</a:t>
            </a:r>
          </a:p>
        </p:txBody>
      </p:sp>
      <p:pic>
        <p:nvPicPr>
          <p:cNvPr id="6" name="Picture 5" descr="fig1_cost_vs_f1.png"/>
          <p:cNvPicPr>
            <a:picLocks noChangeAspect="1"/>
          </p:cNvPicPr>
          <p:nvPr/>
        </p:nvPicPr>
        <p:blipFill>
          <a:blip r:embed="rId3"/>
          <a:stretch>
            <a:fillRect/>
          </a:stretch>
        </p:blipFill>
        <p:spPr>
          <a:xfrm>
            <a:off x="3620066" y="2240280"/>
            <a:ext cx="4951562" cy="3200400"/>
          </a:xfrm>
          <a:prstGeom prst="rect">
            <a:avLst/>
          </a:prstGeom>
        </p:spPr>
      </p:pic>
      <p:sp>
        <p:nvSpPr>
          <p:cNvPr id="7" name="TextBox 6"/>
          <p:cNvSpPr txBox="1"/>
          <p:nvPr/>
        </p:nvSpPr>
        <p:spPr>
          <a:xfrm>
            <a:off x="566928" y="5577840"/>
            <a:ext cx="10972800" cy="4023360"/>
          </a:xfrm>
          <a:prstGeom prst="rect">
            <a:avLst/>
          </a:prstGeom>
          <a:noFill/>
        </p:spPr>
        <p:txBody>
          <a:bodyPr wrap="square" anchor="t" lIns="0" rIns="0" tIns="0" bIns="0">
            <a:spAutoFit/>
          </a:bodyPr>
          <a:lstStyle/>
          <a:p>
            <a:pPr algn="l">
              <a:lnSpc>
                <a:spcPct val="116000"/>
              </a:lnSpc>
              <a:spcBef>
                <a:spcPts val="0"/>
              </a:spcBef>
              <a:spcAft>
                <a:spcPts val="500"/>
              </a:spcAft>
            </a:pPr>
            <a:r>
              <a:rPr sz="1350" b="1" i="0">
                <a:solidFill>
                  <a:srgbClr val="E64415"/>
                </a:solidFill>
                <a:latin typeface="Lato"/>
              </a:rPr>
              <a:t>•  </a:t>
            </a:r>
            <a:r>
              <a:rPr sz="1350" b="0" i="0">
                <a:solidFill>
                  <a:srgbClr val="1A1A1A"/>
                </a:solidFill>
                <a:latin typeface="Lato"/>
              </a:rPr>
              <a:t>Every language-model configuration beats the rule-based baseline. The weakest scores 0.191 against the baseline's 0.112.</a:t>
            </a:r>
          </a:p>
          <a:p>
            <a:pPr algn="l">
              <a:lnSpc>
                <a:spcPct val="116000"/>
              </a:lnSpc>
              <a:spcBef>
                <a:spcPts val="0"/>
              </a:spcBef>
              <a:spcAft>
                <a:spcPts val="500"/>
              </a:spcAft>
            </a:pPr>
            <a:r>
              <a:rPr sz="1350" b="1" i="0">
                <a:solidFill>
                  <a:srgbClr val="E64415"/>
                </a:solidFill>
                <a:latin typeface="Lato"/>
              </a:rPr>
              <a:t>•  </a:t>
            </a:r>
            <a:r>
              <a:rPr sz="1350" b="0" i="0">
                <a:solidFill>
                  <a:srgbClr val="1A1A1A"/>
                </a:solidFill>
                <a:latin typeface="Lato"/>
              </a:rPr>
              <a:t>The strongest configuration is also among the cheapest.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rh_logo.jpg"/>
          <p:cNvPicPr>
            <a:picLocks noChangeAspect="1"/>
          </p:cNvPicPr>
          <p:nvPr/>
        </p:nvPicPr>
        <p:blipFill>
          <a:blip r:embed="rId2"/>
          <a:stretch>
            <a:fillRect/>
          </a:stretch>
        </p:blipFill>
        <p:spPr>
          <a:xfrm>
            <a:off x="548640" y="420624"/>
            <a:ext cx="868680" cy="671720"/>
          </a:xfrm>
          <a:prstGeom prst="rect">
            <a:avLst/>
          </a:prstGeom>
        </p:spPr>
      </p:pic>
      <p:sp>
        <p:nvSpPr>
          <p:cNvPr id="3" name="TextBox 2"/>
          <p:cNvSpPr txBox="1"/>
          <p:nvPr/>
        </p:nvSpPr>
        <p:spPr>
          <a:xfrm>
            <a:off x="566928" y="1298448"/>
            <a:ext cx="11064240" cy="640080"/>
          </a:xfrm>
          <a:prstGeom prst="rect">
            <a:avLst/>
          </a:prstGeom>
          <a:noFill/>
        </p:spPr>
        <p:txBody>
          <a:bodyPr wrap="square" anchor="t" lIns="0" rIns="0" tIns="0" bIns="0">
            <a:spAutoFit/>
          </a:bodyPr>
          <a:lstStyle/>
          <a:p>
            <a:pPr algn="l">
              <a:lnSpc>
                <a:spcPct val="112000"/>
              </a:lnSpc>
              <a:spcBef>
                <a:spcPts val="0"/>
              </a:spcBef>
              <a:spcAft>
                <a:spcPts val="600"/>
              </a:spcAft>
            </a:pPr>
            <a:r>
              <a:rPr sz="2700" b="1" i="0">
                <a:solidFill>
                  <a:srgbClr val="E64415"/>
                </a:solidFill>
                <a:latin typeface="Lato"/>
              </a:rPr>
              <a:t>7   </a:t>
            </a:r>
            <a:r>
              <a:rPr sz="2700" b="1" i="0">
                <a:solidFill>
                  <a:srgbClr val="1A1A1A"/>
                </a:solidFill>
                <a:latin typeface="Lato"/>
              </a:rPr>
              <a:t>Per field, and a pre-registered prediction</a:t>
            </a:r>
          </a:p>
        </p:txBody>
      </p:sp>
      <p:sp>
        <p:nvSpPr>
          <p:cNvPr id="4" name="Rectangle 3"/>
          <p:cNvSpPr/>
          <p:nvPr/>
        </p:nvSpPr>
        <p:spPr>
          <a:xfrm>
            <a:off x="585216" y="1993392"/>
            <a:ext cx="11018520" cy="15240"/>
          </a:xfrm>
          <a:prstGeom prst="rect">
            <a:avLst/>
          </a:prstGeom>
          <a:solidFill>
            <a:srgbClr val="E3E3E3"/>
          </a:solidFill>
          <a:ln>
            <a:noFill/>
          </a:ln>
          <a:effectLst/>
        </p:spPr>
        <p:txBody>
          <a:bodyPr rtlCol="0" anchor="ctr"/>
          <a:lstStyle/>
          <a:p>
            <a:pPr algn="ctr"/>
          </a:p>
        </p:txBody>
      </p:sp>
      <p:sp>
        <p:nvSpPr>
          <p:cNvPr id="5" name="TextBox 4"/>
          <p:cNvSpPr txBox="1"/>
          <p:nvPr/>
        </p:nvSpPr>
        <p:spPr>
          <a:xfrm>
            <a:off x="11430000" y="6437376"/>
            <a:ext cx="640080" cy="274320"/>
          </a:xfrm>
          <a:prstGeom prst="rect">
            <a:avLst/>
          </a:prstGeom>
          <a:noFill/>
        </p:spPr>
        <p:txBody>
          <a:bodyPr wrap="square" anchor="t" lIns="0" rIns="0" tIns="0" bIns="0">
            <a:spAutoFit/>
          </a:bodyPr>
          <a:lstStyle/>
          <a:p>
            <a:pPr algn="r">
              <a:lnSpc>
                <a:spcPct val="112000"/>
              </a:lnSpc>
              <a:spcBef>
                <a:spcPts val="0"/>
              </a:spcBef>
              <a:spcAft>
                <a:spcPts val="600"/>
              </a:spcAft>
            </a:pPr>
            <a:r>
              <a:rPr sz="1000" b="0" i="0">
                <a:solidFill>
                  <a:srgbClr val="BBBBBB"/>
                </a:solidFill>
                <a:latin typeface="Lato"/>
              </a:rPr>
              <a:t>8</a:t>
            </a:r>
          </a:p>
        </p:txBody>
      </p:sp>
      <p:pic>
        <p:nvPicPr>
          <p:cNvPr id="6" name="Picture 5" descr="fig2_per_field_f1.png"/>
          <p:cNvPicPr>
            <a:picLocks noChangeAspect="1"/>
          </p:cNvPicPr>
          <p:nvPr/>
        </p:nvPicPr>
        <p:blipFill>
          <a:blip r:embed="rId3"/>
          <a:stretch>
            <a:fillRect/>
          </a:stretch>
        </p:blipFill>
        <p:spPr>
          <a:xfrm>
            <a:off x="566928" y="2240280"/>
            <a:ext cx="4950798" cy="3017520"/>
          </a:xfrm>
          <a:prstGeom prst="rect">
            <a:avLst/>
          </a:prstGeom>
        </p:spPr>
      </p:pic>
      <p:sp>
        <p:nvSpPr>
          <p:cNvPr id="7" name="Rectangle 6"/>
          <p:cNvSpPr/>
          <p:nvPr/>
        </p:nvSpPr>
        <p:spPr>
          <a:xfrm>
            <a:off x="6903720" y="2286000"/>
            <a:ext cx="4709160" cy="2971800"/>
          </a:xfrm>
          <a:prstGeom prst="rect">
            <a:avLst/>
          </a:prstGeom>
          <a:solidFill>
            <a:srgbClr val="FAF6F4"/>
          </a:solidFill>
          <a:ln>
            <a:noFill/>
          </a:ln>
          <a:effectLst/>
        </p:spPr>
        <p:txBody>
          <a:bodyPr rtlCol="0" anchor="ctr"/>
          <a:lstStyle/>
          <a:p>
            <a:pPr algn="ctr"/>
          </a:p>
        </p:txBody>
      </p:sp>
      <p:sp>
        <p:nvSpPr>
          <p:cNvPr id="8" name="TextBox 7"/>
          <p:cNvSpPr txBox="1"/>
          <p:nvPr/>
        </p:nvSpPr>
        <p:spPr>
          <a:xfrm>
            <a:off x="7223760" y="2542032"/>
            <a:ext cx="4114800" cy="2468880"/>
          </a:xfrm>
          <a:prstGeom prst="rect">
            <a:avLst/>
          </a:prstGeom>
          <a:noFill/>
        </p:spPr>
        <p:txBody>
          <a:bodyPr wrap="square" anchor="t" lIns="0" rIns="0" tIns="0" bIns="0">
            <a:spAutoFit/>
          </a:bodyPr>
          <a:lstStyle/>
          <a:p>
            <a:pPr algn="l">
              <a:lnSpc>
                <a:spcPct val="120000"/>
              </a:lnSpc>
              <a:spcBef>
                <a:spcPts val="0"/>
              </a:spcBef>
              <a:spcAft>
                <a:spcPts val="900"/>
              </a:spcAft>
            </a:pPr>
            <a:r>
              <a:rPr sz="1300" b="1" i="0">
                <a:solidFill>
                  <a:srgbClr val="E64415"/>
                </a:solidFill>
                <a:latin typeface="Lato"/>
              </a:rPr>
              <a:t>Committed 23 August, before any results existed</a:t>
            </a:r>
          </a:p>
          <a:p>
            <a:pPr algn="l">
              <a:lnSpc>
                <a:spcPct val="120000"/>
              </a:lnSpc>
              <a:spcBef>
                <a:spcPts val="0"/>
              </a:spcBef>
              <a:spcAft>
                <a:spcPts val="900"/>
              </a:spcAft>
            </a:pPr>
            <a:r>
              <a:rPr sz="1300" b="0" i="1">
                <a:solidFill>
                  <a:srgbClr val="1A1A1A"/>
                </a:solidFill>
                <a:latin typeface="Lato"/>
              </a:rPr>
              <a:t>“The LLM margin should be largest on USES_PRECURSOR, USES_LINKER and SYNTHESIZED_BY, and smallest on AT_CONDITION and IN_SOLVENT.”</a:t>
            </a:r>
          </a:p>
          <a:p>
            <a:pPr algn="l">
              <a:lnSpc>
                <a:spcPct val="120000"/>
              </a:lnSpc>
              <a:spcBef>
                <a:spcPts val="0"/>
              </a:spcBef>
              <a:spcAft>
                <a:spcPts val="900"/>
              </a:spcAft>
            </a:pPr>
            <a:r>
              <a:rPr sz="1300" b="0" i="0">
                <a:solidFill>
                  <a:srgbClr val="1A1A1A"/>
                </a:solidFill>
                <a:latin typeface="Lato"/>
              </a:rPr>
              <a:t>SYNTHESIZED_BY has one gold triple, so it cannot be tested. On the four fields that can: +0.42, +0.31, +0.25, +0.17. Precursor and linker lead, solvent and condition trail, as predicted.</a:t>
            </a:r>
          </a:p>
        </p:txBody>
      </p:sp>
      <p:sp>
        <p:nvSpPr>
          <p:cNvPr id="9" name="TextBox 8"/>
          <p:cNvSpPr txBox="1"/>
          <p:nvPr/>
        </p:nvSpPr>
        <p:spPr>
          <a:xfrm>
            <a:off x="566928" y="5532120"/>
            <a:ext cx="10972800" cy="457200"/>
          </a:xfrm>
          <a:prstGeom prst="rect">
            <a:avLst/>
          </a:prstGeom>
          <a:noFill/>
        </p:spPr>
        <p:txBody>
          <a:bodyPr wrap="square" anchor="t" lIns="0" rIns="0" tIns="0" bIns="0">
            <a:spAutoFit/>
          </a:bodyPr>
          <a:lstStyle/>
          <a:p>
            <a:pPr algn="l">
              <a:lnSpc>
                <a:spcPct val="112000"/>
              </a:lnSpc>
              <a:spcBef>
                <a:spcPts val="0"/>
              </a:spcBef>
              <a:spcAft>
                <a:spcPts val="600"/>
              </a:spcAft>
            </a:pPr>
            <a:r>
              <a:rPr sz="1300" b="0" i="0">
                <a:solidFill>
                  <a:srgbClr val="555555"/>
                </a:solidFill>
                <a:latin typeface="Lato"/>
              </a:rPr>
              <a:t>AT_CONDITION scores measure annotation granularity, not extraction quality, and are excluded from every conclusion. Excluding it, the best configuration averages about 0.53.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rh_logo.jpg"/>
          <p:cNvPicPr>
            <a:picLocks noChangeAspect="1"/>
          </p:cNvPicPr>
          <p:nvPr/>
        </p:nvPicPr>
        <p:blipFill>
          <a:blip r:embed="rId2"/>
          <a:stretch>
            <a:fillRect/>
          </a:stretch>
        </p:blipFill>
        <p:spPr>
          <a:xfrm>
            <a:off x="548640" y="420624"/>
            <a:ext cx="868680" cy="671720"/>
          </a:xfrm>
          <a:prstGeom prst="rect">
            <a:avLst/>
          </a:prstGeom>
        </p:spPr>
      </p:pic>
      <p:sp>
        <p:nvSpPr>
          <p:cNvPr id="3" name="TextBox 2"/>
          <p:cNvSpPr txBox="1"/>
          <p:nvPr/>
        </p:nvSpPr>
        <p:spPr>
          <a:xfrm>
            <a:off x="566928" y="1298448"/>
            <a:ext cx="11064240" cy="640080"/>
          </a:xfrm>
          <a:prstGeom prst="rect">
            <a:avLst/>
          </a:prstGeom>
          <a:noFill/>
        </p:spPr>
        <p:txBody>
          <a:bodyPr wrap="square" anchor="t" lIns="0" rIns="0" tIns="0" bIns="0">
            <a:spAutoFit/>
          </a:bodyPr>
          <a:lstStyle/>
          <a:p>
            <a:pPr algn="l">
              <a:lnSpc>
                <a:spcPct val="112000"/>
              </a:lnSpc>
              <a:spcBef>
                <a:spcPts val="0"/>
              </a:spcBef>
              <a:spcAft>
                <a:spcPts val="600"/>
              </a:spcAft>
            </a:pPr>
            <a:r>
              <a:rPr sz="2700" b="1" i="0">
                <a:solidFill>
                  <a:srgbClr val="E64415"/>
                </a:solidFill>
                <a:latin typeface="Lato"/>
              </a:rPr>
              <a:t>8   </a:t>
            </a:r>
            <a:r>
              <a:rPr sz="2700" b="1" i="0">
                <a:solidFill>
                  <a:srgbClr val="1A1A1A"/>
                </a:solidFill>
                <a:latin typeface="Lato"/>
              </a:rPr>
              <a:t>The cheap model beat the expensive one</a:t>
            </a:r>
          </a:p>
        </p:txBody>
      </p:sp>
      <p:sp>
        <p:nvSpPr>
          <p:cNvPr id="4" name="Rectangle 3"/>
          <p:cNvSpPr/>
          <p:nvPr/>
        </p:nvSpPr>
        <p:spPr>
          <a:xfrm>
            <a:off x="585216" y="1993392"/>
            <a:ext cx="11018520" cy="15240"/>
          </a:xfrm>
          <a:prstGeom prst="rect">
            <a:avLst/>
          </a:prstGeom>
          <a:solidFill>
            <a:srgbClr val="E3E3E3"/>
          </a:solidFill>
          <a:ln>
            <a:noFill/>
          </a:ln>
          <a:effectLst/>
        </p:spPr>
        <p:txBody>
          <a:bodyPr rtlCol="0" anchor="ctr"/>
          <a:lstStyle/>
          <a:p>
            <a:pPr algn="ctr"/>
          </a:p>
        </p:txBody>
      </p:sp>
      <p:sp>
        <p:nvSpPr>
          <p:cNvPr id="5" name="TextBox 4"/>
          <p:cNvSpPr txBox="1"/>
          <p:nvPr/>
        </p:nvSpPr>
        <p:spPr>
          <a:xfrm>
            <a:off x="11430000" y="6437376"/>
            <a:ext cx="640080" cy="274320"/>
          </a:xfrm>
          <a:prstGeom prst="rect">
            <a:avLst/>
          </a:prstGeom>
          <a:noFill/>
        </p:spPr>
        <p:txBody>
          <a:bodyPr wrap="square" anchor="t" lIns="0" rIns="0" tIns="0" bIns="0">
            <a:spAutoFit/>
          </a:bodyPr>
          <a:lstStyle/>
          <a:p>
            <a:pPr algn="r">
              <a:lnSpc>
                <a:spcPct val="112000"/>
              </a:lnSpc>
              <a:spcBef>
                <a:spcPts val="0"/>
              </a:spcBef>
              <a:spcAft>
                <a:spcPts val="600"/>
              </a:spcAft>
            </a:pPr>
            <a:r>
              <a:rPr sz="1000" b="0" i="0">
                <a:solidFill>
                  <a:srgbClr val="BBBBBB"/>
                </a:solidFill>
                <a:latin typeface="Lato"/>
              </a:rPr>
              <a:t>9</a:t>
            </a:r>
          </a:p>
        </p:txBody>
      </p:sp>
      <p:sp>
        <p:nvSpPr>
          <p:cNvPr id="6" name="TextBox 5"/>
          <p:cNvSpPr txBox="1"/>
          <p:nvPr/>
        </p:nvSpPr>
        <p:spPr>
          <a:xfrm>
            <a:off x="566928" y="2286000"/>
            <a:ext cx="2651760" cy="548640"/>
          </a:xfrm>
          <a:prstGeom prst="rect">
            <a:avLst/>
          </a:prstGeom>
          <a:noFill/>
        </p:spPr>
        <p:txBody>
          <a:bodyPr wrap="square" anchor="t" lIns="0" rIns="0" tIns="0" bIns="0">
            <a:spAutoFit/>
          </a:bodyPr>
          <a:lstStyle/>
          <a:p>
            <a:pPr algn="l">
              <a:lnSpc>
                <a:spcPct val="112000"/>
              </a:lnSpc>
              <a:spcBef>
                <a:spcPts val="0"/>
              </a:spcBef>
              <a:spcAft>
                <a:spcPts val="600"/>
              </a:spcAft>
            </a:pPr>
            <a:r>
              <a:rPr sz="3300" b="1" i="0">
                <a:solidFill>
                  <a:srgbClr val="E64415"/>
                </a:solidFill>
                <a:latin typeface="Lato"/>
              </a:rPr>
              <a:t>0.364</a:t>
            </a:r>
          </a:p>
        </p:txBody>
      </p:sp>
      <p:sp>
        <p:nvSpPr>
          <p:cNvPr id="7" name="TextBox 6"/>
          <p:cNvSpPr txBox="1"/>
          <p:nvPr/>
        </p:nvSpPr>
        <p:spPr>
          <a:xfrm>
            <a:off x="566928" y="2852928"/>
            <a:ext cx="2651760" cy="457200"/>
          </a:xfrm>
          <a:prstGeom prst="rect">
            <a:avLst/>
          </a:prstGeom>
          <a:noFill/>
        </p:spPr>
        <p:txBody>
          <a:bodyPr wrap="square" anchor="t" lIns="0" rIns="0" tIns="0" bIns="0">
            <a:spAutoFit/>
          </a:bodyPr>
          <a:lstStyle/>
          <a:p>
            <a:pPr algn="l">
              <a:lnSpc>
                <a:spcPct val="110000"/>
              </a:lnSpc>
              <a:spcBef>
                <a:spcPts val="0"/>
              </a:spcBef>
              <a:spcAft>
                <a:spcPts val="600"/>
              </a:spcAft>
            </a:pPr>
            <a:r>
              <a:rPr sz="1250" b="0" i="0">
                <a:solidFill>
                  <a:srgbClr val="555555"/>
                </a:solidFill>
                <a:latin typeface="Lato"/>
              </a:rPr>
              <a:t>gpt-4o-mini, schema-guided
0.028 USD</a:t>
            </a:r>
          </a:p>
        </p:txBody>
      </p:sp>
      <p:sp>
        <p:nvSpPr>
          <p:cNvPr id="8" name="TextBox 7"/>
          <p:cNvSpPr txBox="1"/>
          <p:nvPr/>
        </p:nvSpPr>
        <p:spPr>
          <a:xfrm>
            <a:off x="3328416" y="2286000"/>
            <a:ext cx="2651760" cy="548640"/>
          </a:xfrm>
          <a:prstGeom prst="rect">
            <a:avLst/>
          </a:prstGeom>
          <a:noFill/>
        </p:spPr>
        <p:txBody>
          <a:bodyPr wrap="square" anchor="t" lIns="0" rIns="0" tIns="0" bIns="0">
            <a:spAutoFit/>
          </a:bodyPr>
          <a:lstStyle/>
          <a:p>
            <a:pPr algn="l">
              <a:lnSpc>
                <a:spcPct val="112000"/>
              </a:lnSpc>
              <a:spcBef>
                <a:spcPts val="0"/>
              </a:spcBef>
              <a:spcAft>
                <a:spcPts val="600"/>
              </a:spcAft>
            </a:pPr>
            <a:r>
              <a:rPr sz="3300" b="1" i="0">
                <a:solidFill>
                  <a:srgbClr val="E64415"/>
                </a:solidFill>
                <a:latin typeface="Lato"/>
              </a:rPr>
              <a:t>0.245</a:t>
            </a:r>
          </a:p>
        </p:txBody>
      </p:sp>
      <p:sp>
        <p:nvSpPr>
          <p:cNvPr id="9" name="TextBox 8"/>
          <p:cNvSpPr txBox="1"/>
          <p:nvPr/>
        </p:nvSpPr>
        <p:spPr>
          <a:xfrm>
            <a:off x="3328416" y="2852928"/>
            <a:ext cx="2651760" cy="457200"/>
          </a:xfrm>
          <a:prstGeom prst="rect">
            <a:avLst/>
          </a:prstGeom>
          <a:noFill/>
        </p:spPr>
        <p:txBody>
          <a:bodyPr wrap="square" anchor="t" lIns="0" rIns="0" tIns="0" bIns="0">
            <a:spAutoFit/>
          </a:bodyPr>
          <a:lstStyle/>
          <a:p>
            <a:pPr algn="l">
              <a:lnSpc>
                <a:spcPct val="110000"/>
              </a:lnSpc>
              <a:spcBef>
                <a:spcPts val="0"/>
              </a:spcBef>
              <a:spcAft>
                <a:spcPts val="600"/>
              </a:spcAft>
            </a:pPr>
            <a:r>
              <a:rPr sz="1250" b="0" i="0">
                <a:solidFill>
                  <a:srgbClr val="555555"/>
                </a:solidFill>
                <a:latin typeface="Lato"/>
              </a:rPr>
              <a:t>gpt-4o, few-shot
1.289 USD</a:t>
            </a:r>
          </a:p>
        </p:txBody>
      </p:sp>
      <p:sp>
        <p:nvSpPr>
          <p:cNvPr id="10" name="TextBox 9"/>
          <p:cNvSpPr txBox="1"/>
          <p:nvPr/>
        </p:nvSpPr>
        <p:spPr>
          <a:xfrm>
            <a:off x="6089904" y="2286000"/>
            <a:ext cx="2651760" cy="548640"/>
          </a:xfrm>
          <a:prstGeom prst="rect">
            <a:avLst/>
          </a:prstGeom>
          <a:noFill/>
        </p:spPr>
        <p:txBody>
          <a:bodyPr wrap="square" anchor="t" lIns="0" rIns="0" tIns="0" bIns="0">
            <a:spAutoFit/>
          </a:bodyPr>
          <a:lstStyle/>
          <a:p>
            <a:pPr algn="l">
              <a:lnSpc>
                <a:spcPct val="112000"/>
              </a:lnSpc>
              <a:spcBef>
                <a:spcPts val="0"/>
              </a:spcBef>
              <a:spcAft>
                <a:spcPts val="600"/>
              </a:spcAft>
            </a:pPr>
            <a:r>
              <a:rPr sz="3300" b="1" i="0">
                <a:solidFill>
                  <a:srgbClr val="E64415"/>
                </a:solidFill>
                <a:latin typeface="Lato"/>
              </a:rPr>
              <a:t>47×</a:t>
            </a:r>
          </a:p>
        </p:txBody>
      </p:sp>
      <p:sp>
        <p:nvSpPr>
          <p:cNvPr id="11" name="TextBox 10"/>
          <p:cNvSpPr txBox="1"/>
          <p:nvPr/>
        </p:nvSpPr>
        <p:spPr>
          <a:xfrm>
            <a:off x="6089904" y="2852928"/>
            <a:ext cx="2651760" cy="457200"/>
          </a:xfrm>
          <a:prstGeom prst="rect">
            <a:avLst/>
          </a:prstGeom>
          <a:noFill/>
        </p:spPr>
        <p:txBody>
          <a:bodyPr wrap="square" anchor="t" lIns="0" rIns="0" tIns="0" bIns="0">
            <a:spAutoFit/>
          </a:bodyPr>
          <a:lstStyle/>
          <a:p>
            <a:pPr algn="l">
              <a:lnSpc>
                <a:spcPct val="110000"/>
              </a:lnSpc>
              <a:spcBef>
                <a:spcPts val="0"/>
              </a:spcBef>
              <a:spcAft>
                <a:spcPts val="600"/>
              </a:spcAft>
            </a:pPr>
            <a:r>
              <a:rPr sz="1250" b="0" i="0">
                <a:solidFill>
                  <a:srgbClr val="555555"/>
                </a:solidFill>
                <a:latin typeface="Lato"/>
              </a:rPr>
              <a:t>cost difference, in favour
of the weaker model</a:t>
            </a:r>
          </a:p>
        </p:txBody>
      </p:sp>
      <p:sp>
        <p:nvSpPr>
          <p:cNvPr id="12" name="TextBox 11"/>
          <p:cNvSpPr txBox="1"/>
          <p:nvPr/>
        </p:nvSpPr>
        <p:spPr>
          <a:xfrm>
            <a:off x="8851392" y="2286000"/>
            <a:ext cx="2651760" cy="548640"/>
          </a:xfrm>
          <a:prstGeom prst="rect">
            <a:avLst/>
          </a:prstGeom>
          <a:noFill/>
        </p:spPr>
        <p:txBody>
          <a:bodyPr wrap="square" anchor="t" lIns="0" rIns="0" tIns="0" bIns="0">
            <a:spAutoFit/>
          </a:bodyPr>
          <a:lstStyle/>
          <a:p>
            <a:pPr algn="l">
              <a:lnSpc>
                <a:spcPct val="112000"/>
              </a:lnSpc>
              <a:spcBef>
                <a:spcPts val="0"/>
              </a:spcBef>
              <a:spcAft>
                <a:spcPts val="600"/>
              </a:spcAft>
            </a:pPr>
            <a:r>
              <a:rPr sz="3300" b="1" i="0">
                <a:solidFill>
                  <a:srgbClr val="E64415"/>
                </a:solidFill>
                <a:latin typeface="Lato"/>
              </a:rPr>
              <a:t>3.06</a:t>
            </a:r>
          </a:p>
        </p:txBody>
      </p:sp>
      <p:sp>
        <p:nvSpPr>
          <p:cNvPr id="13" name="TextBox 12"/>
          <p:cNvSpPr txBox="1"/>
          <p:nvPr/>
        </p:nvSpPr>
        <p:spPr>
          <a:xfrm>
            <a:off x="8851392" y="2852928"/>
            <a:ext cx="2651760" cy="457200"/>
          </a:xfrm>
          <a:prstGeom prst="rect">
            <a:avLst/>
          </a:prstGeom>
          <a:noFill/>
        </p:spPr>
        <p:txBody>
          <a:bodyPr wrap="square" anchor="t" lIns="0" rIns="0" tIns="0" bIns="0">
            <a:spAutoFit/>
          </a:bodyPr>
          <a:lstStyle/>
          <a:p>
            <a:pPr algn="l">
              <a:lnSpc>
                <a:spcPct val="110000"/>
              </a:lnSpc>
              <a:spcBef>
                <a:spcPts val="0"/>
              </a:spcBef>
              <a:spcAft>
                <a:spcPts val="600"/>
              </a:spcAft>
            </a:pPr>
            <a:r>
              <a:rPr sz="1250" b="0" i="0">
                <a:solidFill>
                  <a:srgbClr val="555555"/>
                </a:solidFill>
                <a:latin typeface="Lato"/>
              </a:rPr>
              <a:t>USD, every experiment
in this study</a:t>
            </a:r>
          </a:p>
        </p:txBody>
      </p:sp>
      <p:sp>
        <p:nvSpPr>
          <p:cNvPr id="14" name="Rectangle 13"/>
          <p:cNvSpPr/>
          <p:nvPr/>
        </p:nvSpPr>
        <p:spPr>
          <a:xfrm>
            <a:off x="585216" y="3703320"/>
            <a:ext cx="11018520" cy="12700"/>
          </a:xfrm>
          <a:prstGeom prst="rect">
            <a:avLst/>
          </a:prstGeom>
          <a:solidFill>
            <a:srgbClr val="E3E3E3"/>
          </a:solidFill>
          <a:ln>
            <a:noFill/>
          </a:ln>
          <a:effectLst/>
        </p:spPr>
        <p:txBody>
          <a:bodyPr rtlCol="0" anchor="ctr"/>
          <a:lstStyle/>
          <a:p>
            <a:pPr algn="ctr"/>
          </a:p>
        </p:txBody>
      </p:sp>
      <p:sp>
        <p:nvSpPr>
          <p:cNvPr id="15" name="TextBox 14"/>
          <p:cNvSpPr txBox="1"/>
          <p:nvPr/>
        </p:nvSpPr>
        <p:spPr>
          <a:xfrm>
            <a:off x="566928" y="3977639"/>
            <a:ext cx="10972800" cy="4023360"/>
          </a:xfrm>
          <a:prstGeom prst="rect">
            <a:avLst/>
          </a:prstGeom>
          <a:noFill/>
        </p:spPr>
        <p:txBody>
          <a:bodyPr wrap="square" anchor="t" lIns="0" rIns="0" tIns="0" bIns="0">
            <a:spAutoFit/>
          </a:bodyPr>
          <a:lstStyle/>
          <a:p>
            <a:pPr algn="l">
              <a:lnSpc>
                <a:spcPct val="116000"/>
              </a:lnSpc>
              <a:spcBef>
                <a:spcPts val="0"/>
              </a:spcBef>
              <a:spcAft>
                <a:spcPts val="1000"/>
              </a:spcAft>
            </a:pPr>
            <a:r>
              <a:rPr sz="1500" b="1" i="0">
                <a:solidFill>
                  <a:srgbClr val="E64415"/>
                </a:solidFill>
                <a:latin typeface="Lato"/>
              </a:rPr>
              <a:t>•  </a:t>
            </a:r>
            <a:r>
              <a:rPr sz="1500" b="0" i="0">
                <a:solidFill>
                  <a:srgbClr val="1A1A1A"/>
                </a:solidFill>
                <a:latin typeface="Lato"/>
              </a:rPr>
              <a:t>My first explanation was that the larger model over-extracts, and that verbosity becomes false positives. I tested it by counting emitted triples.</a:t>
            </a:r>
          </a:p>
          <a:p>
            <a:pPr algn="l">
              <a:lnSpc>
                <a:spcPct val="116000"/>
              </a:lnSpc>
              <a:spcBef>
                <a:spcPts val="0"/>
              </a:spcBef>
              <a:spcAft>
                <a:spcPts val="1000"/>
              </a:spcAft>
            </a:pPr>
            <a:r>
              <a:rPr sz="1500" b="1" i="0">
                <a:solidFill>
                  <a:srgbClr val="E64415"/>
                </a:solidFill>
                <a:latin typeface="Lato"/>
              </a:rPr>
              <a:t>•  </a:t>
            </a:r>
            <a:r>
              <a:rPr sz="1500" b="0" i="0">
                <a:solidFill>
                  <a:srgbClr val="1A1A1A"/>
                </a:solidFill>
                <a:latin typeface="Lato"/>
              </a:rPr>
              <a:t>It is wrong, and wrong in the opposite direction. gpt-4o emits fewer triples than gpt-4o-mini in all four strategies, by 32, 29, 19 and 6 percent.</a:t>
            </a:r>
          </a:p>
          <a:p>
            <a:pPr algn="l">
              <a:lnSpc>
                <a:spcPct val="116000"/>
              </a:lnSpc>
              <a:spcBef>
                <a:spcPts val="0"/>
              </a:spcBef>
              <a:spcAft>
                <a:spcPts val="1000"/>
              </a:spcAft>
            </a:pPr>
            <a:r>
              <a:rPr sz="1500" b="1" i="0">
                <a:solidFill>
                  <a:srgbClr val="E64415"/>
                </a:solidFill>
                <a:latin typeface="Lato"/>
              </a:rPr>
              <a:t>•  </a:t>
            </a:r>
            <a:r>
              <a:rPr sz="1500" b="0" i="0">
                <a:solidFill>
                  <a:srgbClr val="1A1A1A"/>
                </a:solidFill>
                <a:latin typeface="Lato"/>
              </a:rPr>
              <a:t>The gap is recall, not precision. gpt-4o recovers 39 of 138 gold triples on schema-guided against gpt-4o-mini's 61, at near-identical precision.</a:t>
            </a:r>
          </a:p>
          <a:p>
            <a:pPr algn="l">
              <a:lnSpc>
                <a:spcPct val="116000"/>
              </a:lnSpc>
              <a:spcBef>
                <a:spcPts val="0"/>
              </a:spcBef>
              <a:spcAft>
                <a:spcPts val="1000"/>
              </a:spcAft>
            </a:pPr>
            <a:r>
              <a:rPr sz="1500" b="1" i="0">
                <a:solidFill>
                  <a:srgbClr val="E64415"/>
                </a:solidFill>
                <a:latin typeface="Lato"/>
              </a:rPr>
              <a:t>•  </a:t>
            </a:r>
            <a:r>
              <a:rPr sz="1500" b="0" i="0">
                <a:solidFill>
                  <a:srgbClr val="1A1A1A"/>
                </a:solidFill>
                <a:latin typeface="Lato"/>
              </a:rPr>
              <a:t>Every prompt says to omit when unsure. Whether gpt-4o is more cautious or simply more obedient, this design cannot tell apart.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rh_logo.jpg"/>
          <p:cNvPicPr>
            <a:picLocks noChangeAspect="1"/>
          </p:cNvPicPr>
          <p:nvPr/>
        </p:nvPicPr>
        <p:blipFill>
          <a:blip r:embed="rId2"/>
          <a:stretch>
            <a:fillRect/>
          </a:stretch>
        </p:blipFill>
        <p:spPr>
          <a:xfrm>
            <a:off x="548640" y="420624"/>
            <a:ext cx="868680" cy="671720"/>
          </a:xfrm>
          <a:prstGeom prst="rect">
            <a:avLst/>
          </a:prstGeom>
        </p:spPr>
      </p:pic>
      <p:sp>
        <p:nvSpPr>
          <p:cNvPr id="3" name="TextBox 2"/>
          <p:cNvSpPr txBox="1"/>
          <p:nvPr/>
        </p:nvSpPr>
        <p:spPr>
          <a:xfrm>
            <a:off x="566928" y="1298448"/>
            <a:ext cx="11064240" cy="640080"/>
          </a:xfrm>
          <a:prstGeom prst="rect">
            <a:avLst/>
          </a:prstGeom>
          <a:noFill/>
        </p:spPr>
        <p:txBody>
          <a:bodyPr wrap="square" anchor="t" lIns="0" rIns="0" tIns="0" bIns="0">
            <a:spAutoFit/>
          </a:bodyPr>
          <a:lstStyle/>
          <a:p>
            <a:pPr algn="l">
              <a:lnSpc>
                <a:spcPct val="112000"/>
              </a:lnSpc>
              <a:spcBef>
                <a:spcPts val="0"/>
              </a:spcBef>
              <a:spcAft>
                <a:spcPts val="600"/>
              </a:spcAft>
            </a:pPr>
            <a:r>
              <a:rPr sz="2700" b="1" i="0">
                <a:solidFill>
                  <a:srgbClr val="E64415"/>
                </a:solidFill>
                <a:latin typeface="Lato"/>
              </a:rPr>
              <a:t>9   </a:t>
            </a:r>
            <a:r>
              <a:rPr sz="2700" b="1" i="0">
                <a:solidFill>
                  <a:srgbClr val="1A1A1A"/>
                </a:solidFill>
                <a:latin typeface="Lato"/>
              </a:rPr>
              <a:t>Why the rule baseline fails</a:t>
            </a:r>
          </a:p>
        </p:txBody>
      </p:sp>
      <p:sp>
        <p:nvSpPr>
          <p:cNvPr id="4" name="Rectangle 3"/>
          <p:cNvSpPr/>
          <p:nvPr/>
        </p:nvSpPr>
        <p:spPr>
          <a:xfrm>
            <a:off x="585216" y="1993392"/>
            <a:ext cx="11018520" cy="15240"/>
          </a:xfrm>
          <a:prstGeom prst="rect">
            <a:avLst/>
          </a:prstGeom>
          <a:solidFill>
            <a:srgbClr val="E3E3E3"/>
          </a:solidFill>
          <a:ln>
            <a:noFill/>
          </a:ln>
          <a:effectLst/>
        </p:spPr>
        <p:txBody>
          <a:bodyPr rtlCol="0" anchor="ctr"/>
          <a:lstStyle/>
          <a:p>
            <a:pPr algn="ctr"/>
          </a:p>
        </p:txBody>
      </p:sp>
      <p:sp>
        <p:nvSpPr>
          <p:cNvPr id="5" name="TextBox 4"/>
          <p:cNvSpPr txBox="1"/>
          <p:nvPr/>
        </p:nvSpPr>
        <p:spPr>
          <a:xfrm>
            <a:off x="11430000" y="6437376"/>
            <a:ext cx="640080" cy="274320"/>
          </a:xfrm>
          <a:prstGeom prst="rect">
            <a:avLst/>
          </a:prstGeom>
          <a:noFill/>
        </p:spPr>
        <p:txBody>
          <a:bodyPr wrap="square" anchor="t" lIns="0" rIns="0" tIns="0" bIns="0">
            <a:spAutoFit/>
          </a:bodyPr>
          <a:lstStyle/>
          <a:p>
            <a:pPr algn="r">
              <a:lnSpc>
                <a:spcPct val="112000"/>
              </a:lnSpc>
              <a:spcBef>
                <a:spcPts val="0"/>
              </a:spcBef>
              <a:spcAft>
                <a:spcPts val="600"/>
              </a:spcAft>
            </a:pPr>
            <a:r>
              <a:rPr sz="1000" b="0" i="0">
                <a:solidFill>
                  <a:srgbClr val="BBBBBB"/>
                </a:solidFill>
                <a:latin typeface="Lato"/>
              </a:rPr>
              <a:t>10</a:t>
            </a:r>
          </a:p>
        </p:txBody>
      </p:sp>
      <p:pic>
        <p:nvPicPr>
          <p:cNvPr id="6" name="Picture 5" descr="fig6_baseline_failure_modes.png"/>
          <p:cNvPicPr>
            <a:picLocks noChangeAspect="1"/>
          </p:cNvPicPr>
          <p:nvPr/>
        </p:nvPicPr>
        <p:blipFill>
          <a:blip r:embed="rId3"/>
          <a:stretch>
            <a:fillRect/>
          </a:stretch>
        </p:blipFill>
        <p:spPr>
          <a:xfrm>
            <a:off x="2929374" y="2240280"/>
            <a:ext cx="6332947" cy="2697480"/>
          </a:xfrm>
          <a:prstGeom prst="rect">
            <a:avLst/>
          </a:prstGeom>
        </p:spPr>
      </p:pic>
      <p:sp>
        <p:nvSpPr>
          <p:cNvPr id="7" name="TextBox 6"/>
          <p:cNvSpPr txBox="1"/>
          <p:nvPr/>
        </p:nvSpPr>
        <p:spPr>
          <a:xfrm>
            <a:off x="566928" y="5120640"/>
            <a:ext cx="10972800" cy="4023360"/>
          </a:xfrm>
          <a:prstGeom prst="rect">
            <a:avLst/>
          </a:prstGeom>
          <a:noFill/>
        </p:spPr>
        <p:txBody>
          <a:bodyPr wrap="square" anchor="t" lIns="0" rIns="0" tIns="0" bIns="0">
            <a:spAutoFit/>
          </a:bodyPr>
          <a:lstStyle/>
          <a:p>
            <a:pPr algn="l">
              <a:lnSpc>
                <a:spcPct val="116000"/>
              </a:lnSpc>
              <a:spcBef>
                <a:spcPts val="0"/>
              </a:spcBef>
              <a:spcAft>
                <a:spcPts val="600"/>
              </a:spcAft>
            </a:pPr>
            <a:r>
              <a:rPr sz="1350" b="1" i="0">
                <a:solidFill>
                  <a:srgbClr val="E64415"/>
                </a:solidFill>
                <a:latin typeface="Lato"/>
              </a:rPr>
              <a:t>•  </a:t>
            </a:r>
            <a:r>
              <a:rPr sz="1350" b="0" i="0">
                <a:solidFill>
                  <a:srgbClr val="1A1A1A"/>
                </a:solidFill>
                <a:latin typeface="Lato"/>
              </a:rPr>
              <a:t>The baseline names a MOF in only 121 of 794 synthesis passages, about 15 percent. Five of the eight relations take MOF as their subject, so that one failure suppresses most of what it could otherwise extract.</a:t>
            </a:r>
          </a:p>
          <a:p>
            <a:pPr algn="l">
              <a:lnSpc>
                <a:spcPct val="116000"/>
              </a:lnSpc>
              <a:spcBef>
                <a:spcPts val="0"/>
              </a:spcBef>
              <a:spcAft>
                <a:spcPts val="600"/>
              </a:spcAft>
            </a:pPr>
            <a:r>
              <a:rPr sz="1350" b="1" i="0">
                <a:solidFill>
                  <a:srgbClr val="E64415"/>
                </a:solidFill>
                <a:latin typeface="Lato"/>
              </a:rPr>
              <a:t>•  </a:t>
            </a:r>
            <a:r>
              <a:rPr sz="1350" b="0" i="0">
                <a:solidFill>
                  <a:srgbClr val="1A1A1A"/>
                </a:solidFill>
                <a:latin typeface="Lato"/>
              </a:rPr>
              <a:t>Neither dominant cause is a lexicon gap. The highest-leverage fix is coreference across a paper and table parsing, not a bigger dictionary.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rh_logo.jpg"/>
          <p:cNvPicPr>
            <a:picLocks noChangeAspect="1"/>
          </p:cNvPicPr>
          <p:nvPr/>
        </p:nvPicPr>
        <p:blipFill>
          <a:blip r:embed="rId2"/>
          <a:stretch>
            <a:fillRect/>
          </a:stretch>
        </p:blipFill>
        <p:spPr>
          <a:xfrm>
            <a:off x="548640" y="420624"/>
            <a:ext cx="868680" cy="671720"/>
          </a:xfrm>
          <a:prstGeom prst="rect">
            <a:avLst/>
          </a:prstGeom>
        </p:spPr>
      </p:pic>
      <p:sp>
        <p:nvSpPr>
          <p:cNvPr id="3" name="TextBox 2"/>
          <p:cNvSpPr txBox="1"/>
          <p:nvPr/>
        </p:nvSpPr>
        <p:spPr>
          <a:xfrm>
            <a:off x="566928" y="1298448"/>
            <a:ext cx="11064240" cy="640080"/>
          </a:xfrm>
          <a:prstGeom prst="rect">
            <a:avLst/>
          </a:prstGeom>
          <a:noFill/>
        </p:spPr>
        <p:txBody>
          <a:bodyPr wrap="square" anchor="t" lIns="0" rIns="0" tIns="0" bIns="0">
            <a:spAutoFit/>
          </a:bodyPr>
          <a:lstStyle/>
          <a:p>
            <a:pPr algn="l">
              <a:lnSpc>
                <a:spcPct val="112000"/>
              </a:lnSpc>
              <a:spcBef>
                <a:spcPts val="0"/>
              </a:spcBef>
              <a:spcAft>
                <a:spcPts val="600"/>
              </a:spcAft>
            </a:pPr>
            <a:r>
              <a:rPr sz="2700" b="1" i="0">
                <a:solidFill>
                  <a:srgbClr val="E64415"/>
                </a:solidFill>
                <a:latin typeface="Lato"/>
              </a:rPr>
              <a:t>10   </a:t>
            </a:r>
            <a:r>
              <a:rPr sz="2700" b="1" i="0">
                <a:solidFill>
                  <a:srgbClr val="1A1A1A"/>
                </a:solidFill>
                <a:latin typeface="Lato"/>
              </a:rPr>
              <a:t>The knowledge graph (RQ5)</a:t>
            </a:r>
          </a:p>
        </p:txBody>
      </p:sp>
      <p:sp>
        <p:nvSpPr>
          <p:cNvPr id="4" name="Rectangle 3"/>
          <p:cNvSpPr/>
          <p:nvPr/>
        </p:nvSpPr>
        <p:spPr>
          <a:xfrm>
            <a:off x="585216" y="1993392"/>
            <a:ext cx="11018520" cy="15240"/>
          </a:xfrm>
          <a:prstGeom prst="rect">
            <a:avLst/>
          </a:prstGeom>
          <a:solidFill>
            <a:srgbClr val="E3E3E3"/>
          </a:solidFill>
          <a:ln>
            <a:noFill/>
          </a:ln>
          <a:effectLst/>
        </p:spPr>
        <p:txBody>
          <a:bodyPr rtlCol="0" anchor="ctr"/>
          <a:lstStyle/>
          <a:p>
            <a:pPr algn="ctr"/>
          </a:p>
        </p:txBody>
      </p:sp>
      <p:sp>
        <p:nvSpPr>
          <p:cNvPr id="5" name="TextBox 4"/>
          <p:cNvSpPr txBox="1"/>
          <p:nvPr/>
        </p:nvSpPr>
        <p:spPr>
          <a:xfrm>
            <a:off x="11430000" y="6437376"/>
            <a:ext cx="640080" cy="274320"/>
          </a:xfrm>
          <a:prstGeom prst="rect">
            <a:avLst/>
          </a:prstGeom>
          <a:noFill/>
        </p:spPr>
        <p:txBody>
          <a:bodyPr wrap="square" anchor="t" lIns="0" rIns="0" tIns="0" bIns="0">
            <a:spAutoFit/>
          </a:bodyPr>
          <a:lstStyle/>
          <a:p>
            <a:pPr algn="r">
              <a:lnSpc>
                <a:spcPct val="112000"/>
              </a:lnSpc>
              <a:spcBef>
                <a:spcPts val="0"/>
              </a:spcBef>
              <a:spcAft>
                <a:spcPts val="600"/>
              </a:spcAft>
            </a:pPr>
            <a:r>
              <a:rPr sz="1000" b="0" i="0">
                <a:solidFill>
                  <a:srgbClr val="BBBBBB"/>
                </a:solidFill>
                <a:latin typeface="Lato"/>
              </a:rPr>
              <a:t>11</a:t>
            </a:r>
          </a:p>
        </p:txBody>
      </p:sp>
      <p:sp>
        <p:nvSpPr>
          <p:cNvPr id="6" name="TextBox 5"/>
          <p:cNvSpPr txBox="1"/>
          <p:nvPr/>
        </p:nvSpPr>
        <p:spPr>
          <a:xfrm>
            <a:off x="566928" y="2286000"/>
            <a:ext cx="2651760" cy="548640"/>
          </a:xfrm>
          <a:prstGeom prst="rect">
            <a:avLst/>
          </a:prstGeom>
          <a:noFill/>
        </p:spPr>
        <p:txBody>
          <a:bodyPr wrap="square" anchor="t" lIns="0" rIns="0" tIns="0" bIns="0">
            <a:spAutoFit/>
          </a:bodyPr>
          <a:lstStyle/>
          <a:p>
            <a:pPr algn="l">
              <a:lnSpc>
                <a:spcPct val="112000"/>
              </a:lnSpc>
              <a:spcBef>
                <a:spcPts val="0"/>
              </a:spcBef>
              <a:spcAft>
                <a:spcPts val="600"/>
              </a:spcAft>
            </a:pPr>
            <a:r>
              <a:rPr sz="3300" b="1" i="0">
                <a:solidFill>
                  <a:srgbClr val="E64415"/>
                </a:solidFill>
                <a:latin typeface="Lato"/>
              </a:rPr>
              <a:t>485</a:t>
            </a:r>
          </a:p>
        </p:txBody>
      </p:sp>
      <p:sp>
        <p:nvSpPr>
          <p:cNvPr id="7" name="TextBox 6"/>
          <p:cNvSpPr txBox="1"/>
          <p:nvPr/>
        </p:nvSpPr>
        <p:spPr>
          <a:xfrm>
            <a:off x="566928" y="2852928"/>
            <a:ext cx="2651760" cy="457200"/>
          </a:xfrm>
          <a:prstGeom prst="rect">
            <a:avLst/>
          </a:prstGeom>
          <a:noFill/>
        </p:spPr>
        <p:txBody>
          <a:bodyPr wrap="square" anchor="t" lIns="0" rIns="0" tIns="0" bIns="0">
            <a:spAutoFit/>
          </a:bodyPr>
          <a:lstStyle/>
          <a:p>
            <a:pPr algn="l">
              <a:lnSpc>
                <a:spcPct val="110000"/>
              </a:lnSpc>
              <a:spcBef>
                <a:spcPts val="0"/>
              </a:spcBef>
              <a:spcAft>
                <a:spcPts val="600"/>
              </a:spcAft>
            </a:pPr>
            <a:r>
              <a:rPr sz="1250" b="0" i="0">
                <a:solidFill>
                  <a:srgbClr val="555555"/>
                </a:solidFill>
                <a:latin typeface="Lato"/>
              </a:rPr>
              <a:t>distinct nodes</a:t>
            </a:r>
          </a:p>
        </p:txBody>
      </p:sp>
      <p:sp>
        <p:nvSpPr>
          <p:cNvPr id="8" name="TextBox 7"/>
          <p:cNvSpPr txBox="1"/>
          <p:nvPr/>
        </p:nvSpPr>
        <p:spPr>
          <a:xfrm>
            <a:off x="3328416" y="2286000"/>
            <a:ext cx="2651760" cy="548640"/>
          </a:xfrm>
          <a:prstGeom prst="rect">
            <a:avLst/>
          </a:prstGeom>
          <a:noFill/>
        </p:spPr>
        <p:txBody>
          <a:bodyPr wrap="square" anchor="t" lIns="0" rIns="0" tIns="0" bIns="0">
            <a:spAutoFit/>
          </a:bodyPr>
          <a:lstStyle/>
          <a:p>
            <a:pPr algn="l">
              <a:lnSpc>
                <a:spcPct val="112000"/>
              </a:lnSpc>
              <a:spcBef>
                <a:spcPts val="0"/>
              </a:spcBef>
              <a:spcAft>
                <a:spcPts val="600"/>
              </a:spcAft>
            </a:pPr>
            <a:r>
              <a:rPr sz="3300" b="1" i="0">
                <a:solidFill>
                  <a:srgbClr val="E64415"/>
                </a:solidFill>
                <a:latin typeface="Lato"/>
              </a:rPr>
              <a:t>2,429</a:t>
            </a:r>
          </a:p>
        </p:txBody>
      </p:sp>
      <p:sp>
        <p:nvSpPr>
          <p:cNvPr id="9" name="TextBox 8"/>
          <p:cNvSpPr txBox="1"/>
          <p:nvPr/>
        </p:nvSpPr>
        <p:spPr>
          <a:xfrm>
            <a:off x="3328416" y="2852928"/>
            <a:ext cx="2651760" cy="457200"/>
          </a:xfrm>
          <a:prstGeom prst="rect">
            <a:avLst/>
          </a:prstGeom>
          <a:noFill/>
        </p:spPr>
        <p:txBody>
          <a:bodyPr wrap="square" anchor="t" lIns="0" rIns="0" tIns="0" bIns="0">
            <a:spAutoFit/>
          </a:bodyPr>
          <a:lstStyle/>
          <a:p>
            <a:pPr algn="l">
              <a:lnSpc>
                <a:spcPct val="110000"/>
              </a:lnSpc>
              <a:spcBef>
                <a:spcPts val="0"/>
              </a:spcBef>
              <a:spcAft>
                <a:spcPts val="600"/>
              </a:spcAft>
            </a:pPr>
            <a:r>
              <a:rPr sz="1250" b="0" i="0">
                <a:solidFill>
                  <a:srgbClr val="555555"/>
                </a:solidFill>
                <a:latin typeface="Lato"/>
              </a:rPr>
              <a:t>relationships</a:t>
            </a:r>
          </a:p>
        </p:txBody>
      </p:sp>
      <p:sp>
        <p:nvSpPr>
          <p:cNvPr id="10" name="TextBox 9"/>
          <p:cNvSpPr txBox="1"/>
          <p:nvPr/>
        </p:nvSpPr>
        <p:spPr>
          <a:xfrm>
            <a:off x="6089904" y="2286000"/>
            <a:ext cx="2651760" cy="548640"/>
          </a:xfrm>
          <a:prstGeom prst="rect">
            <a:avLst/>
          </a:prstGeom>
          <a:noFill/>
        </p:spPr>
        <p:txBody>
          <a:bodyPr wrap="square" anchor="t" lIns="0" rIns="0" tIns="0" bIns="0">
            <a:spAutoFit/>
          </a:bodyPr>
          <a:lstStyle/>
          <a:p>
            <a:pPr algn="l">
              <a:lnSpc>
                <a:spcPct val="112000"/>
              </a:lnSpc>
              <a:spcBef>
                <a:spcPts val="0"/>
              </a:spcBef>
              <a:spcAft>
                <a:spcPts val="600"/>
              </a:spcAft>
            </a:pPr>
            <a:r>
              <a:rPr sz="3300" b="1" i="0">
                <a:solidFill>
                  <a:srgbClr val="E64415"/>
                </a:solidFill>
                <a:latin typeface="Lato"/>
              </a:rPr>
              <a:t>182</a:t>
            </a:r>
          </a:p>
        </p:txBody>
      </p:sp>
      <p:sp>
        <p:nvSpPr>
          <p:cNvPr id="11" name="TextBox 10"/>
          <p:cNvSpPr txBox="1"/>
          <p:nvPr/>
        </p:nvSpPr>
        <p:spPr>
          <a:xfrm>
            <a:off x="6089904" y="2852928"/>
            <a:ext cx="2651760" cy="457200"/>
          </a:xfrm>
          <a:prstGeom prst="rect">
            <a:avLst/>
          </a:prstGeom>
          <a:noFill/>
        </p:spPr>
        <p:txBody>
          <a:bodyPr wrap="square" anchor="t" lIns="0" rIns="0" tIns="0" bIns="0">
            <a:spAutoFit/>
          </a:bodyPr>
          <a:lstStyle/>
          <a:p>
            <a:pPr algn="l">
              <a:lnSpc>
                <a:spcPct val="110000"/>
              </a:lnSpc>
              <a:spcBef>
                <a:spcPts val="0"/>
              </a:spcBef>
              <a:spcAft>
                <a:spcPts val="600"/>
              </a:spcAft>
            </a:pPr>
            <a:r>
              <a:rPr sz="1250" b="0" i="0">
                <a:solidFill>
                  <a:srgbClr val="555555"/>
                </a:solidFill>
                <a:latin typeface="Lato"/>
              </a:rPr>
              <a:t>source papers</a:t>
            </a:r>
          </a:p>
        </p:txBody>
      </p:sp>
      <p:sp>
        <p:nvSpPr>
          <p:cNvPr id="12" name="TextBox 11"/>
          <p:cNvSpPr txBox="1"/>
          <p:nvPr/>
        </p:nvSpPr>
        <p:spPr>
          <a:xfrm>
            <a:off x="8851392" y="2286000"/>
            <a:ext cx="2651760" cy="548640"/>
          </a:xfrm>
          <a:prstGeom prst="rect">
            <a:avLst/>
          </a:prstGeom>
          <a:noFill/>
        </p:spPr>
        <p:txBody>
          <a:bodyPr wrap="square" anchor="t" lIns="0" rIns="0" tIns="0" bIns="0">
            <a:spAutoFit/>
          </a:bodyPr>
          <a:lstStyle/>
          <a:p>
            <a:pPr algn="l">
              <a:lnSpc>
                <a:spcPct val="112000"/>
              </a:lnSpc>
              <a:spcBef>
                <a:spcPts val="0"/>
              </a:spcBef>
              <a:spcAft>
                <a:spcPts val="600"/>
              </a:spcAft>
            </a:pPr>
            <a:r>
              <a:rPr sz="3300" b="1" i="0">
                <a:solidFill>
                  <a:srgbClr val="E64415"/>
                </a:solidFill>
                <a:latin typeface="Lato"/>
              </a:rPr>
              <a:t>0</a:t>
            </a:r>
          </a:p>
        </p:txBody>
      </p:sp>
      <p:sp>
        <p:nvSpPr>
          <p:cNvPr id="13" name="TextBox 12"/>
          <p:cNvSpPr txBox="1"/>
          <p:nvPr/>
        </p:nvSpPr>
        <p:spPr>
          <a:xfrm>
            <a:off x="8851392" y="2852928"/>
            <a:ext cx="2651760" cy="457200"/>
          </a:xfrm>
          <a:prstGeom prst="rect">
            <a:avLst/>
          </a:prstGeom>
          <a:noFill/>
        </p:spPr>
        <p:txBody>
          <a:bodyPr wrap="square" anchor="t" lIns="0" rIns="0" tIns="0" bIns="0">
            <a:spAutoFit/>
          </a:bodyPr>
          <a:lstStyle/>
          <a:p>
            <a:pPr algn="l">
              <a:lnSpc>
                <a:spcPct val="110000"/>
              </a:lnSpc>
              <a:spcBef>
                <a:spcPts val="0"/>
              </a:spcBef>
              <a:spcAft>
                <a:spcPts val="600"/>
              </a:spcAft>
            </a:pPr>
            <a:r>
              <a:rPr sz="1250" b="0" i="0">
                <a:solidFill>
                  <a:srgbClr val="555555"/>
                </a:solidFill>
                <a:latin typeface="Lato"/>
              </a:rPr>
              <a:t>provenance violations</a:t>
            </a:r>
          </a:p>
        </p:txBody>
      </p:sp>
      <p:sp>
        <p:nvSpPr>
          <p:cNvPr id="14" name="Rectangle 13"/>
          <p:cNvSpPr/>
          <p:nvPr/>
        </p:nvSpPr>
        <p:spPr>
          <a:xfrm>
            <a:off x="585216" y="3703320"/>
            <a:ext cx="11018520" cy="12700"/>
          </a:xfrm>
          <a:prstGeom prst="rect">
            <a:avLst/>
          </a:prstGeom>
          <a:solidFill>
            <a:srgbClr val="E3E3E3"/>
          </a:solidFill>
          <a:ln>
            <a:noFill/>
          </a:ln>
          <a:effectLst/>
        </p:spPr>
        <p:txBody>
          <a:bodyPr rtlCol="0" anchor="ctr"/>
          <a:lstStyle/>
          <a:p>
            <a:pPr algn="ctr"/>
          </a:p>
        </p:txBody>
      </p:sp>
      <p:sp>
        <p:nvSpPr>
          <p:cNvPr id="15" name="TextBox 14"/>
          <p:cNvSpPr txBox="1"/>
          <p:nvPr/>
        </p:nvSpPr>
        <p:spPr>
          <a:xfrm>
            <a:off x="566928" y="3977639"/>
            <a:ext cx="6949440" cy="4023360"/>
          </a:xfrm>
          <a:prstGeom prst="rect">
            <a:avLst/>
          </a:prstGeom>
          <a:noFill/>
        </p:spPr>
        <p:txBody>
          <a:bodyPr wrap="square" anchor="t" lIns="0" rIns="0" tIns="0" bIns="0">
            <a:spAutoFit/>
          </a:bodyPr>
          <a:lstStyle/>
          <a:p>
            <a:pPr algn="l">
              <a:lnSpc>
                <a:spcPct val="116000"/>
              </a:lnSpc>
              <a:spcBef>
                <a:spcPts val="0"/>
              </a:spcBef>
              <a:spcAft>
                <a:spcPts val="1000"/>
              </a:spcAft>
            </a:pPr>
            <a:r>
              <a:rPr sz="1450" b="1" i="0">
                <a:solidFill>
                  <a:srgbClr val="E64415"/>
                </a:solidFill>
                <a:latin typeface="Lato"/>
              </a:rPr>
              <a:t>•  </a:t>
            </a:r>
            <a:r>
              <a:rPr sz="1450" b="0" i="0">
                <a:solidFill>
                  <a:srgbClr val="1A1A1A"/>
                </a:solidFill>
                <a:latin typeface="Lato"/>
              </a:rPr>
              <a:t>Every entity carries a MENTIONED_IN edge to the paper it came from. Provenance is verified by query, not asserted: the violations query returns zero rows.</a:t>
            </a:r>
          </a:p>
          <a:p>
            <a:pPr algn="l">
              <a:lnSpc>
                <a:spcPct val="116000"/>
              </a:lnSpc>
              <a:spcBef>
                <a:spcPts val="0"/>
              </a:spcBef>
              <a:spcAft>
                <a:spcPts val="1000"/>
              </a:spcAft>
            </a:pPr>
            <a:r>
              <a:rPr sz="1450" b="1" i="0">
                <a:solidFill>
                  <a:srgbClr val="E64415"/>
                </a:solidFill>
                <a:latin typeface="Lato"/>
              </a:rPr>
              <a:t>•  </a:t>
            </a:r>
            <a:r>
              <a:rPr sz="1450" b="0" i="0">
                <a:solidFill>
                  <a:srgbClr val="1A1A1A"/>
                </a:solidFill>
                <a:latin typeface="Lato"/>
              </a:rPr>
              <a:t>Cross-paper aggregation works. Solvothermal appears in 61 papers across 30 MOFs, hydrothermal in 43 across 12.</a:t>
            </a:r>
          </a:p>
        </p:txBody>
      </p:sp>
      <p:sp>
        <p:nvSpPr>
          <p:cNvPr id="16" name="Rectangle 15"/>
          <p:cNvSpPr/>
          <p:nvPr/>
        </p:nvSpPr>
        <p:spPr>
          <a:xfrm>
            <a:off x="7772400" y="3931920"/>
            <a:ext cx="3840480" cy="1920240"/>
          </a:xfrm>
          <a:prstGeom prst="rect">
            <a:avLst/>
          </a:prstGeom>
          <a:solidFill>
            <a:srgbClr val="FAF6F4"/>
          </a:solidFill>
          <a:ln>
            <a:noFill/>
          </a:ln>
          <a:effectLst/>
        </p:spPr>
        <p:txBody>
          <a:bodyPr rtlCol="0" anchor="ctr"/>
          <a:lstStyle/>
          <a:p>
            <a:pPr algn="ctr"/>
          </a:p>
        </p:txBody>
      </p:sp>
      <p:sp>
        <p:nvSpPr>
          <p:cNvPr id="17" name="TextBox 16"/>
          <p:cNvSpPr txBox="1"/>
          <p:nvPr/>
        </p:nvSpPr>
        <p:spPr>
          <a:xfrm>
            <a:off x="8074152" y="4187952"/>
            <a:ext cx="3246120" cy="1463040"/>
          </a:xfrm>
          <a:prstGeom prst="rect">
            <a:avLst/>
          </a:prstGeom>
          <a:noFill/>
        </p:spPr>
        <p:txBody>
          <a:bodyPr wrap="square" anchor="t" lIns="0" rIns="0" tIns="0" bIns="0">
            <a:spAutoFit/>
          </a:bodyPr>
          <a:lstStyle/>
          <a:p>
            <a:pPr algn="l">
              <a:lnSpc>
                <a:spcPct val="120000"/>
              </a:lnSpc>
              <a:spcBef>
                <a:spcPts val="0"/>
              </a:spcBef>
              <a:spcAft>
                <a:spcPts val="800"/>
              </a:spcAft>
            </a:pPr>
            <a:r>
              <a:rPr sz="1300" b="1" i="0">
                <a:solidFill>
                  <a:srgbClr val="E64415"/>
                </a:solidFill>
                <a:latin typeface="Lato"/>
              </a:rPr>
              <a:t>An open question</a:t>
            </a:r>
          </a:p>
          <a:p>
            <a:pPr algn="l">
              <a:lnSpc>
                <a:spcPct val="120000"/>
              </a:lnSpc>
              <a:spcBef>
                <a:spcPts val="0"/>
              </a:spcBef>
              <a:spcAft>
                <a:spcPts val="800"/>
              </a:spcAft>
            </a:pPr>
            <a:r>
              <a:rPr sz="1300" b="0" i="0">
                <a:solidFill>
                  <a:srgbClr val="1A1A1A"/>
                </a:solidFill>
                <a:latin typeface="Lato"/>
              </a:rPr>
              <a:t>DigiMOF reported more hydrothermal than solvothermal records and called that surprising. This corpus shows the opposite ordering. Recorded, not resolved.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rh_logo.jpg"/>
          <p:cNvPicPr>
            <a:picLocks noChangeAspect="1"/>
          </p:cNvPicPr>
          <p:nvPr/>
        </p:nvPicPr>
        <p:blipFill>
          <a:blip r:embed="rId2"/>
          <a:stretch>
            <a:fillRect/>
          </a:stretch>
        </p:blipFill>
        <p:spPr>
          <a:xfrm>
            <a:off x="548640" y="420624"/>
            <a:ext cx="868680" cy="671720"/>
          </a:xfrm>
          <a:prstGeom prst="rect">
            <a:avLst/>
          </a:prstGeom>
        </p:spPr>
      </p:pic>
      <p:sp>
        <p:nvSpPr>
          <p:cNvPr id="3" name="TextBox 2"/>
          <p:cNvSpPr txBox="1"/>
          <p:nvPr/>
        </p:nvSpPr>
        <p:spPr>
          <a:xfrm>
            <a:off x="566928" y="1298448"/>
            <a:ext cx="11064240" cy="640080"/>
          </a:xfrm>
          <a:prstGeom prst="rect">
            <a:avLst/>
          </a:prstGeom>
          <a:noFill/>
        </p:spPr>
        <p:txBody>
          <a:bodyPr wrap="square" anchor="t" lIns="0" rIns="0" tIns="0" bIns="0">
            <a:spAutoFit/>
          </a:bodyPr>
          <a:lstStyle/>
          <a:p>
            <a:pPr algn="l">
              <a:lnSpc>
                <a:spcPct val="112000"/>
              </a:lnSpc>
              <a:spcBef>
                <a:spcPts val="0"/>
              </a:spcBef>
              <a:spcAft>
                <a:spcPts val="600"/>
              </a:spcAft>
            </a:pPr>
            <a:r>
              <a:rPr sz="2700" b="1" i="0">
                <a:solidFill>
                  <a:srgbClr val="E64415"/>
                </a:solidFill>
                <a:latin typeface="Lato"/>
              </a:rPr>
              <a:t>11   </a:t>
            </a:r>
            <a:r>
              <a:rPr sz="2700" b="1" i="0">
                <a:solidFill>
                  <a:srgbClr val="1A1A1A"/>
                </a:solidFill>
                <a:latin typeface="Lato"/>
              </a:rPr>
              <a:t>What this cannot show</a:t>
            </a:r>
          </a:p>
        </p:txBody>
      </p:sp>
      <p:sp>
        <p:nvSpPr>
          <p:cNvPr id="4" name="Rectangle 3"/>
          <p:cNvSpPr/>
          <p:nvPr/>
        </p:nvSpPr>
        <p:spPr>
          <a:xfrm>
            <a:off x="585216" y="1993392"/>
            <a:ext cx="11018520" cy="15240"/>
          </a:xfrm>
          <a:prstGeom prst="rect">
            <a:avLst/>
          </a:prstGeom>
          <a:solidFill>
            <a:srgbClr val="E3E3E3"/>
          </a:solidFill>
          <a:ln>
            <a:noFill/>
          </a:ln>
          <a:effectLst/>
        </p:spPr>
        <p:txBody>
          <a:bodyPr rtlCol="0" anchor="ctr"/>
          <a:lstStyle/>
          <a:p>
            <a:pPr algn="ctr"/>
          </a:p>
        </p:txBody>
      </p:sp>
      <p:sp>
        <p:nvSpPr>
          <p:cNvPr id="5" name="TextBox 4"/>
          <p:cNvSpPr txBox="1"/>
          <p:nvPr/>
        </p:nvSpPr>
        <p:spPr>
          <a:xfrm>
            <a:off x="11430000" y="6437376"/>
            <a:ext cx="640080" cy="274320"/>
          </a:xfrm>
          <a:prstGeom prst="rect">
            <a:avLst/>
          </a:prstGeom>
          <a:noFill/>
        </p:spPr>
        <p:txBody>
          <a:bodyPr wrap="square" anchor="t" lIns="0" rIns="0" tIns="0" bIns="0">
            <a:spAutoFit/>
          </a:bodyPr>
          <a:lstStyle/>
          <a:p>
            <a:pPr algn="r">
              <a:lnSpc>
                <a:spcPct val="112000"/>
              </a:lnSpc>
              <a:spcBef>
                <a:spcPts val="0"/>
              </a:spcBef>
              <a:spcAft>
                <a:spcPts val="600"/>
              </a:spcAft>
            </a:pPr>
            <a:r>
              <a:rPr sz="1000" b="0" i="0">
                <a:solidFill>
                  <a:srgbClr val="BBBBBB"/>
                </a:solidFill>
                <a:latin typeface="Lato"/>
              </a:rPr>
              <a:t>12</a:t>
            </a:r>
          </a:p>
        </p:txBody>
      </p:sp>
      <p:sp>
        <p:nvSpPr>
          <p:cNvPr id="6" name="TextBox 5"/>
          <p:cNvSpPr txBox="1"/>
          <p:nvPr/>
        </p:nvSpPr>
        <p:spPr>
          <a:xfrm>
            <a:off x="566928" y="2286000"/>
            <a:ext cx="10972800" cy="4023360"/>
          </a:xfrm>
          <a:prstGeom prst="rect">
            <a:avLst/>
          </a:prstGeom>
          <a:noFill/>
        </p:spPr>
        <p:txBody>
          <a:bodyPr wrap="square" anchor="t" lIns="0" rIns="0" tIns="0" bIns="0">
            <a:spAutoFit/>
          </a:bodyPr>
          <a:lstStyle/>
          <a:p>
            <a:pPr algn="l">
              <a:lnSpc>
                <a:spcPct val="116000"/>
              </a:lnSpc>
              <a:spcBef>
                <a:spcPts val="0"/>
              </a:spcBef>
              <a:spcAft>
                <a:spcPts val="1100"/>
              </a:spcAft>
            </a:pPr>
            <a:r>
              <a:rPr sz="1450" b="1" i="0">
                <a:solidFill>
                  <a:srgbClr val="E64415"/>
                </a:solidFill>
                <a:latin typeface="Lato"/>
              </a:rPr>
              <a:t>•  </a:t>
            </a:r>
            <a:r>
              <a:rPr sz="1450" b="0" i="0">
                <a:solidFill>
                  <a:srgbClr val="1A1A1A"/>
                </a:solidFill>
                <a:latin typeface="Lato"/>
              </a:rPr>
              <a:t>RQ3 is not answered. DigiMOF and SynMOF are keyed by CSD refcode, this corpus by DOI and by the MOF name a paper uses, and joining them needs a licensed mapping. The overlap is undetermined, which is not the same as zero.</a:t>
            </a:r>
          </a:p>
          <a:p>
            <a:pPr algn="l">
              <a:lnSpc>
                <a:spcPct val="116000"/>
              </a:lnSpc>
              <a:spcBef>
                <a:spcPts val="0"/>
              </a:spcBef>
              <a:spcAft>
                <a:spcPts val="1100"/>
              </a:spcAft>
            </a:pPr>
            <a:r>
              <a:rPr sz="1350" b="0" i="0">
                <a:solidFill>
                  <a:srgbClr val="E64415"/>
                </a:solidFill>
                <a:latin typeface="Lato"/>
              </a:rPr>
              <a:t>      –  </a:t>
            </a:r>
            <a:r>
              <a:rPr sz="1350" b="0" i="0">
                <a:solidFill>
                  <a:srgbClr val="555555"/>
                </a:solidFill>
                <a:latin typeface="Lato"/>
              </a:rPr>
              <a:t>What could be measured: the two databases agree on the metal 98.9 percent across the 509 MOFs they share.</a:t>
            </a:r>
          </a:p>
          <a:p>
            <a:pPr algn="l">
              <a:lnSpc>
                <a:spcPct val="116000"/>
              </a:lnSpc>
              <a:spcBef>
                <a:spcPts val="0"/>
              </a:spcBef>
              <a:spcAft>
                <a:spcPts val="1100"/>
              </a:spcAft>
            </a:pPr>
            <a:r>
              <a:rPr sz="1450" b="1" i="0">
                <a:solidFill>
                  <a:srgbClr val="E64415"/>
                </a:solidFill>
                <a:latin typeface="Lato"/>
              </a:rPr>
              <a:t>•  </a:t>
            </a:r>
            <a:r>
              <a:rPr sz="1450" b="0" i="0">
                <a:solidFill>
                  <a:srgbClr val="1A1A1A"/>
                </a:solidFill>
                <a:latin typeface="Lato"/>
              </a:rPr>
              <a:t>0.364 micro-F1 is below the 0.80 target in the exposé, and is a lower bound: strict surface-form matching scores correct extractions as failures.</a:t>
            </a:r>
          </a:p>
          <a:p>
            <a:pPr algn="l">
              <a:lnSpc>
                <a:spcPct val="116000"/>
              </a:lnSpc>
              <a:spcBef>
                <a:spcPts val="0"/>
              </a:spcBef>
              <a:spcAft>
                <a:spcPts val="1100"/>
              </a:spcAft>
            </a:pPr>
            <a:r>
              <a:rPr sz="1450" b="1" i="0">
                <a:solidFill>
                  <a:srgbClr val="E64415"/>
                </a:solidFill>
                <a:latin typeface="Lato"/>
              </a:rPr>
              <a:t>•  </a:t>
            </a:r>
            <a:r>
              <a:rPr sz="1450" b="0" i="0">
                <a:solidFill>
                  <a:srgbClr val="1A1A1A"/>
                </a:solidFill>
                <a:latin typeface="Lato"/>
              </a:rPr>
              <a:t>The gold standard is 100 passages, not the 150 to 200 planned, and has a single annotator, so no inter-annotator agreement can be computed.</a:t>
            </a:r>
          </a:p>
          <a:p>
            <a:pPr algn="l">
              <a:lnSpc>
                <a:spcPct val="116000"/>
              </a:lnSpc>
              <a:spcBef>
                <a:spcPts val="0"/>
              </a:spcBef>
              <a:spcAft>
                <a:spcPts val="1100"/>
              </a:spcAft>
            </a:pPr>
            <a:r>
              <a:rPr sz="1450" b="1" i="0">
                <a:solidFill>
                  <a:srgbClr val="E64415"/>
                </a:solidFill>
                <a:latin typeface="Lato"/>
              </a:rPr>
              <a:t>•  </a:t>
            </a:r>
            <a:r>
              <a:rPr sz="1450" b="0" i="0">
                <a:solidFill>
                  <a:srgbClr val="1A1A1A"/>
                </a:solidFill>
                <a:latin typeface="Lato"/>
              </a:rPr>
              <a:t>Two open-weight configurations hit a free-tier daily cap and were deleted rather than scored. A partial run makes a rate-limited model look like a weak one.</a:t>
            </a:r>
          </a:p>
          <a:p>
            <a:pPr algn="l">
              <a:lnSpc>
                <a:spcPct val="116000"/>
              </a:lnSpc>
              <a:spcBef>
                <a:spcPts val="0"/>
              </a:spcBef>
              <a:spcAft>
                <a:spcPts val="1100"/>
              </a:spcAft>
            </a:pPr>
            <a:r>
              <a:rPr sz="1450" b="1" i="0">
                <a:solidFill>
                  <a:srgbClr val="E64415"/>
                </a:solidFill>
                <a:latin typeface="Lato"/>
              </a:rPr>
              <a:t>•  </a:t>
            </a:r>
            <a:r>
              <a:rPr sz="1450" b="0" i="0">
                <a:solidFill>
                  <a:srgbClr val="1A1A1A"/>
                </a:solidFill>
                <a:latin typeface="Lato"/>
              </a:rPr>
              <a:t>Every configuration ran once, so no variance is reported.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rh_logo.jpg"/>
          <p:cNvPicPr>
            <a:picLocks noChangeAspect="1"/>
          </p:cNvPicPr>
          <p:nvPr/>
        </p:nvPicPr>
        <p:blipFill>
          <a:blip r:embed="rId2"/>
          <a:stretch>
            <a:fillRect/>
          </a:stretch>
        </p:blipFill>
        <p:spPr>
          <a:xfrm>
            <a:off x="548640" y="420624"/>
            <a:ext cx="868680" cy="671720"/>
          </a:xfrm>
          <a:prstGeom prst="rect">
            <a:avLst/>
          </a:prstGeom>
        </p:spPr>
      </p:pic>
      <p:sp>
        <p:nvSpPr>
          <p:cNvPr id="3" name="TextBox 2"/>
          <p:cNvSpPr txBox="1"/>
          <p:nvPr/>
        </p:nvSpPr>
        <p:spPr>
          <a:xfrm>
            <a:off x="566928" y="1298448"/>
            <a:ext cx="11064240" cy="640080"/>
          </a:xfrm>
          <a:prstGeom prst="rect">
            <a:avLst/>
          </a:prstGeom>
          <a:noFill/>
        </p:spPr>
        <p:txBody>
          <a:bodyPr wrap="square" anchor="t" lIns="0" rIns="0" tIns="0" bIns="0">
            <a:spAutoFit/>
          </a:bodyPr>
          <a:lstStyle/>
          <a:p>
            <a:pPr algn="l">
              <a:lnSpc>
                <a:spcPct val="112000"/>
              </a:lnSpc>
              <a:spcBef>
                <a:spcPts val="0"/>
              </a:spcBef>
              <a:spcAft>
                <a:spcPts val="600"/>
              </a:spcAft>
            </a:pPr>
            <a:r>
              <a:rPr sz="2700" b="1" i="0">
                <a:solidFill>
                  <a:srgbClr val="E64415"/>
                </a:solidFill>
                <a:latin typeface="Lato"/>
              </a:rPr>
              <a:t>12   </a:t>
            </a:r>
            <a:r>
              <a:rPr sz="2700" b="1" i="0">
                <a:solidFill>
                  <a:srgbClr val="1A1A1A"/>
                </a:solidFill>
                <a:latin typeface="Lato"/>
              </a:rPr>
              <a:t>Conclusion</a:t>
            </a:r>
          </a:p>
        </p:txBody>
      </p:sp>
      <p:sp>
        <p:nvSpPr>
          <p:cNvPr id="4" name="Rectangle 3"/>
          <p:cNvSpPr/>
          <p:nvPr/>
        </p:nvSpPr>
        <p:spPr>
          <a:xfrm>
            <a:off x="585216" y="1993392"/>
            <a:ext cx="11018520" cy="15240"/>
          </a:xfrm>
          <a:prstGeom prst="rect">
            <a:avLst/>
          </a:prstGeom>
          <a:solidFill>
            <a:srgbClr val="E3E3E3"/>
          </a:solidFill>
          <a:ln>
            <a:noFill/>
          </a:ln>
          <a:effectLst/>
        </p:spPr>
        <p:txBody>
          <a:bodyPr rtlCol="0" anchor="ctr"/>
          <a:lstStyle/>
          <a:p>
            <a:pPr algn="ctr"/>
          </a:p>
        </p:txBody>
      </p:sp>
      <p:sp>
        <p:nvSpPr>
          <p:cNvPr id="5" name="TextBox 4"/>
          <p:cNvSpPr txBox="1"/>
          <p:nvPr/>
        </p:nvSpPr>
        <p:spPr>
          <a:xfrm>
            <a:off x="11430000" y="6437376"/>
            <a:ext cx="640080" cy="274320"/>
          </a:xfrm>
          <a:prstGeom prst="rect">
            <a:avLst/>
          </a:prstGeom>
          <a:noFill/>
        </p:spPr>
        <p:txBody>
          <a:bodyPr wrap="square" anchor="t" lIns="0" rIns="0" tIns="0" bIns="0">
            <a:spAutoFit/>
          </a:bodyPr>
          <a:lstStyle/>
          <a:p>
            <a:pPr algn="r">
              <a:lnSpc>
                <a:spcPct val="112000"/>
              </a:lnSpc>
              <a:spcBef>
                <a:spcPts val="0"/>
              </a:spcBef>
              <a:spcAft>
                <a:spcPts val="600"/>
              </a:spcAft>
            </a:pPr>
            <a:r>
              <a:rPr sz="1000" b="0" i="0">
                <a:solidFill>
                  <a:srgbClr val="BBBBBB"/>
                </a:solidFill>
                <a:latin typeface="Lato"/>
              </a:rPr>
              <a:t>13</a:t>
            </a:r>
          </a:p>
        </p:txBody>
      </p:sp>
      <p:sp>
        <p:nvSpPr>
          <p:cNvPr id="6" name="TextBox 5"/>
          <p:cNvSpPr txBox="1"/>
          <p:nvPr/>
        </p:nvSpPr>
        <p:spPr>
          <a:xfrm>
            <a:off x="566928" y="2286000"/>
            <a:ext cx="6858000" cy="4023360"/>
          </a:xfrm>
          <a:prstGeom prst="rect">
            <a:avLst/>
          </a:prstGeom>
          <a:noFill/>
        </p:spPr>
        <p:txBody>
          <a:bodyPr wrap="square" anchor="t" lIns="0" rIns="0" tIns="0" bIns="0">
            <a:spAutoFit/>
          </a:bodyPr>
          <a:lstStyle/>
          <a:p>
            <a:pPr algn="l">
              <a:lnSpc>
                <a:spcPct val="116000"/>
              </a:lnSpc>
              <a:spcBef>
                <a:spcPts val="0"/>
              </a:spcBef>
              <a:spcAft>
                <a:spcPts val="1000"/>
              </a:spcAft>
            </a:pPr>
            <a:r>
              <a:rPr sz="1450" b="1" i="0">
                <a:solidFill>
                  <a:srgbClr val="E64415"/>
                </a:solidFill>
                <a:latin typeface="Lato"/>
              </a:rPr>
              <a:t>•  </a:t>
            </a:r>
            <a:r>
              <a:rPr sz="1450" b="0" i="0">
                <a:solidFill>
                  <a:srgbClr val="1A1A1A"/>
                </a:solidFill>
                <a:latin typeface="Lato"/>
              </a:rPr>
              <a:t>Language models beat the rule baseline on every configuration tested, and the testable part of a pre-registered prediction held.</a:t>
            </a:r>
          </a:p>
          <a:p>
            <a:pPr algn="l">
              <a:lnSpc>
                <a:spcPct val="116000"/>
              </a:lnSpc>
              <a:spcBef>
                <a:spcPts val="0"/>
              </a:spcBef>
              <a:spcAft>
                <a:spcPts val="1000"/>
              </a:spcAft>
            </a:pPr>
            <a:r>
              <a:rPr sz="1450" b="1" i="0">
                <a:solidFill>
                  <a:srgbClr val="E64415"/>
                </a:solidFill>
                <a:latin typeface="Lato"/>
              </a:rPr>
              <a:t>•  </a:t>
            </a:r>
            <a:r>
              <a:rPr sz="1450" b="0" i="0">
                <a:solidFill>
                  <a:srgbClr val="1A1A1A"/>
                </a:solidFill>
                <a:latin typeface="Lato"/>
              </a:rPr>
              <a:t>The cheaper model won because the larger one extracts less. That is measured; why it extracts less is not.</a:t>
            </a:r>
          </a:p>
          <a:p>
            <a:pPr algn="l">
              <a:lnSpc>
                <a:spcPct val="116000"/>
              </a:lnSpc>
              <a:spcBef>
                <a:spcPts val="0"/>
              </a:spcBef>
              <a:spcAft>
                <a:spcPts val="1000"/>
              </a:spcAft>
            </a:pPr>
            <a:r>
              <a:rPr sz="1450" b="1" i="0">
                <a:solidFill>
                  <a:srgbClr val="E64415"/>
                </a:solidFill>
                <a:latin typeface="Lato"/>
              </a:rPr>
              <a:t>•  </a:t>
            </a:r>
            <a:r>
              <a:rPr sz="1450" b="0" i="0">
                <a:solidFill>
                  <a:srgbClr val="1A1A1A"/>
                </a:solidFill>
                <a:latin typeface="Lato"/>
              </a:rPr>
              <a:t>On the like-for-like zero-shot comparison, an open-weight model reached about two thirds of the commercial F1 at zero marginal cost.</a:t>
            </a:r>
          </a:p>
          <a:p>
            <a:pPr algn="l">
              <a:lnSpc>
                <a:spcPct val="116000"/>
              </a:lnSpc>
              <a:spcBef>
                <a:spcPts val="0"/>
              </a:spcBef>
              <a:spcAft>
                <a:spcPts val="1000"/>
              </a:spcAft>
            </a:pPr>
            <a:r>
              <a:rPr sz="1450" b="1" i="0">
                <a:solidFill>
                  <a:srgbClr val="E64415"/>
                </a:solidFill>
                <a:latin typeface="Lato"/>
              </a:rPr>
              <a:t>•  </a:t>
            </a:r>
            <a:r>
              <a:rPr sz="1450" b="0" i="0">
                <a:solidFill>
                  <a:srgbClr val="1A1A1A"/>
                </a:solidFill>
                <a:latin typeface="Lato"/>
              </a:rPr>
              <a:t>A provenance-complete knowledge graph, verified by query.</a:t>
            </a:r>
          </a:p>
        </p:txBody>
      </p:sp>
      <p:sp>
        <p:nvSpPr>
          <p:cNvPr id="7" name="Rectangle 6"/>
          <p:cNvSpPr/>
          <p:nvPr/>
        </p:nvSpPr>
        <p:spPr>
          <a:xfrm>
            <a:off x="7635240" y="2286000"/>
            <a:ext cx="3977639" cy="3611880"/>
          </a:xfrm>
          <a:prstGeom prst="rect">
            <a:avLst/>
          </a:prstGeom>
          <a:noFill/>
          <a:ln w="15240">
            <a:solidFill>
              <a:srgbClr val="E3E3E3"/>
            </a:solidFill>
          </a:ln>
          <a:effectLst/>
        </p:spPr>
        <p:txBody>
          <a:bodyPr rtlCol="0" anchor="ctr"/>
          <a:lstStyle/>
          <a:p>
            <a:pPr algn="ctr"/>
          </a:p>
        </p:txBody>
      </p:sp>
      <p:sp>
        <p:nvSpPr>
          <p:cNvPr id="8" name="TextBox 7"/>
          <p:cNvSpPr txBox="1"/>
          <p:nvPr/>
        </p:nvSpPr>
        <p:spPr>
          <a:xfrm>
            <a:off x="7936992" y="2560320"/>
            <a:ext cx="3383280" cy="3154680"/>
          </a:xfrm>
          <a:prstGeom prst="rect">
            <a:avLst/>
          </a:prstGeom>
          <a:noFill/>
        </p:spPr>
        <p:txBody>
          <a:bodyPr wrap="square" anchor="t" lIns="0" rIns="0" tIns="0" bIns="0">
            <a:spAutoFit/>
          </a:bodyPr>
          <a:lstStyle/>
          <a:p>
            <a:pPr algn="l">
              <a:lnSpc>
                <a:spcPct val="120000"/>
              </a:lnSpc>
              <a:spcBef>
                <a:spcPts val="0"/>
              </a:spcBef>
              <a:spcAft>
                <a:spcPts val="900"/>
              </a:spcAft>
            </a:pPr>
            <a:r>
              <a:rPr sz="1300" b="1" i="0">
                <a:solidFill>
                  <a:srgbClr val="E64415"/>
                </a:solidFill>
                <a:latin typeface="Lato"/>
              </a:rPr>
              <a:t>Future work</a:t>
            </a:r>
          </a:p>
          <a:p>
            <a:pPr algn="l">
              <a:lnSpc>
                <a:spcPct val="120000"/>
              </a:lnSpc>
              <a:spcBef>
                <a:spcPts val="0"/>
              </a:spcBef>
              <a:spcAft>
                <a:spcPts val="900"/>
              </a:spcAft>
            </a:pPr>
            <a:r>
              <a:rPr sz="1350" b="0" i="0">
                <a:solidFill>
                  <a:srgbClr val="1A1A1A"/>
                </a:solidFill>
                <a:latin typeface="Lato"/>
              </a:rPr>
              <a:t>Obtain a name-to-refcode mapping and close RQ3.</a:t>
            </a:r>
          </a:p>
          <a:p>
            <a:pPr algn="l">
              <a:lnSpc>
                <a:spcPct val="120000"/>
              </a:lnSpc>
              <a:spcBef>
                <a:spcPts val="0"/>
              </a:spcBef>
              <a:spcAft>
                <a:spcPts val="900"/>
              </a:spcAft>
            </a:pPr>
            <a:r>
              <a:rPr sz="1350" b="0" i="0">
                <a:solidFill>
                  <a:srgbClr val="1A1A1A"/>
                </a:solidFill>
                <a:latin typeface="Lato"/>
              </a:rPr>
              <a:t>Rerun without the “omit when unsure” instruction, to separate caution from obedience.</a:t>
            </a:r>
          </a:p>
          <a:p>
            <a:pPr algn="l">
              <a:lnSpc>
                <a:spcPct val="120000"/>
              </a:lnSpc>
              <a:spcBef>
                <a:spcPts val="0"/>
              </a:spcBef>
              <a:spcAft>
                <a:spcPts val="900"/>
              </a:spcAft>
            </a:pPr>
            <a:r>
              <a:rPr sz="1350" b="0" i="0">
                <a:solidFill>
                  <a:srgbClr val="1A1A1A"/>
                </a:solidFill>
                <a:latin typeface="Lato"/>
              </a:rPr>
              <a:t>Repair the condition evaluation and add identifier resolution.</a:t>
            </a:r>
          </a:p>
          <a:p>
            <a:pPr algn="l">
              <a:lnSpc>
                <a:spcPct val="120000"/>
              </a:lnSpc>
              <a:spcBef>
                <a:spcPts val="0"/>
              </a:spcBef>
              <a:spcAft>
                <a:spcPts val="900"/>
              </a:spcAft>
            </a:pPr>
            <a:r>
              <a:rPr sz="1350" b="0" i="0">
                <a:solidFill>
                  <a:srgbClr val="1A1A1A"/>
                </a:solidFill>
                <a:latin typeface="Lato"/>
              </a:rPr>
              <a:t>Enlarge the gold standard and add a second annotator.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