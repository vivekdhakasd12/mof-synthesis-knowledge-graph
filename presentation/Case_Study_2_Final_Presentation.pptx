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0:25</a:t>
            </a:r>
          </a:p>
          <a:p>
            <a:r>
              <a:t>Remember: How well can AI read a chemistry paper, and what does it cost.</a:t>
            </a:r>
          </a:p>
          <a:p/>
          <a:p>
            <a:r>
              <a:t>Good morning. I'm Devendra Singh Dhakad, and this is my Case Study 2, supervised by Professor</a:t>
            </a:r>
          </a:p>
          <a:p>
            <a:r>
              <a:t>Jalali.</a:t>
            </a:r>
          </a:p>
          <a:p/>
          <a:p>
            <a:r>
              <a:t>The question I set out to answer is easy to say. How accurately can an AI read a chemistry paper</a:t>
            </a:r>
          </a:p>
          <a:p>
            <a:r>
              <a:t>and pull out how the material was made? And what does that accuracy cost?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1:05</a:t>
            </a:r>
          </a:p>
          <a:p>
            <a:r>
              <a:t>Remember: The recipes exist. They're just sentences in papers.</a:t>
            </a:r>
          </a:p>
          <a:p/>
          <a:p>
            <a:r>
              <a:t>So, MOFs. They're crystals built from metal nodes joined by organic linkers, and inside they're</a:t>
            </a:r>
          </a:p>
          <a:p>
            <a:r>
              <a:t>mostly empty space. That's what makes them useful, for capturing CO2, storing gas, catalysis,</a:t>
            </a:r>
          </a:p>
          <a:p>
            <a:r>
              <a:t>drug delivery. Over a hundred thousand of them are in the Cambridge database.</a:t>
            </a:r>
          </a:p>
          <a:p/>
          <a:p>
            <a:r>
              <a:t>Every one was made by following a recipe. A metal precursor, a linker, a solvent, a temperature,</a:t>
            </a:r>
          </a:p>
          <a:p>
            <a:r>
              <a:t>a time. But those recipes are just sentences, sitting inside thousands of papers. Nobody has</a:t>
            </a:r>
          </a:p>
          <a:p>
            <a:r>
              <a:t>them as data.</a:t>
            </a:r>
          </a:p>
          <a:p/>
          <a:p>
            <a:r>
              <a:t>[point to the box] The databases that do exist were built with rule-based text mining, and their</a:t>
            </a:r>
          </a:p>
          <a:p>
            <a:r>
              <a:t>own authors say the hard cases are the routes a paper only hints at. What nobody had done is</a:t>
            </a:r>
          </a:p>
          <a:p>
            <a:r>
              <a:t>measure how well an AI does this, field by field, against a human answer key, and report what</a:t>
            </a:r>
          </a:p>
          <a:p>
            <a:r>
              <a:t>it costs.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*(can cut)*</a:t>
            </a:r>
          </a:p>
          <a:p>
            <a:r>
              <a:t>Remember: Five questions, four answered, and the fifth has a reason.</a:t>
            </a:r>
          </a:p>
          <a:p/>
          <a:p>
            <a:r>
              <a:t>That gave me five questions.</a:t>
            </a:r>
          </a:p>
          <a:p/>
          <a:p>
            <a:r>
              <a:t>How do language models compare with a rule-based baseline, field by field. Which way of asking</a:t>
            </a:r>
          </a:p>
          <a:p>
            <a:r>
              <a:t>works best. Where do my extractions disagree with the DigiMOF and SynMOF databases. How does a</a:t>
            </a:r>
          </a:p>
          <a:p>
            <a:r>
              <a:t>free open-weight model compare with the paid ones. And can the knowledge graph answer questions</a:t>
            </a:r>
          </a:p>
          <a:p>
            <a:r>
              <a:t>across hundreds of papers.</a:t>
            </a:r>
          </a:p>
          <a:p/>
          <a:p>
            <a:r>
              <a:t>I answered four of them. The third I couldn't, and I'll come back to why, because I think the</a:t>
            </a:r>
          </a:p>
          <a:p>
            <a:r>
              <a:t>reason is worth hearing.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1:10</a:t>
            </a:r>
          </a:p>
          <a:p>
            <a:r>
              <a:t>Remember: Same interface for every extractor, so the comparison is fair.</a:t>
            </a:r>
          </a:p>
          <a:p/>
          <a:p>
            <a:r>
              <a:t>Here's the pipeline.</a:t>
            </a:r>
          </a:p>
          <a:p/>
          <a:p>
            <a:r>
              <a:t>[top left] I pulled 399 open-access papers from Europe PMC. Cut them into 22,086 paragraphs, and</a:t>
            </a:r>
          </a:p>
          <a:p>
            <a:r>
              <a:t>scored each one on how much it looks like a recipe. 794 passed.</a:t>
            </a:r>
          </a:p>
          <a:p/>
          <a:p>
            <a:r>
              <a:t>[Extraction] Then extraction. The rule-based baseline and the language models sit in the same</a:t>
            </a:r>
          </a:p>
          <a:p>
            <a:r>
              <a:t>box, because they all implement one interface and return the same shape. That's the thing that</a:t>
            </a:r>
          </a:p>
          <a:p>
            <a:r>
              <a:t>makes the comparison fair.</a:t>
            </a:r>
          </a:p>
          <a:p/>
          <a:p>
            <a:r>
              <a:t>[orange boxes] And every stage writes a file that the next stage reads. So I can rerun one stage</a:t>
            </a:r>
          </a:p>
          <a:p>
            <a:r>
              <a:t>without the others, and I can open any intermediate result and check it. Every model response is</a:t>
            </a:r>
          </a:p>
          <a:p>
            <a:r>
              <a:t>cached too, so I never paid twice for the same call.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1:00</a:t>
            </a:r>
          </a:p>
          <a:p>
            <a:r>
              <a:t>Remember: Made by hand, because a model-made answer key would be circular.</a:t>
            </a:r>
          </a:p>
          <a:p/>
          <a:p>
            <a:r>
              <a:t>This slide is the one that matters most. The gold standard. The answer key.</a:t>
            </a:r>
          </a:p>
          <a:p/>
          <a:p>
            <a:r>
              <a:t>I annotated 100 passages by hand, and that gave me 138 facts.</a:t>
            </a:r>
          </a:p>
          <a:p/>
          <a:p>
            <a:r>
              <a:t>90 of them the filter had flagged as synthesis, 10 it hadn't. Those 10 are controls. They tell</a:t>
            </a:r>
          </a:p>
          <a:p>
            <a:r>
              <a:t>me whether my filter is missing recipes, instead of me just assuming it isn't.</a:t>
            </a:r>
          </a:p>
          <a:p/>
          <a:p>
            <a:r>
              <a:t>[point to the box] And no model touched it. That was deliberate. This is the ruler I measure</a:t>
            </a:r>
          </a:p>
          <a:p>
            <a:r>
              <a:t>every model against. If an AI had written it, any mistake the models share would count as</a:t>
            </a:r>
          </a:p>
          <a:p>
            <a:r>
              <a:t>correct, and the whole evaluation would be circular.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1:00</a:t>
            </a:r>
          </a:p>
          <a:p>
            <a:r>
              <a:t>Remember: Provenance is added by the pipeline, so it can't be hallucinated.</a:t>
            </a:r>
          </a:p>
          <a:p/>
          <a:p>
            <a:r>
              <a:t>This is the ontology. Nine entity types, nine relations, the MOF in the middle.</a:t>
            </a:r>
          </a:p>
          <a:p/>
          <a:p>
            <a:r>
              <a:t>Two things to notice. [point] Solvent and condition hang off the synthesis method, not off the</a:t>
            </a:r>
          </a:p>
          <a:p>
            <a:r>
              <a:t>MOF. And MENTIONED_IN, the link back to the paper, is added by my pipeline and never by a model.</a:t>
            </a:r>
          </a:p>
          <a:p>
            <a:r>
              <a:t>So provenance can't be hallucinated.</a:t>
            </a:r>
          </a:p>
          <a:p/>
          <a:p>
            <a:r>
              <a:t>I should also be upfront about one thing. My annotation tool had a bug. It left the MOF name in</a:t>
            </a:r>
          </a:p>
          <a:p>
            <a:r>
              <a:t>the subject field for solvent and condition. I could have had a model clean that up, but that</a:t>
            </a:r>
          </a:p>
          <a:p>
            <a:r>
              <a:t>would contaminate my ruler. So instead I score those two relations on the object only, and I say</a:t>
            </a:r>
          </a:p>
          <a:p>
            <a:r>
              <a:t>so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0:50</a:t>
            </a:r>
          </a:p>
          <a:p>
            <a:r>
              <a:t>Remember: Everything beat the rules, and the best was also nearly the cheapest.</a:t>
            </a:r>
          </a:p>
          <a:p/>
          <a:p>
            <a:r>
              <a:t>Now the results. Ten configurations. The rule baseline, gpt-4o, gpt-4o-mini, and one free</a:t>
            </a:r>
          </a:p>
          <a:p>
            <a:r>
              <a:t>open-weight model, across different prompting strategies. The whole thing cost about three</a:t>
            </a:r>
          </a:p>
          <a:p>
            <a:r>
              <a:t>dollars, and I should say that's an estimate from token counts, not an invoice.</a:t>
            </a:r>
          </a:p>
          <a:p/>
          <a:p>
            <a:r>
              <a:t>[point to the chart] Cost along the bottom, accuracy up the side.</a:t>
            </a:r>
          </a:p>
          <a:p/>
          <a:p>
            <a:r>
              <a:t>Two things stand out. Every language model beats the baseline. And the best one sits at the top</a:t>
            </a:r>
          </a:p>
          <a:p>
            <a:r>
              <a:t>left, so it's also one of the cheapest.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1:10</a:t>
            </a:r>
          </a:p>
          <a:p>
            <a:r>
              <a:t>Remember: I wrote it down first, and the testable part held.</a:t>
            </a:r>
          </a:p>
          <a:p/>
          <a:p>
            <a:r>
              <a:t>Field by field now.</a:t>
            </a:r>
          </a:p>
          <a:p/>
          <a:p>
            <a:r>
              <a:t>Back in August, before I ran a single model, I wrote down a prediction and committed it.</a:t>
            </a:r>
          </a:p>
          <a:p>
            <a:r>
              <a:t>[point to the box] The models should beat the rules by the most on the precursor, the linker and</a:t>
            </a:r>
          </a:p>
          <a:p>
            <a:r>
              <a:t>the method, and by the least on conditions and solvents. My thinking was that working out which</a:t>
            </a:r>
          </a:p>
          <a:p>
            <a:r>
              <a:t>material is being made takes real reading, whereas a temperature is just a pattern.</a:t>
            </a:r>
          </a:p>
          <a:p/>
          <a:p>
            <a:r>
              <a:t>One of those three, the method, has only a single triple in my gold standard, so I can't test it</a:t>
            </a:r>
          </a:p>
          <a:p>
            <a:r>
              <a:t>either way. On the four I can test, the margins came out plus 0.42, 0.31, 0.25 and 0.17.</a:t>
            </a:r>
          </a:p>
          <a:p>
            <a:r>
              <a:t>Precursor and linker lead, solvent and condition trail. That's what I predicted, and it was</a:t>
            </a:r>
          </a:p>
          <a:p>
            <a:r>
              <a:t>timestamped before I ran anything.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1:20</a:t>
            </a:r>
          </a:p>
          <a:p>
            <a:r>
              <a:t>Remember: gpt-4o extracts less. That's measured. Why, I don't know yet.</a:t>
            </a:r>
          </a:p>
          <a:p/>
          <a:p>
            <a:r>
              <a:t>This is the result I care about most. The cheap model beat the expensive one. 0.364 for under</a:t>
            </a:r>
          </a:p>
          <a:p>
            <a:r>
              <a:t>three cents, against 0.245 for a dollar twenty-nine.</a:t>
            </a:r>
          </a:p>
          <a:p/>
          <a:p>
            <a:r>
              <a:t>My first explanation was that the bigger model writes more, and the extra turns into wrong</a:t>
            </a:r>
          </a:p>
          <a:p>
            <a:r>
              <a:t>answers. I could test that for free, because I'd saved every output. So I counted.</a:t>
            </a:r>
          </a:p>
          <a:p/>
          <a:p>
            <a:r>
              <a:t>I was wrong, and backwards. gpt-4o produces fewer facts than the mini, in all four strategies.</a:t>
            </a:r>
          </a:p>
          <a:p>
            <a:r>
              <a:t>It isn't a precision problem, it's recall. On the best strategy gpt-4o finds 39 of the 138, and</a:t>
            </a:r>
          </a:p>
          <a:p>
            <a:r>
              <a:t>the mini finds 61.</a:t>
            </a:r>
          </a:p>
          <a:p/>
          <a:p>
            <a:r>
              <a:t>So gpt-4o extracts less. But I have to be honest about one thing. Every one of my prompts tells</a:t>
            </a:r>
          </a:p>
          <a:p>
            <a:r>
              <a:t>the model to leave a fact out when it's unsure. So maybe gpt-4o is more cautious, or maybe it</a:t>
            </a:r>
          </a:p>
          <a:p>
            <a:r>
              <a:t>just follows my instruction better. My setup can't separate those two.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1:00</a:t>
            </a:r>
          </a:p>
          <a:p>
            <a:r>
              <a:t>Remember: Not a dictionary problem. A linking problem.</a:t>
            </a:r>
          </a:p>
          <a:p/>
          <a:p>
            <a:r>
              <a:t>So why is the rule baseline so bad?</a:t>
            </a:r>
          </a:p>
          <a:p/>
          <a:p>
            <a:r>
              <a:t>[point to the chart] It works out which MOF the passage is about only 121 times out of 794.</a:t>
            </a:r>
          </a:p>
          <a:p>
            <a:r>
              <a:t>Fifteen percent. And five of my eight relations need the MOF, so when that's missing, most of</a:t>
            </a:r>
          </a:p>
          <a:p>
            <a:r>
              <a:t>the recipe goes with it.</a:t>
            </a:r>
          </a:p>
          <a:p/>
          <a:p>
            <a:r>
              <a:t>The why is the interesting part. In 331 cases the MOF is named somewhere else in the paper. In</a:t>
            </a:r>
          </a:p>
          <a:p>
            <a:r>
              <a:t>251 it's called something like "compound 1", and defined in a table. Neither of those is a</a:t>
            </a:r>
          </a:p>
          <a:p>
            <a:r>
              <a:t>missing word in a dictionary. So if you maintain one of these systems, the fix is linking across</a:t>
            </a:r>
          </a:p>
          <a:p>
            <a:r>
              <a:t>the paper and reading tables, not a bigger dictionary.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0:50 *(can cut)*</a:t>
            </a:r>
          </a:p>
          <a:p>
            <a:r>
              <a:t>Remember: Every fact traces back to its paper, and I check that with a query.</a:t>
            </a:r>
          </a:p>
          <a:p/>
          <a:p>
            <a:r>
              <a:t>The knowledge graph. 485 nodes, 2,429 relationships, across 182 papers.</a:t>
            </a:r>
          </a:p>
          <a:p/>
          <a:p>
            <a:r>
              <a:t>Every entity links back to the paper it came from. And I don't just claim that, I check it.</a:t>
            </a:r>
          </a:p>
          <a:p>
            <a:r>
              <a:t>There's a query that looks for any entity without that link, and it comes back empty.</a:t>
            </a:r>
          </a:p>
          <a:p/>
          <a:p>
            <a:r>
              <a:t>It answers questions across papers too. Solvothermal shows up in 61 papers, covering 30 MOFs.</a:t>
            </a:r>
          </a:p>
          <a:p/>
          <a:p>
            <a:r>
              <a:t>[point to the box] One thing I can't explain. DigiMOF found more hydrothermal than solvothermal</a:t>
            </a:r>
          </a:p>
          <a:p>
            <a:r>
              <a:t>and called that surprising. I get the opposite. I'm recording it, not explaining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1:15</a:t>
            </a:r>
          </a:p>
          <a:p>
            <a:r>
              <a:t>Remember: Undetermined isn't the same as zero.</a:t>
            </a:r>
          </a:p>
          <a:p/>
          <a:p>
            <a:r>
              <a:t>Now what this doesn't show. I want to be direct about it.</a:t>
            </a:r>
          </a:p>
          <a:p/>
          <a:p>
            <a:r>
              <a:t>RQ3 isn't answered. The reference databases identify each material by a CSD refcode. I use DOIs</a:t>
            </a:r>
          </a:p>
          <a:p>
            <a:r>
              <a:t>and the names written in the papers. Joining them needs a licensed mapping I don't have. So the</a:t>
            </a:r>
          </a:p>
          <a:p>
            <a:r>
              <a:t>overlap is undetermined, and that isn't the same as zero. What I could measure is that those two</a:t>
            </a:r>
          </a:p>
          <a:p>
            <a:r>
              <a:t>databases agree with each other 98.9 percent of the time, on the 509 MOFs they share.</a:t>
            </a:r>
          </a:p>
          <a:p/>
          <a:p>
            <a:r>
              <a:t>My best score, 0.364, is below the 0.80 I aimed for. Some of that is strict text matching, where</a:t>
            </a:r>
          </a:p>
          <a:p>
            <a:r>
              <a:t>a right answer spelled differently counts as wrong.</a:t>
            </a:r>
          </a:p>
          <a:p/>
          <a:p>
            <a:r>
              <a:t>One annotator and 100 passages, so I can't report agreement between annotators.</a:t>
            </a:r>
          </a:p>
          <a:p/>
          <a:p>
            <a:r>
              <a:t>Two runs hit a free-tier daily limit, and I deleted them rather than score them, because a</a:t>
            </a:r>
          </a:p>
          <a:p>
            <a:r>
              <a:t>half-finished run makes a rate-limited model look like a bad one.</a:t>
            </a:r>
          </a:p>
          <a:p/>
          <a:p>
            <a:r>
              <a:t>And everything ran once, so I have no variance.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a:t>
            </a:r>
          </a:p>
          <a:p>
            <a:r>
              <a:t>Remember: Beat the rules, called it in advance, measured what the cheap one does better.</a:t>
            </a:r>
          </a:p>
          <a:p/>
          <a:p>
            <a:r>
              <a:t>To finish.</a:t>
            </a:r>
          </a:p>
          <a:p/>
          <a:p>
            <a:r>
              <a:t>Language models beat the rule baseline every time, and the testable part of my prediction held.</a:t>
            </a:r>
          </a:p>
          <a:p>
            <a:r>
              <a:t>The cheap model won because the bigger one extracts less. That part is measured. Why it does,</a:t>
            </a:r>
          </a:p>
          <a:p>
            <a:r>
              <a:t>I don't know yet. On the like-for-like comparison the free model got about two thirds of the</a:t>
            </a:r>
          </a:p>
          <a:p>
            <a:r>
              <a:t>commercial score. And the graph traces every fact back to its paper.</a:t>
            </a:r>
          </a:p>
          <a:p/>
          <a:p>
            <a:r>
              <a:t>Next steps: get the refcode mapping and close RQ3, rerun both models without the "omit when</a:t>
            </a:r>
          </a:p>
          <a:p>
            <a:r>
              <a:t>unsure" line, fix the condition scoring, and add a second annotator.</a:t>
            </a:r>
          </a:p>
          <a:p/>
          <a:p>
            <a:r>
              <a:t>Thank you.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5.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6.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318607" y="960120"/>
            <a:ext cx="1554480" cy="1202025"/>
          </a:xfrm>
          <a:prstGeom prst="rect">
            <a:avLst/>
          </a:prstGeom>
        </p:spPr>
      </p:pic>
      <p:sp>
        <p:nvSpPr>
          <p:cNvPr id="3" name="TextBox 2"/>
          <p:cNvSpPr txBox="1"/>
          <p:nvPr/>
        </p:nvSpPr>
        <p:spPr>
          <a:xfrm>
            <a:off x="914400" y="2514600"/>
            <a:ext cx="10360152" cy="365760"/>
          </a:xfrm>
          <a:prstGeom prst="rect">
            <a:avLst/>
          </a:prstGeom>
          <a:noFill/>
        </p:spPr>
        <p:txBody>
          <a:bodyPr wrap="square" anchor="t" lIns="0" rIns="0" tIns="0" bIns="0">
            <a:spAutoFit/>
          </a:bodyPr>
          <a:lstStyle/>
          <a:p>
            <a:pPr algn="ctr">
              <a:lnSpc>
                <a:spcPct val="112000"/>
              </a:lnSpc>
              <a:spcBef>
                <a:spcPts val="0"/>
              </a:spcBef>
              <a:spcAft>
                <a:spcPts val="600"/>
              </a:spcAft>
            </a:pPr>
            <a:r>
              <a:rPr sz="1400" b="1" i="0">
                <a:solidFill>
                  <a:srgbClr val="555555"/>
                </a:solidFill>
                <a:latin typeface="Lato"/>
              </a:rPr>
              <a:t>C A S E   S T U D Y   2      ·      F I N A L</a:t>
            </a:r>
          </a:p>
        </p:txBody>
      </p:sp>
      <p:sp>
        <p:nvSpPr>
          <p:cNvPr id="4" name="TextBox 3"/>
          <p:cNvSpPr txBox="1"/>
          <p:nvPr/>
        </p:nvSpPr>
        <p:spPr>
          <a:xfrm>
            <a:off x="914400" y="2971800"/>
            <a:ext cx="10360152" cy="1188720"/>
          </a:xfrm>
          <a:prstGeom prst="rect">
            <a:avLst/>
          </a:prstGeom>
          <a:noFill/>
        </p:spPr>
        <p:txBody>
          <a:bodyPr wrap="square" anchor="t" lIns="0" rIns="0" tIns="0" bIns="0">
            <a:spAutoFit/>
          </a:bodyPr>
          <a:lstStyle/>
          <a:p>
            <a:pPr algn="ctr">
              <a:lnSpc>
                <a:spcPct val="118000"/>
              </a:lnSpc>
              <a:spcBef>
                <a:spcPts val="0"/>
              </a:spcBef>
              <a:spcAft>
                <a:spcPts val="600"/>
              </a:spcAft>
            </a:pPr>
            <a:r>
              <a:rPr sz="3100" b="1" i="0">
                <a:solidFill>
                  <a:srgbClr val="1A1A1A"/>
                </a:solidFill>
                <a:latin typeface="Lato"/>
              </a:rPr>
              <a:t>Building and Validating a Metal–Organic Framework</a:t>
            </a:r>
          </a:p>
          <a:p>
            <a:pPr algn="ctr">
              <a:lnSpc>
                <a:spcPct val="118000"/>
              </a:lnSpc>
              <a:spcBef>
                <a:spcPts val="0"/>
              </a:spcBef>
              <a:spcAft>
                <a:spcPts val="600"/>
              </a:spcAft>
            </a:pPr>
            <a:r>
              <a:rPr sz="3100" b="1" i="0">
                <a:solidFill>
                  <a:srgbClr val="1A1A1A"/>
                </a:solidFill>
                <a:latin typeface="Lato"/>
              </a:rPr>
              <a:t>Synthesis Knowledge Graph with Large Language Models</a:t>
            </a:r>
          </a:p>
        </p:txBody>
      </p:sp>
      <p:sp>
        <p:nvSpPr>
          <p:cNvPr id="5" name="Rectangle 4"/>
          <p:cNvSpPr/>
          <p:nvPr/>
        </p:nvSpPr>
        <p:spPr>
          <a:xfrm>
            <a:off x="5458968" y="4498848"/>
            <a:ext cx="1280160" cy="30480"/>
          </a:xfrm>
          <a:prstGeom prst="rect">
            <a:avLst/>
          </a:prstGeom>
          <a:solidFill>
            <a:srgbClr val="E64415"/>
          </a:solidFill>
          <a:ln>
            <a:noFill/>
          </a:ln>
          <a:effectLst/>
        </p:spPr>
        <p:txBody>
          <a:bodyPr rtlCol="0" anchor="ctr"/>
          <a:lstStyle/>
          <a:p>
            <a:pPr algn="ctr"/>
          </a:p>
        </p:txBody>
      </p:sp>
      <p:sp>
        <p:nvSpPr>
          <p:cNvPr id="6" name="TextBox 5"/>
          <p:cNvSpPr txBox="1"/>
          <p:nvPr/>
        </p:nvSpPr>
        <p:spPr>
          <a:xfrm>
            <a:off x="914400" y="4864608"/>
            <a:ext cx="10360152" cy="1371600"/>
          </a:xfrm>
          <a:prstGeom prst="rect">
            <a:avLst/>
          </a:prstGeom>
          <a:noFill/>
        </p:spPr>
        <p:txBody>
          <a:bodyPr wrap="square" anchor="t" lIns="0" rIns="0" tIns="0" bIns="0">
            <a:spAutoFit/>
          </a:bodyPr>
          <a:lstStyle/>
          <a:p>
            <a:pPr algn="ctr">
              <a:lnSpc>
                <a:spcPct val="112000"/>
              </a:lnSpc>
              <a:spcBef>
                <a:spcPts val="0"/>
              </a:spcBef>
              <a:spcAft>
                <a:spcPts val="500"/>
              </a:spcAft>
            </a:pPr>
            <a:r>
              <a:rPr sz="1600" b="1" i="0">
                <a:solidFill>
                  <a:srgbClr val="1A1A1A"/>
                </a:solidFill>
                <a:latin typeface="Lato"/>
              </a:rPr>
              <a:t>Devendra Singh Dhakad</a:t>
            </a:r>
            <a:r>
              <a:rPr sz="1600" b="0" i="0">
                <a:solidFill>
                  <a:srgbClr val="BBBBBB"/>
                </a:solidFill>
                <a:latin typeface="Lato"/>
              </a:rPr>
              <a:t>      ·      </a:t>
            </a:r>
            <a:r>
              <a:rPr sz="1600" b="0" i="0">
                <a:solidFill>
                  <a:srgbClr val="555555"/>
                </a:solidFill>
                <a:latin typeface="Lato"/>
              </a:rPr>
              <a:t>Matriculation No. 100004684</a:t>
            </a:r>
          </a:p>
          <a:p>
            <a:pPr algn="ctr">
              <a:lnSpc>
                <a:spcPct val="112000"/>
              </a:lnSpc>
              <a:spcBef>
                <a:spcPts val="0"/>
              </a:spcBef>
              <a:spcAft>
                <a:spcPts val="500"/>
              </a:spcAft>
            </a:pPr>
            <a:r>
              <a:rPr sz="1400" b="0" i="0">
                <a:solidFill>
                  <a:srgbClr val="555555"/>
                </a:solidFill>
                <a:latin typeface="Lato"/>
              </a:rPr>
              <a:t>M.Sc. Data Science and Artificial Intelligence</a:t>
            </a:r>
          </a:p>
          <a:p>
            <a:pPr algn="ctr">
              <a:lnSpc>
                <a:spcPct val="112000"/>
              </a:lnSpc>
              <a:spcBef>
                <a:spcPts val="0"/>
              </a:spcBef>
              <a:spcAft>
                <a:spcPts val="500"/>
              </a:spcAft>
            </a:pPr>
            <a:r>
              <a:rPr sz="1400" b="0" i="0">
                <a:solidFill>
                  <a:srgbClr val="555555"/>
                </a:solidFill>
                <a:latin typeface="Lato"/>
              </a:rPr>
              <a:t>Supervisor: Prof. Dr. Mehrdad Jalali</a:t>
            </a:r>
          </a:p>
          <a:p>
            <a:pPr algn="ctr">
              <a:lnSpc>
                <a:spcPct val="112000"/>
              </a:lnSpc>
              <a:spcBef>
                <a:spcPts val="0"/>
              </a:spcBef>
              <a:spcAft>
                <a:spcPts val="500"/>
              </a:spcAft>
            </a:pPr>
            <a:r>
              <a:rPr sz="1400" b="0" i="0">
                <a:solidFill>
                  <a:srgbClr val="555555"/>
                </a:solidFill>
                <a:latin typeface="Lato"/>
              </a:rPr>
              <a:t>SRH University of Applied Sciences Heidelberg</a:t>
            </a:r>
          </a:p>
          <a:p>
            <a:pPr algn="ctr">
              <a:lnSpc>
                <a:spcPct val="112000"/>
              </a:lnSpc>
              <a:spcBef>
                <a:spcPts val="0"/>
              </a:spcBef>
              <a:spcAft>
                <a:spcPts val="500"/>
              </a:spcAft>
            </a:pPr>
            <a:r>
              <a:rPr sz="1200" b="0" i="0">
                <a:solidFill>
                  <a:srgbClr val="BBBBBB"/>
                </a:solidFill>
                <a:latin typeface="Lato"/>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48640" y="420624"/>
            <a:ext cx="868680" cy="671720"/>
          </a:xfrm>
          <a:prstGeom prst="rect">
            <a:avLst/>
          </a:prstGeom>
        </p:spPr>
      </p:pic>
      <p:sp>
        <p:nvSpPr>
          <p:cNvPr id="3" name="TextBox 2"/>
          <p:cNvSpPr txBox="1"/>
          <p:nvPr/>
        </p:nvSpPr>
        <p:spPr>
          <a:xfrm>
            <a:off x="566928" y="1298448"/>
            <a:ext cx="11064240" cy="640080"/>
          </a:xfrm>
          <a:prstGeom prst="rect">
            <a:avLst/>
          </a:prstGeom>
          <a:noFill/>
        </p:spPr>
        <p:txBody>
          <a:bodyPr wrap="square" anchor="t" lIns="0" rIns="0" tIns="0" bIns="0">
            <a:spAutoFit/>
          </a:bodyPr>
          <a:lstStyle/>
          <a:p>
            <a:pPr algn="l">
              <a:lnSpc>
                <a:spcPct val="112000"/>
              </a:lnSpc>
              <a:spcBef>
                <a:spcPts val="0"/>
              </a:spcBef>
              <a:spcAft>
                <a:spcPts val="600"/>
              </a:spcAft>
            </a:pPr>
            <a:r>
              <a:rPr sz="2700" b="1" i="0">
                <a:solidFill>
                  <a:srgbClr val="E64415"/>
                </a:solidFill>
                <a:latin typeface="Lato"/>
              </a:rPr>
              <a:t>1   </a:t>
            </a:r>
            <a:r>
              <a:rPr sz="2700" b="1" i="0">
                <a:solidFill>
                  <a:srgbClr val="1A1A1A"/>
                </a:solidFill>
                <a:latin typeface="Lato"/>
              </a:rPr>
              <a:t>The problem</a:t>
            </a:r>
          </a:p>
        </p:txBody>
      </p:sp>
      <p:sp>
        <p:nvSpPr>
          <p:cNvPr id="4" name="Rectangle 3"/>
          <p:cNvSpPr/>
          <p:nvPr/>
        </p:nvSpPr>
        <p:spPr>
          <a:xfrm>
            <a:off x="585216" y="1993392"/>
            <a:ext cx="11018520" cy="15240"/>
          </a:xfrm>
          <a:prstGeom prst="rect">
            <a:avLst/>
          </a:prstGeom>
          <a:solidFill>
            <a:srgbClr val="E3E3E3"/>
          </a:solidFill>
          <a:ln>
            <a:noFill/>
          </a:ln>
          <a:effectLst/>
        </p:spPr>
        <p:txBody>
          <a:bodyPr rtlCol="0" anchor="ctr"/>
          <a:lstStyle/>
          <a:p>
            <a:pPr algn="ctr"/>
          </a:p>
        </p:txBody>
      </p:sp>
      <p:sp>
        <p:nvSpPr>
          <p:cNvPr id="5" name="TextBox 4"/>
          <p:cNvSpPr txBox="1"/>
          <p:nvPr/>
        </p:nvSpPr>
        <p:spPr>
          <a:xfrm>
            <a:off x="11430000" y="6437376"/>
            <a:ext cx="640080" cy="274320"/>
          </a:xfrm>
          <a:prstGeom prst="rect">
            <a:avLst/>
          </a:prstGeom>
          <a:noFill/>
        </p:spPr>
        <p:txBody>
          <a:bodyPr wrap="square" anchor="t" lIns="0" rIns="0" tIns="0" bIns="0">
            <a:spAutoFit/>
          </a:bodyPr>
          <a:lstStyle/>
          <a:p>
            <a:pPr algn="r">
              <a:lnSpc>
                <a:spcPct val="112000"/>
              </a:lnSpc>
              <a:spcBef>
                <a:spcPts val="0"/>
              </a:spcBef>
              <a:spcAft>
                <a:spcPts val="600"/>
              </a:spcAft>
            </a:pPr>
            <a:r>
              <a:rPr sz="1000" b="0" i="0">
                <a:solidFill>
                  <a:srgbClr val="BBBBBB"/>
                </a:solidFill>
                <a:latin typeface="Lato"/>
              </a:rPr>
              <a:t>2</a:t>
            </a:r>
          </a:p>
        </p:txBody>
      </p:sp>
      <p:sp>
        <p:nvSpPr>
          <p:cNvPr id="6" name="TextBox 5"/>
          <p:cNvSpPr txBox="1"/>
          <p:nvPr/>
        </p:nvSpPr>
        <p:spPr>
          <a:xfrm>
            <a:off x="566928" y="2286000"/>
            <a:ext cx="6766560" cy="4023360"/>
          </a:xfrm>
          <a:prstGeom prst="rect">
            <a:avLst/>
          </a:prstGeom>
          <a:noFill/>
        </p:spPr>
        <p:txBody>
          <a:bodyPr wrap="square" anchor="t" lIns="0" rIns="0" tIns="0" bIns="0">
            <a:spAutoFit/>
          </a:bodyPr>
          <a:lstStyle/>
          <a:p>
            <a:pPr algn="l">
              <a:lnSpc>
                <a:spcPct val="116000"/>
              </a:lnSpc>
              <a:spcBef>
                <a:spcPts val="0"/>
              </a:spcBef>
              <a:spcAft>
                <a:spcPts val="900"/>
              </a:spcAft>
            </a:pPr>
            <a:r>
              <a:rPr sz="1550" b="1" i="0">
                <a:solidFill>
                  <a:srgbClr val="E64415"/>
                </a:solidFill>
                <a:latin typeface="Lato"/>
              </a:rPr>
              <a:t>•  </a:t>
            </a:r>
            <a:r>
              <a:rPr sz="1550" b="0" i="0">
                <a:solidFill>
                  <a:srgbClr val="1A1A1A"/>
                </a:solidFill>
                <a:latin typeface="Lato"/>
              </a:rPr>
              <a:t>MOFs are porous crystals built from metal nodes and organic linkers. Over 100,000 synthesised structures are recorded in the CSD.</a:t>
            </a:r>
          </a:p>
          <a:p>
            <a:pPr algn="l">
              <a:lnSpc>
                <a:spcPct val="116000"/>
              </a:lnSpc>
              <a:spcBef>
                <a:spcPts val="0"/>
              </a:spcBef>
              <a:spcAft>
                <a:spcPts val="900"/>
              </a:spcAft>
            </a:pPr>
            <a:r>
              <a:rPr sz="1550" b="1" i="0">
                <a:solidFill>
                  <a:srgbClr val="E64415"/>
                </a:solidFill>
                <a:latin typeface="Lato"/>
              </a:rPr>
              <a:t>•  </a:t>
            </a:r>
            <a:r>
              <a:rPr sz="1550" b="0" i="0">
                <a:solidFill>
                  <a:srgbClr val="1A1A1A"/>
                </a:solidFill>
                <a:latin typeface="Lato"/>
              </a:rPr>
              <a:t>Applications span CO2 capture, gas storage, catalysis, sensing and drug delivery.</a:t>
            </a:r>
          </a:p>
          <a:p>
            <a:pPr algn="l">
              <a:lnSpc>
                <a:spcPct val="116000"/>
              </a:lnSpc>
              <a:spcBef>
                <a:spcPts val="0"/>
              </a:spcBef>
              <a:spcAft>
                <a:spcPts val="900"/>
              </a:spcAft>
            </a:pPr>
            <a:r>
              <a:rPr sz="1550" b="1" i="0">
                <a:solidFill>
                  <a:srgbClr val="E64415"/>
                </a:solidFill>
                <a:latin typeface="Lato"/>
              </a:rPr>
              <a:t>•  </a:t>
            </a:r>
            <a:r>
              <a:rPr sz="1550" b="0" i="0">
                <a:solidFill>
                  <a:srgbClr val="1A1A1A"/>
                </a:solidFill>
                <a:latin typeface="Lato"/>
              </a:rPr>
              <a:t>How any given MOF is actually made (precursor, linker, solvent, method, temperature, time) stays locked in the prose of tens of thousands of papers.</a:t>
            </a:r>
          </a:p>
          <a:p>
            <a:pPr algn="l">
              <a:lnSpc>
                <a:spcPct val="116000"/>
              </a:lnSpc>
              <a:spcBef>
                <a:spcPts val="0"/>
              </a:spcBef>
              <a:spcAft>
                <a:spcPts val="900"/>
              </a:spcAft>
            </a:pPr>
            <a:r>
              <a:rPr sz="1550" b="1" i="0">
                <a:solidFill>
                  <a:srgbClr val="E64415"/>
                </a:solidFill>
                <a:latin typeface="Lato"/>
              </a:rPr>
              <a:t>•  </a:t>
            </a:r>
            <a:r>
              <a:rPr sz="1550" b="0" i="0">
                <a:solidFill>
                  <a:srgbClr val="1A1A1A"/>
                </a:solidFill>
                <a:latin typeface="Lato"/>
              </a:rPr>
              <a:t>Existing text-mined databases were built with rule-based systems whose own authors report that implicit synthesis routes are hard to extract.</a:t>
            </a:r>
          </a:p>
        </p:txBody>
      </p:sp>
      <p:sp>
        <p:nvSpPr>
          <p:cNvPr id="7" name="Rectangle 6"/>
          <p:cNvSpPr/>
          <p:nvPr/>
        </p:nvSpPr>
        <p:spPr>
          <a:xfrm>
            <a:off x="7635240" y="2286000"/>
            <a:ext cx="3977639" cy="2148840"/>
          </a:xfrm>
          <a:prstGeom prst="rect">
            <a:avLst/>
          </a:prstGeom>
          <a:solidFill>
            <a:srgbClr val="FAF6F4"/>
          </a:solidFill>
          <a:ln>
            <a:noFill/>
          </a:ln>
          <a:effectLst/>
        </p:spPr>
        <p:txBody>
          <a:bodyPr rtlCol="0" anchor="ctr"/>
          <a:lstStyle/>
          <a:p>
            <a:pPr algn="ctr"/>
          </a:p>
        </p:txBody>
      </p:sp>
      <p:sp>
        <p:nvSpPr>
          <p:cNvPr id="8" name="TextBox 7"/>
          <p:cNvSpPr txBox="1"/>
          <p:nvPr/>
        </p:nvSpPr>
        <p:spPr>
          <a:xfrm>
            <a:off x="7936992" y="2560320"/>
            <a:ext cx="3383280" cy="1737360"/>
          </a:xfrm>
          <a:prstGeom prst="rect">
            <a:avLst/>
          </a:prstGeom>
          <a:noFill/>
        </p:spPr>
        <p:txBody>
          <a:bodyPr wrap="square" anchor="t" lIns="0" rIns="0" tIns="0" bIns="0">
            <a:spAutoFit/>
          </a:bodyPr>
          <a:lstStyle/>
          <a:p>
            <a:pPr algn="l">
              <a:lnSpc>
                <a:spcPct val="120000"/>
              </a:lnSpc>
              <a:spcBef>
                <a:spcPts val="0"/>
              </a:spcBef>
              <a:spcAft>
                <a:spcPts val="800"/>
              </a:spcAft>
            </a:pPr>
            <a:r>
              <a:rPr sz="1300" b="1" i="0">
                <a:solidFill>
                  <a:srgbClr val="E64415"/>
                </a:solidFill>
                <a:latin typeface="Lato"/>
              </a:rPr>
              <a:t>The gap</a:t>
            </a:r>
          </a:p>
          <a:p>
            <a:pPr algn="l">
              <a:lnSpc>
                <a:spcPct val="120000"/>
              </a:lnSpc>
              <a:spcBef>
                <a:spcPts val="0"/>
              </a:spcBef>
              <a:spcAft>
                <a:spcPts val="800"/>
              </a:spcAft>
            </a:pPr>
            <a:r>
              <a:rPr sz="1400" b="0" i="0">
                <a:solidFill>
                  <a:srgbClr val="1A1A1A"/>
                </a:solidFill>
                <a:latin typeface="Lato"/>
              </a:rPr>
              <a:t>No published study measures LLM MOF extraction field by field against both expert annotation and a rule-based baseline, while reporting what each configuration costs.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48640" y="420624"/>
            <a:ext cx="868680" cy="671720"/>
          </a:xfrm>
          <a:prstGeom prst="rect">
            <a:avLst/>
          </a:prstGeom>
        </p:spPr>
      </p:pic>
      <p:sp>
        <p:nvSpPr>
          <p:cNvPr id="3" name="TextBox 2"/>
          <p:cNvSpPr txBox="1"/>
          <p:nvPr/>
        </p:nvSpPr>
        <p:spPr>
          <a:xfrm>
            <a:off x="566928" y="1298448"/>
            <a:ext cx="11064240" cy="640080"/>
          </a:xfrm>
          <a:prstGeom prst="rect">
            <a:avLst/>
          </a:prstGeom>
          <a:noFill/>
        </p:spPr>
        <p:txBody>
          <a:bodyPr wrap="square" anchor="t" lIns="0" rIns="0" tIns="0" bIns="0">
            <a:spAutoFit/>
          </a:bodyPr>
          <a:lstStyle/>
          <a:p>
            <a:pPr algn="l">
              <a:lnSpc>
                <a:spcPct val="112000"/>
              </a:lnSpc>
              <a:spcBef>
                <a:spcPts val="0"/>
              </a:spcBef>
              <a:spcAft>
                <a:spcPts val="600"/>
              </a:spcAft>
            </a:pPr>
            <a:r>
              <a:rPr sz="2700" b="1" i="0">
                <a:solidFill>
                  <a:srgbClr val="E64415"/>
                </a:solidFill>
                <a:latin typeface="Lato"/>
              </a:rPr>
              <a:t>2   </a:t>
            </a:r>
            <a:r>
              <a:rPr sz="2700" b="1" i="0">
                <a:solidFill>
                  <a:srgbClr val="1A1A1A"/>
                </a:solidFill>
                <a:latin typeface="Lato"/>
              </a:rPr>
              <a:t>Research questions</a:t>
            </a:r>
          </a:p>
        </p:txBody>
      </p:sp>
      <p:sp>
        <p:nvSpPr>
          <p:cNvPr id="4" name="Rectangle 3"/>
          <p:cNvSpPr/>
          <p:nvPr/>
        </p:nvSpPr>
        <p:spPr>
          <a:xfrm>
            <a:off x="585216" y="1993392"/>
            <a:ext cx="11018520" cy="15240"/>
          </a:xfrm>
          <a:prstGeom prst="rect">
            <a:avLst/>
          </a:prstGeom>
          <a:solidFill>
            <a:srgbClr val="E3E3E3"/>
          </a:solidFill>
          <a:ln>
            <a:noFill/>
          </a:ln>
          <a:effectLst/>
        </p:spPr>
        <p:txBody>
          <a:bodyPr rtlCol="0" anchor="ctr"/>
          <a:lstStyle/>
          <a:p>
            <a:pPr algn="ctr"/>
          </a:p>
        </p:txBody>
      </p:sp>
      <p:sp>
        <p:nvSpPr>
          <p:cNvPr id="5" name="TextBox 4"/>
          <p:cNvSpPr txBox="1"/>
          <p:nvPr/>
        </p:nvSpPr>
        <p:spPr>
          <a:xfrm>
            <a:off x="11430000" y="6437376"/>
            <a:ext cx="640080" cy="274320"/>
          </a:xfrm>
          <a:prstGeom prst="rect">
            <a:avLst/>
          </a:prstGeom>
          <a:noFill/>
        </p:spPr>
        <p:txBody>
          <a:bodyPr wrap="square" anchor="t" lIns="0" rIns="0" tIns="0" bIns="0">
            <a:spAutoFit/>
          </a:bodyPr>
          <a:lstStyle/>
          <a:p>
            <a:pPr algn="r">
              <a:lnSpc>
                <a:spcPct val="112000"/>
              </a:lnSpc>
              <a:spcBef>
                <a:spcPts val="0"/>
              </a:spcBef>
              <a:spcAft>
                <a:spcPts val="600"/>
              </a:spcAft>
            </a:pPr>
            <a:r>
              <a:rPr sz="1000" b="0" i="0">
                <a:solidFill>
                  <a:srgbClr val="BBBBBB"/>
                </a:solidFill>
                <a:latin typeface="Lato"/>
              </a:rPr>
              <a:t>3</a:t>
            </a:r>
          </a:p>
        </p:txBody>
      </p:sp>
      <p:sp>
        <p:nvSpPr>
          <p:cNvPr id="6" name="TextBox 5"/>
          <p:cNvSpPr txBox="1"/>
          <p:nvPr/>
        </p:nvSpPr>
        <p:spPr>
          <a:xfrm>
            <a:off x="566928" y="2286000"/>
            <a:ext cx="10972800" cy="4023360"/>
          </a:xfrm>
          <a:prstGeom prst="rect">
            <a:avLst/>
          </a:prstGeom>
          <a:noFill/>
        </p:spPr>
        <p:txBody>
          <a:bodyPr wrap="square" anchor="t" lIns="0" rIns="0" tIns="0" bIns="0">
            <a:spAutoFit/>
          </a:bodyPr>
          <a:lstStyle/>
          <a:p>
            <a:pPr algn="l">
              <a:lnSpc>
                <a:spcPct val="116000"/>
              </a:lnSpc>
              <a:spcBef>
                <a:spcPts val="0"/>
              </a:spcBef>
              <a:spcAft>
                <a:spcPts val="1300"/>
              </a:spcAft>
            </a:pPr>
            <a:r>
              <a:rPr sz="1550" b="1" i="0">
                <a:solidFill>
                  <a:srgbClr val="E64415"/>
                </a:solidFill>
                <a:latin typeface="Lato"/>
              </a:rPr>
              <a:t>•  </a:t>
            </a:r>
            <a:r>
              <a:rPr sz="1550" b="0" i="0">
                <a:solidFill>
                  <a:srgbClr val="1A1A1A"/>
                </a:solidFill>
                <a:latin typeface="Lato"/>
              </a:rPr>
              <a:t>RQ1  Per-field accuracy: LLMs against a rule-based baseline built from the same domain vocabulary.</a:t>
            </a:r>
          </a:p>
          <a:p>
            <a:pPr algn="l">
              <a:lnSpc>
                <a:spcPct val="116000"/>
              </a:lnSpc>
              <a:spcBef>
                <a:spcPts val="0"/>
              </a:spcBef>
              <a:spcAft>
                <a:spcPts val="1300"/>
              </a:spcAft>
            </a:pPr>
            <a:r>
              <a:rPr sz="1550" b="1" i="0">
                <a:solidFill>
                  <a:srgbClr val="E64415"/>
                </a:solidFill>
                <a:latin typeface="Lato"/>
              </a:rPr>
              <a:t>•  </a:t>
            </a:r>
            <a:r>
              <a:rPr sz="1550" b="0" i="0">
                <a:solidFill>
                  <a:srgbClr val="1A1A1A"/>
                </a:solidFill>
                <a:latin typeface="Lato"/>
              </a:rPr>
              <a:t>RQ2  Which prompting strategy is most reliable: zero-shot, few-shot, schema-guided, chain-of-thought.</a:t>
            </a:r>
          </a:p>
          <a:p>
            <a:pPr algn="l">
              <a:lnSpc>
                <a:spcPct val="116000"/>
              </a:lnSpc>
              <a:spcBef>
                <a:spcPts val="0"/>
              </a:spcBef>
              <a:spcAft>
                <a:spcPts val="1300"/>
              </a:spcAft>
            </a:pPr>
            <a:r>
              <a:rPr sz="1550" b="1" i="0">
                <a:solidFill>
                  <a:srgbClr val="E64415"/>
                </a:solidFill>
                <a:latin typeface="Lato"/>
              </a:rPr>
              <a:t>•  </a:t>
            </a:r>
            <a:r>
              <a:rPr sz="1550" b="0" i="0">
                <a:solidFill>
                  <a:srgbClr val="1A1A1A"/>
                </a:solidFill>
                <a:latin typeface="Lato"/>
              </a:rPr>
              <a:t>RQ3  Where and why extractions disagree with the DigiMOF and SynMOF reference databases.</a:t>
            </a:r>
          </a:p>
          <a:p>
            <a:pPr algn="l">
              <a:lnSpc>
                <a:spcPct val="116000"/>
              </a:lnSpc>
              <a:spcBef>
                <a:spcPts val="0"/>
              </a:spcBef>
              <a:spcAft>
                <a:spcPts val="1300"/>
              </a:spcAft>
            </a:pPr>
            <a:r>
              <a:rPr sz="1550" b="1" i="0">
                <a:solidFill>
                  <a:srgbClr val="E64415"/>
                </a:solidFill>
                <a:latin typeface="Lato"/>
              </a:rPr>
              <a:t>•  </a:t>
            </a:r>
            <a:r>
              <a:rPr sz="1550" b="0" i="0">
                <a:solidFill>
                  <a:srgbClr val="1A1A1A"/>
                </a:solidFill>
                <a:latin typeface="Lato"/>
              </a:rPr>
              <a:t>RQ4  Open-weight models against commercial APIs on accuracy, cost and latency.</a:t>
            </a:r>
          </a:p>
          <a:p>
            <a:pPr algn="l">
              <a:lnSpc>
                <a:spcPct val="116000"/>
              </a:lnSpc>
              <a:spcBef>
                <a:spcPts val="0"/>
              </a:spcBef>
              <a:spcAft>
                <a:spcPts val="1300"/>
              </a:spcAft>
            </a:pPr>
            <a:r>
              <a:rPr sz="1550" b="1" i="0">
                <a:solidFill>
                  <a:srgbClr val="E64415"/>
                </a:solidFill>
                <a:latin typeface="Lato"/>
              </a:rPr>
              <a:t>•  </a:t>
            </a:r>
            <a:r>
              <a:rPr sz="1550" b="0" i="0">
                <a:solidFill>
                  <a:srgbClr val="1A1A1A"/>
                </a:solidFill>
                <a:latin typeface="Lato"/>
              </a:rPr>
              <a:t>RQ5  Can the resulting knowledge graph answer aggregation queries across hundreds of papers.</a:t>
            </a:r>
          </a:p>
        </p:txBody>
      </p:sp>
      <p:sp>
        <p:nvSpPr>
          <p:cNvPr id="7" name="TextBox 6"/>
          <p:cNvSpPr txBox="1"/>
          <p:nvPr/>
        </p:nvSpPr>
        <p:spPr>
          <a:xfrm>
            <a:off x="566928" y="5806440"/>
            <a:ext cx="10972800" cy="548640"/>
          </a:xfrm>
          <a:prstGeom prst="rect">
            <a:avLst/>
          </a:prstGeom>
          <a:noFill/>
        </p:spPr>
        <p:txBody>
          <a:bodyPr wrap="square" anchor="t" lIns="0" rIns="0" tIns="0" bIns="0">
            <a:spAutoFit/>
          </a:bodyPr>
          <a:lstStyle/>
          <a:p>
            <a:pPr algn="l">
              <a:lnSpc>
                <a:spcPct val="112000"/>
              </a:lnSpc>
              <a:spcBef>
                <a:spcPts val="0"/>
              </a:spcBef>
              <a:spcAft>
                <a:spcPts val="600"/>
              </a:spcAft>
            </a:pPr>
            <a:r>
              <a:rPr sz="1400" b="1" i="0">
                <a:solidFill>
                  <a:srgbClr val="1A1A1A"/>
                </a:solidFill>
                <a:latin typeface="Lato"/>
              </a:rPr>
              <a:t>Answered: RQ1, RQ2, RQ4, RQ5.    </a:t>
            </a:r>
            <a:r>
              <a:rPr sz="1400" b="0" i="0">
                <a:solidFill>
                  <a:srgbClr val="555555"/>
                </a:solidFill>
                <a:latin typeface="Lato"/>
              </a:rPr>
              <a:t>RQ3 could not be answered; the reason is on slide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48640" y="420624"/>
            <a:ext cx="868680" cy="671720"/>
          </a:xfrm>
          <a:prstGeom prst="rect">
            <a:avLst/>
          </a:prstGeom>
        </p:spPr>
      </p:pic>
      <p:sp>
        <p:nvSpPr>
          <p:cNvPr id="3" name="TextBox 2"/>
          <p:cNvSpPr txBox="1"/>
          <p:nvPr/>
        </p:nvSpPr>
        <p:spPr>
          <a:xfrm>
            <a:off x="566928" y="1298448"/>
            <a:ext cx="11064240" cy="640080"/>
          </a:xfrm>
          <a:prstGeom prst="rect">
            <a:avLst/>
          </a:prstGeom>
          <a:noFill/>
        </p:spPr>
        <p:txBody>
          <a:bodyPr wrap="square" anchor="t" lIns="0" rIns="0" tIns="0" bIns="0">
            <a:spAutoFit/>
          </a:bodyPr>
          <a:lstStyle/>
          <a:p>
            <a:pPr algn="l">
              <a:lnSpc>
                <a:spcPct val="112000"/>
              </a:lnSpc>
              <a:spcBef>
                <a:spcPts val="0"/>
              </a:spcBef>
              <a:spcAft>
                <a:spcPts val="600"/>
              </a:spcAft>
            </a:pPr>
            <a:r>
              <a:rPr sz="2700" b="1" i="0">
                <a:solidFill>
                  <a:srgbClr val="E64415"/>
                </a:solidFill>
                <a:latin typeface="Lato"/>
              </a:rPr>
              <a:t>3   </a:t>
            </a:r>
            <a:r>
              <a:rPr sz="2700" b="1" i="0">
                <a:solidFill>
                  <a:srgbClr val="1A1A1A"/>
                </a:solidFill>
                <a:latin typeface="Lato"/>
              </a:rPr>
              <a:t>What was built</a:t>
            </a:r>
          </a:p>
        </p:txBody>
      </p:sp>
      <p:sp>
        <p:nvSpPr>
          <p:cNvPr id="4" name="Rectangle 3"/>
          <p:cNvSpPr/>
          <p:nvPr/>
        </p:nvSpPr>
        <p:spPr>
          <a:xfrm>
            <a:off x="585216" y="1993392"/>
            <a:ext cx="11018520" cy="15240"/>
          </a:xfrm>
          <a:prstGeom prst="rect">
            <a:avLst/>
          </a:prstGeom>
          <a:solidFill>
            <a:srgbClr val="E3E3E3"/>
          </a:solidFill>
          <a:ln>
            <a:noFill/>
          </a:ln>
          <a:effectLst/>
        </p:spPr>
        <p:txBody>
          <a:bodyPr rtlCol="0" anchor="ctr"/>
          <a:lstStyle/>
          <a:p>
            <a:pPr algn="ctr"/>
          </a:p>
        </p:txBody>
      </p:sp>
      <p:sp>
        <p:nvSpPr>
          <p:cNvPr id="5" name="TextBox 4"/>
          <p:cNvSpPr txBox="1"/>
          <p:nvPr/>
        </p:nvSpPr>
        <p:spPr>
          <a:xfrm>
            <a:off x="11430000" y="6437376"/>
            <a:ext cx="640080" cy="274320"/>
          </a:xfrm>
          <a:prstGeom prst="rect">
            <a:avLst/>
          </a:prstGeom>
          <a:noFill/>
        </p:spPr>
        <p:txBody>
          <a:bodyPr wrap="square" anchor="t" lIns="0" rIns="0" tIns="0" bIns="0">
            <a:spAutoFit/>
          </a:bodyPr>
          <a:lstStyle/>
          <a:p>
            <a:pPr algn="r">
              <a:lnSpc>
                <a:spcPct val="112000"/>
              </a:lnSpc>
              <a:spcBef>
                <a:spcPts val="0"/>
              </a:spcBef>
              <a:spcAft>
                <a:spcPts val="600"/>
              </a:spcAft>
            </a:pPr>
            <a:r>
              <a:rPr sz="1000" b="0" i="0">
                <a:solidFill>
                  <a:srgbClr val="BBBBBB"/>
                </a:solidFill>
                <a:latin typeface="Lato"/>
              </a:rPr>
              <a:t>4</a:t>
            </a:r>
          </a:p>
        </p:txBody>
      </p:sp>
      <p:pic>
        <p:nvPicPr>
          <p:cNvPr id="6" name="Picture 5" descr="pipeline_architecture.png"/>
          <p:cNvPicPr>
            <a:picLocks noChangeAspect="1"/>
          </p:cNvPicPr>
          <p:nvPr/>
        </p:nvPicPr>
        <p:blipFill>
          <a:blip r:embed="rId3"/>
          <a:stretch>
            <a:fillRect/>
          </a:stretch>
        </p:blipFill>
        <p:spPr>
          <a:xfrm>
            <a:off x="3098647" y="2121408"/>
            <a:ext cx="5994400" cy="3657600"/>
          </a:xfrm>
          <a:prstGeom prst="rect">
            <a:avLst/>
          </a:prstGeom>
        </p:spPr>
      </p:pic>
      <p:sp>
        <p:nvSpPr>
          <p:cNvPr id="7" name="TextBox 6"/>
          <p:cNvSpPr txBox="1"/>
          <p:nvPr/>
        </p:nvSpPr>
        <p:spPr>
          <a:xfrm>
            <a:off x="566928" y="5806440"/>
            <a:ext cx="10972800" cy="457200"/>
          </a:xfrm>
          <a:prstGeom prst="rect">
            <a:avLst/>
          </a:prstGeom>
          <a:noFill/>
        </p:spPr>
        <p:txBody>
          <a:bodyPr wrap="square" anchor="t" lIns="0" rIns="0" tIns="0" bIns="0">
            <a:spAutoFit/>
          </a:bodyPr>
          <a:lstStyle/>
          <a:p>
            <a:pPr algn="l">
              <a:lnSpc>
                <a:spcPct val="112000"/>
              </a:lnSpc>
              <a:spcBef>
                <a:spcPts val="0"/>
              </a:spcBef>
              <a:spcAft>
                <a:spcPts val="600"/>
              </a:spcAft>
            </a:pPr>
            <a:r>
              <a:rPr sz="1350" b="0" i="0">
                <a:solidFill>
                  <a:srgbClr val="555555"/>
                </a:solidFill>
                <a:latin typeface="Lato"/>
              </a:rPr>
              <a:t>Six stages, each writing a JSON Lines file the next one reads. Any stage can be rerun without rerunning the others, and every intermediate is inspectable.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48640" y="420624"/>
            <a:ext cx="868680" cy="671720"/>
          </a:xfrm>
          <a:prstGeom prst="rect">
            <a:avLst/>
          </a:prstGeom>
        </p:spPr>
      </p:pic>
      <p:sp>
        <p:nvSpPr>
          <p:cNvPr id="3" name="TextBox 2"/>
          <p:cNvSpPr txBox="1"/>
          <p:nvPr/>
        </p:nvSpPr>
        <p:spPr>
          <a:xfrm>
            <a:off x="566928" y="1298448"/>
            <a:ext cx="11064240" cy="640080"/>
          </a:xfrm>
          <a:prstGeom prst="rect">
            <a:avLst/>
          </a:prstGeom>
          <a:noFill/>
        </p:spPr>
        <p:txBody>
          <a:bodyPr wrap="square" anchor="t" lIns="0" rIns="0" tIns="0" bIns="0">
            <a:spAutoFit/>
          </a:bodyPr>
          <a:lstStyle/>
          <a:p>
            <a:pPr algn="l">
              <a:lnSpc>
                <a:spcPct val="112000"/>
              </a:lnSpc>
              <a:spcBef>
                <a:spcPts val="0"/>
              </a:spcBef>
              <a:spcAft>
                <a:spcPts val="600"/>
              </a:spcAft>
            </a:pPr>
            <a:r>
              <a:rPr sz="2700" b="1" i="0">
                <a:solidFill>
                  <a:srgbClr val="E64415"/>
                </a:solidFill>
                <a:latin typeface="Lato"/>
              </a:rPr>
              <a:t>4   </a:t>
            </a:r>
            <a:r>
              <a:rPr sz="2700" b="1" i="0">
                <a:solidFill>
                  <a:srgbClr val="1A1A1A"/>
                </a:solidFill>
                <a:latin typeface="Lato"/>
              </a:rPr>
              <a:t>The gold standard</a:t>
            </a:r>
          </a:p>
        </p:txBody>
      </p:sp>
      <p:sp>
        <p:nvSpPr>
          <p:cNvPr id="4" name="Rectangle 3"/>
          <p:cNvSpPr/>
          <p:nvPr/>
        </p:nvSpPr>
        <p:spPr>
          <a:xfrm>
            <a:off x="585216" y="1993392"/>
            <a:ext cx="11018520" cy="15240"/>
          </a:xfrm>
          <a:prstGeom prst="rect">
            <a:avLst/>
          </a:prstGeom>
          <a:solidFill>
            <a:srgbClr val="E3E3E3"/>
          </a:solidFill>
          <a:ln>
            <a:noFill/>
          </a:ln>
          <a:effectLst/>
        </p:spPr>
        <p:txBody>
          <a:bodyPr rtlCol="0" anchor="ctr"/>
          <a:lstStyle/>
          <a:p>
            <a:pPr algn="ctr"/>
          </a:p>
        </p:txBody>
      </p:sp>
      <p:sp>
        <p:nvSpPr>
          <p:cNvPr id="5" name="TextBox 4"/>
          <p:cNvSpPr txBox="1"/>
          <p:nvPr/>
        </p:nvSpPr>
        <p:spPr>
          <a:xfrm>
            <a:off x="11430000" y="6437376"/>
            <a:ext cx="640080" cy="274320"/>
          </a:xfrm>
          <a:prstGeom prst="rect">
            <a:avLst/>
          </a:prstGeom>
          <a:noFill/>
        </p:spPr>
        <p:txBody>
          <a:bodyPr wrap="square" anchor="t" lIns="0" rIns="0" tIns="0" bIns="0">
            <a:spAutoFit/>
          </a:bodyPr>
          <a:lstStyle/>
          <a:p>
            <a:pPr algn="r">
              <a:lnSpc>
                <a:spcPct val="112000"/>
              </a:lnSpc>
              <a:spcBef>
                <a:spcPts val="0"/>
              </a:spcBef>
              <a:spcAft>
                <a:spcPts val="600"/>
              </a:spcAft>
            </a:pPr>
            <a:r>
              <a:rPr sz="1000" b="0" i="0">
                <a:solidFill>
                  <a:srgbClr val="BBBBBB"/>
                </a:solidFill>
                <a:latin typeface="Lato"/>
              </a:rPr>
              <a:t>5</a:t>
            </a:r>
          </a:p>
        </p:txBody>
      </p:sp>
      <p:sp>
        <p:nvSpPr>
          <p:cNvPr id="6" name="TextBox 5"/>
          <p:cNvSpPr txBox="1"/>
          <p:nvPr/>
        </p:nvSpPr>
        <p:spPr>
          <a:xfrm>
            <a:off x="566928" y="2286000"/>
            <a:ext cx="6675120" cy="4023360"/>
          </a:xfrm>
          <a:prstGeom prst="rect">
            <a:avLst/>
          </a:prstGeom>
          <a:noFill/>
        </p:spPr>
        <p:txBody>
          <a:bodyPr wrap="square" anchor="t" lIns="0" rIns="0" tIns="0" bIns="0">
            <a:spAutoFit/>
          </a:bodyPr>
          <a:lstStyle/>
          <a:p>
            <a:pPr algn="l">
              <a:lnSpc>
                <a:spcPct val="116000"/>
              </a:lnSpc>
              <a:spcBef>
                <a:spcPts val="0"/>
              </a:spcBef>
              <a:spcAft>
                <a:spcPts val="900"/>
              </a:spcAft>
            </a:pPr>
            <a:r>
              <a:rPr sz="1550" b="1" i="0">
                <a:solidFill>
                  <a:srgbClr val="E64415"/>
                </a:solidFill>
                <a:latin typeface="Lato"/>
              </a:rPr>
              <a:t>•  </a:t>
            </a:r>
            <a:r>
              <a:rPr sz="1550" b="0" i="0">
                <a:solidFill>
                  <a:srgbClr val="1A1A1A"/>
                </a:solidFill>
                <a:latin typeface="Lato"/>
              </a:rPr>
              <a:t>100 passages annotated by hand, yielding 138 triples. Drawn by a seeded stratified sample.</a:t>
            </a:r>
          </a:p>
          <a:p>
            <a:pPr algn="l">
              <a:lnSpc>
                <a:spcPct val="116000"/>
              </a:lnSpc>
              <a:spcBef>
                <a:spcPts val="0"/>
              </a:spcBef>
              <a:spcAft>
                <a:spcPts val="900"/>
              </a:spcAft>
            </a:pPr>
            <a:r>
              <a:rPr sz="1550" b="1" i="0">
                <a:solidFill>
                  <a:srgbClr val="E64415"/>
                </a:solidFill>
                <a:latin typeface="Lato"/>
              </a:rPr>
              <a:t>•  </a:t>
            </a:r>
            <a:r>
              <a:rPr sz="1550" b="0" i="0">
                <a:solidFill>
                  <a:srgbClr val="1A1A1A"/>
                </a:solidFill>
                <a:latin typeface="Lato"/>
              </a:rPr>
              <a:t>90 from the synthesis-flagged pool, plus 10 unflagged controls so the pre-filter's own miss rate is measurable rather than assumed.</a:t>
            </a:r>
          </a:p>
          <a:p>
            <a:pPr algn="l">
              <a:lnSpc>
                <a:spcPct val="116000"/>
              </a:lnSpc>
              <a:spcBef>
                <a:spcPts val="0"/>
              </a:spcBef>
              <a:spcAft>
                <a:spcPts val="900"/>
              </a:spcAft>
            </a:pPr>
            <a:r>
              <a:rPr sz="1550" b="1" i="0">
                <a:solidFill>
                  <a:srgbClr val="E64415"/>
                </a:solidFill>
                <a:latin typeface="Lato"/>
              </a:rPr>
              <a:t>•  </a:t>
            </a:r>
            <a:r>
              <a:rPr sz="1550" b="0" i="0">
                <a:solidFill>
                  <a:srgbClr val="1A1A1A"/>
                </a:solidFill>
                <a:latin typeface="Lato"/>
              </a:rPr>
              <a:t>Annotation used an ontology-constrained interface: an invalid triple cannot be created.</a:t>
            </a:r>
          </a:p>
        </p:txBody>
      </p:sp>
      <p:sp>
        <p:nvSpPr>
          <p:cNvPr id="7" name="Rectangle 6"/>
          <p:cNvSpPr/>
          <p:nvPr/>
        </p:nvSpPr>
        <p:spPr>
          <a:xfrm>
            <a:off x="7452360" y="2286000"/>
            <a:ext cx="4160520" cy="2514600"/>
          </a:xfrm>
          <a:prstGeom prst="rect">
            <a:avLst/>
          </a:prstGeom>
          <a:noFill/>
          <a:ln w="17780">
            <a:solidFill>
              <a:srgbClr val="E64415"/>
            </a:solidFill>
          </a:ln>
          <a:effectLst/>
        </p:spPr>
        <p:txBody>
          <a:bodyPr rtlCol="0" anchor="ctr"/>
          <a:lstStyle/>
          <a:p>
            <a:pPr algn="ctr"/>
          </a:p>
        </p:txBody>
      </p:sp>
      <p:sp>
        <p:nvSpPr>
          <p:cNvPr id="8" name="TextBox 7"/>
          <p:cNvSpPr txBox="1"/>
          <p:nvPr/>
        </p:nvSpPr>
        <p:spPr>
          <a:xfrm>
            <a:off x="7754112" y="2578608"/>
            <a:ext cx="3566160" cy="2011680"/>
          </a:xfrm>
          <a:prstGeom prst="rect">
            <a:avLst/>
          </a:prstGeom>
          <a:noFill/>
        </p:spPr>
        <p:txBody>
          <a:bodyPr wrap="square" anchor="t" lIns="0" rIns="0" tIns="0" bIns="0">
            <a:spAutoFit/>
          </a:bodyPr>
          <a:lstStyle/>
          <a:p>
            <a:pPr algn="l">
              <a:lnSpc>
                <a:spcPct val="120000"/>
              </a:lnSpc>
              <a:spcBef>
                <a:spcPts val="0"/>
              </a:spcBef>
              <a:spcAft>
                <a:spcPts val="800"/>
              </a:spcAft>
            </a:pPr>
            <a:r>
              <a:rPr sz="1300" b="1" i="0">
                <a:solidFill>
                  <a:srgbClr val="E64415"/>
                </a:solidFill>
                <a:latin typeface="Lato"/>
              </a:rPr>
              <a:t>Why it was not pre-filled by a model</a:t>
            </a:r>
          </a:p>
          <a:p>
            <a:pPr algn="l">
              <a:lnSpc>
                <a:spcPct val="120000"/>
              </a:lnSpc>
              <a:spcBef>
                <a:spcPts val="0"/>
              </a:spcBef>
              <a:spcAft>
                <a:spcPts val="800"/>
              </a:spcAft>
            </a:pPr>
            <a:r>
              <a:rPr sz="1350" b="0" i="0">
                <a:solidFill>
                  <a:srgbClr val="1A1A1A"/>
                </a:solidFill>
                <a:latin typeface="Lato"/>
              </a:rPr>
              <a:t>The gold standard is the instrument the models are measured against. Generating it with a language model would make the evaluation circular: any error the models share would score as correct.</a:t>
            </a:r>
          </a:p>
        </p:txBody>
      </p:sp>
      <p:sp>
        <p:nvSpPr>
          <p:cNvPr id="9" name="TextBox 8"/>
          <p:cNvSpPr txBox="1"/>
          <p:nvPr/>
        </p:nvSpPr>
        <p:spPr>
          <a:xfrm>
            <a:off x="566928" y="5257800"/>
            <a:ext cx="2651760" cy="548640"/>
          </a:xfrm>
          <a:prstGeom prst="rect">
            <a:avLst/>
          </a:prstGeom>
          <a:noFill/>
        </p:spPr>
        <p:txBody>
          <a:bodyPr wrap="square" anchor="t" lIns="0" rIns="0" tIns="0" bIns="0">
            <a:spAutoFit/>
          </a:bodyPr>
          <a:lstStyle/>
          <a:p>
            <a:pPr algn="l">
              <a:lnSpc>
                <a:spcPct val="112000"/>
              </a:lnSpc>
              <a:spcBef>
                <a:spcPts val="0"/>
              </a:spcBef>
              <a:spcAft>
                <a:spcPts val="600"/>
              </a:spcAft>
            </a:pPr>
            <a:r>
              <a:rPr sz="3300" b="1" i="0">
                <a:solidFill>
                  <a:srgbClr val="E64415"/>
                </a:solidFill>
                <a:latin typeface="Lato"/>
              </a:rPr>
              <a:t>399</a:t>
            </a:r>
          </a:p>
        </p:txBody>
      </p:sp>
      <p:sp>
        <p:nvSpPr>
          <p:cNvPr id="10" name="TextBox 9"/>
          <p:cNvSpPr txBox="1"/>
          <p:nvPr/>
        </p:nvSpPr>
        <p:spPr>
          <a:xfrm>
            <a:off x="566928" y="5824728"/>
            <a:ext cx="2651760" cy="457200"/>
          </a:xfrm>
          <a:prstGeom prst="rect">
            <a:avLst/>
          </a:prstGeom>
          <a:noFill/>
        </p:spPr>
        <p:txBody>
          <a:bodyPr wrap="square" anchor="t" lIns="0" rIns="0" tIns="0" bIns="0">
            <a:spAutoFit/>
          </a:bodyPr>
          <a:lstStyle/>
          <a:p>
            <a:pPr algn="l">
              <a:lnSpc>
                <a:spcPct val="110000"/>
              </a:lnSpc>
              <a:spcBef>
                <a:spcPts val="0"/>
              </a:spcBef>
              <a:spcAft>
                <a:spcPts val="600"/>
              </a:spcAft>
            </a:pPr>
            <a:r>
              <a:rPr sz="1250" b="0" i="0">
                <a:solidFill>
                  <a:srgbClr val="555555"/>
                </a:solidFill>
                <a:latin typeface="Lato"/>
              </a:rPr>
              <a:t>papers collected</a:t>
            </a:r>
          </a:p>
        </p:txBody>
      </p:sp>
      <p:sp>
        <p:nvSpPr>
          <p:cNvPr id="11" name="TextBox 10"/>
          <p:cNvSpPr txBox="1"/>
          <p:nvPr/>
        </p:nvSpPr>
        <p:spPr>
          <a:xfrm>
            <a:off x="3328416" y="5257800"/>
            <a:ext cx="2651760" cy="548640"/>
          </a:xfrm>
          <a:prstGeom prst="rect">
            <a:avLst/>
          </a:prstGeom>
          <a:noFill/>
        </p:spPr>
        <p:txBody>
          <a:bodyPr wrap="square" anchor="t" lIns="0" rIns="0" tIns="0" bIns="0">
            <a:spAutoFit/>
          </a:bodyPr>
          <a:lstStyle/>
          <a:p>
            <a:pPr algn="l">
              <a:lnSpc>
                <a:spcPct val="112000"/>
              </a:lnSpc>
              <a:spcBef>
                <a:spcPts val="0"/>
              </a:spcBef>
              <a:spcAft>
                <a:spcPts val="600"/>
              </a:spcAft>
            </a:pPr>
            <a:r>
              <a:rPr sz="3300" b="1" i="0">
                <a:solidFill>
                  <a:srgbClr val="E64415"/>
                </a:solidFill>
                <a:latin typeface="Lato"/>
              </a:rPr>
              <a:t>22,086</a:t>
            </a:r>
          </a:p>
        </p:txBody>
      </p:sp>
      <p:sp>
        <p:nvSpPr>
          <p:cNvPr id="12" name="TextBox 11"/>
          <p:cNvSpPr txBox="1"/>
          <p:nvPr/>
        </p:nvSpPr>
        <p:spPr>
          <a:xfrm>
            <a:off x="3328416" y="5824728"/>
            <a:ext cx="2651760" cy="457200"/>
          </a:xfrm>
          <a:prstGeom prst="rect">
            <a:avLst/>
          </a:prstGeom>
          <a:noFill/>
        </p:spPr>
        <p:txBody>
          <a:bodyPr wrap="square" anchor="t" lIns="0" rIns="0" tIns="0" bIns="0">
            <a:spAutoFit/>
          </a:bodyPr>
          <a:lstStyle/>
          <a:p>
            <a:pPr algn="l">
              <a:lnSpc>
                <a:spcPct val="110000"/>
              </a:lnSpc>
              <a:spcBef>
                <a:spcPts val="0"/>
              </a:spcBef>
              <a:spcAft>
                <a:spcPts val="600"/>
              </a:spcAft>
            </a:pPr>
            <a:r>
              <a:rPr sz="1250" b="0" i="0">
                <a:solidFill>
                  <a:srgbClr val="555555"/>
                </a:solidFill>
                <a:latin typeface="Lato"/>
              </a:rPr>
              <a:t>passages segmented</a:t>
            </a:r>
          </a:p>
        </p:txBody>
      </p:sp>
      <p:sp>
        <p:nvSpPr>
          <p:cNvPr id="13" name="TextBox 12"/>
          <p:cNvSpPr txBox="1"/>
          <p:nvPr/>
        </p:nvSpPr>
        <p:spPr>
          <a:xfrm>
            <a:off x="6089904" y="5257800"/>
            <a:ext cx="2651760" cy="548640"/>
          </a:xfrm>
          <a:prstGeom prst="rect">
            <a:avLst/>
          </a:prstGeom>
          <a:noFill/>
        </p:spPr>
        <p:txBody>
          <a:bodyPr wrap="square" anchor="t" lIns="0" rIns="0" tIns="0" bIns="0">
            <a:spAutoFit/>
          </a:bodyPr>
          <a:lstStyle/>
          <a:p>
            <a:pPr algn="l">
              <a:lnSpc>
                <a:spcPct val="112000"/>
              </a:lnSpc>
              <a:spcBef>
                <a:spcPts val="0"/>
              </a:spcBef>
              <a:spcAft>
                <a:spcPts val="600"/>
              </a:spcAft>
            </a:pPr>
            <a:r>
              <a:rPr sz="3300" b="1" i="0">
                <a:solidFill>
                  <a:srgbClr val="E64415"/>
                </a:solidFill>
                <a:latin typeface="Lato"/>
              </a:rPr>
              <a:t>794</a:t>
            </a:r>
          </a:p>
        </p:txBody>
      </p:sp>
      <p:sp>
        <p:nvSpPr>
          <p:cNvPr id="14" name="TextBox 13"/>
          <p:cNvSpPr txBox="1"/>
          <p:nvPr/>
        </p:nvSpPr>
        <p:spPr>
          <a:xfrm>
            <a:off x="6089904" y="5824728"/>
            <a:ext cx="2651760" cy="457200"/>
          </a:xfrm>
          <a:prstGeom prst="rect">
            <a:avLst/>
          </a:prstGeom>
          <a:noFill/>
        </p:spPr>
        <p:txBody>
          <a:bodyPr wrap="square" anchor="t" lIns="0" rIns="0" tIns="0" bIns="0">
            <a:spAutoFit/>
          </a:bodyPr>
          <a:lstStyle/>
          <a:p>
            <a:pPr algn="l">
              <a:lnSpc>
                <a:spcPct val="110000"/>
              </a:lnSpc>
              <a:spcBef>
                <a:spcPts val="0"/>
              </a:spcBef>
              <a:spcAft>
                <a:spcPts val="600"/>
              </a:spcAft>
            </a:pPr>
            <a:r>
              <a:rPr sz="1250" b="0" i="0">
                <a:solidFill>
                  <a:srgbClr val="555555"/>
                </a:solidFill>
                <a:latin typeface="Lato"/>
              </a:rPr>
              <a:t>flagged as synthesis</a:t>
            </a:r>
          </a:p>
        </p:txBody>
      </p:sp>
      <p:sp>
        <p:nvSpPr>
          <p:cNvPr id="15" name="TextBox 14"/>
          <p:cNvSpPr txBox="1"/>
          <p:nvPr/>
        </p:nvSpPr>
        <p:spPr>
          <a:xfrm>
            <a:off x="8851392" y="5257800"/>
            <a:ext cx="2651760" cy="548640"/>
          </a:xfrm>
          <a:prstGeom prst="rect">
            <a:avLst/>
          </a:prstGeom>
          <a:noFill/>
        </p:spPr>
        <p:txBody>
          <a:bodyPr wrap="square" anchor="t" lIns="0" rIns="0" tIns="0" bIns="0">
            <a:spAutoFit/>
          </a:bodyPr>
          <a:lstStyle/>
          <a:p>
            <a:pPr algn="l">
              <a:lnSpc>
                <a:spcPct val="112000"/>
              </a:lnSpc>
              <a:spcBef>
                <a:spcPts val="0"/>
              </a:spcBef>
              <a:spcAft>
                <a:spcPts val="600"/>
              </a:spcAft>
            </a:pPr>
            <a:r>
              <a:rPr sz="3300" b="1" i="0">
                <a:solidFill>
                  <a:srgbClr val="E64415"/>
                </a:solidFill>
                <a:latin typeface="Lato"/>
              </a:rPr>
              <a:t>138</a:t>
            </a:r>
          </a:p>
        </p:txBody>
      </p:sp>
      <p:sp>
        <p:nvSpPr>
          <p:cNvPr id="16" name="TextBox 15"/>
          <p:cNvSpPr txBox="1"/>
          <p:nvPr/>
        </p:nvSpPr>
        <p:spPr>
          <a:xfrm>
            <a:off x="8851392" y="5824728"/>
            <a:ext cx="2651760" cy="457200"/>
          </a:xfrm>
          <a:prstGeom prst="rect">
            <a:avLst/>
          </a:prstGeom>
          <a:noFill/>
        </p:spPr>
        <p:txBody>
          <a:bodyPr wrap="square" anchor="t" lIns="0" rIns="0" tIns="0" bIns="0">
            <a:spAutoFit/>
          </a:bodyPr>
          <a:lstStyle/>
          <a:p>
            <a:pPr algn="l">
              <a:lnSpc>
                <a:spcPct val="110000"/>
              </a:lnSpc>
              <a:spcBef>
                <a:spcPts val="0"/>
              </a:spcBef>
              <a:spcAft>
                <a:spcPts val="600"/>
              </a:spcAft>
            </a:pPr>
            <a:r>
              <a:rPr sz="1250" b="0" i="0">
                <a:solidFill>
                  <a:srgbClr val="555555"/>
                </a:solidFill>
                <a:latin typeface="Lato"/>
              </a:rPr>
              <a:t>triples, annotated by hand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48640" y="420624"/>
            <a:ext cx="868680" cy="671720"/>
          </a:xfrm>
          <a:prstGeom prst="rect">
            <a:avLst/>
          </a:prstGeom>
        </p:spPr>
      </p:pic>
      <p:sp>
        <p:nvSpPr>
          <p:cNvPr id="3" name="TextBox 2"/>
          <p:cNvSpPr txBox="1"/>
          <p:nvPr/>
        </p:nvSpPr>
        <p:spPr>
          <a:xfrm>
            <a:off x="566928" y="1298448"/>
            <a:ext cx="11064240" cy="640080"/>
          </a:xfrm>
          <a:prstGeom prst="rect">
            <a:avLst/>
          </a:prstGeom>
          <a:noFill/>
        </p:spPr>
        <p:txBody>
          <a:bodyPr wrap="square" anchor="t" lIns="0" rIns="0" tIns="0" bIns="0">
            <a:spAutoFit/>
          </a:bodyPr>
          <a:lstStyle/>
          <a:p>
            <a:pPr algn="l">
              <a:lnSpc>
                <a:spcPct val="112000"/>
              </a:lnSpc>
              <a:spcBef>
                <a:spcPts val="0"/>
              </a:spcBef>
              <a:spcAft>
                <a:spcPts val="600"/>
              </a:spcAft>
            </a:pPr>
            <a:r>
              <a:rPr sz="2700" b="1" i="0">
                <a:solidFill>
                  <a:srgbClr val="E64415"/>
                </a:solidFill>
                <a:latin typeface="Lato"/>
              </a:rPr>
              <a:t>5   </a:t>
            </a:r>
            <a:r>
              <a:rPr sz="2700" b="1" i="0">
                <a:solidFill>
                  <a:srgbClr val="1A1A1A"/>
                </a:solidFill>
                <a:latin typeface="Lato"/>
              </a:rPr>
              <a:t>How accuracy was measured</a:t>
            </a:r>
          </a:p>
        </p:txBody>
      </p:sp>
      <p:sp>
        <p:nvSpPr>
          <p:cNvPr id="4" name="Rectangle 3"/>
          <p:cNvSpPr/>
          <p:nvPr/>
        </p:nvSpPr>
        <p:spPr>
          <a:xfrm>
            <a:off x="585216" y="1993392"/>
            <a:ext cx="11018520" cy="15240"/>
          </a:xfrm>
          <a:prstGeom prst="rect">
            <a:avLst/>
          </a:prstGeom>
          <a:solidFill>
            <a:srgbClr val="E3E3E3"/>
          </a:solidFill>
          <a:ln>
            <a:noFill/>
          </a:ln>
          <a:effectLst/>
        </p:spPr>
        <p:txBody>
          <a:bodyPr rtlCol="0" anchor="ctr"/>
          <a:lstStyle/>
          <a:p>
            <a:pPr algn="ctr"/>
          </a:p>
        </p:txBody>
      </p:sp>
      <p:sp>
        <p:nvSpPr>
          <p:cNvPr id="5" name="TextBox 4"/>
          <p:cNvSpPr txBox="1"/>
          <p:nvPr/>
        </p:nvSpPr>
        <p:spPr>
          <a:xfrm>
            <a:off x="11430000" y="6437376"/>
            <a:ext cx="640080" cy="274320"/>
          </a:xfrm>
          <a:prstGeom prst="rect">
            <a:avLst/>
          </a:prstGeom>
          <a:noFill/>
        </p:spPr>
        <p:txBody>
          <a:bodyPr wrap="square" anchor="t" lIns="0" rIns="0" tIns="0" bIns="0">
            <a:spAutoFit/>
          </a:bodyPr>
          <a:lstStyle/>
          <a:p>
            <a:pPr algn="r">
              <a:lnSpc>
                <a:spcPct val="112000"/>
              </a:lnSpc>
              <a:spcBef>
                <a:spcPts val="0"/>
              </a:spcBef>
              <a:spcAft>
                <a:spcPts val="600"/>
              </a:spcAft>
            </a:pPr>
            <a:r>
              <a:rPr sz="1000" b="0" i="0">
                <a:solidFill>
                  <a:srgbClr val="BBBBBB"/>
                </a:solidFill>
                <a:latin typeface="Lato"/>
              </a:rPr>
              <a:t>6</a:t>
            </a:r>
          </a:p>
        </p:txBody>
      </p:sp>
      <p:pic>
        <p:nvPicPr>
          <p:cNvPr id="6" name="Picture 5" descr="ontology_schema.png"/>
          <p:cNvPicPr>
            <a:picLocks noChangeAspect="1"/>
          </p:cNvPicPr>
          <p:nvPr/>
        </p:nvPicPr>
        <p:blipFill>
          <a:blip r:embed="rId3"/>
          <a:stretch>
            <a:fillRect/>
          </a:stretch>
        </p:blipFill>
        <p:spPr>
          <a:xfrm>
            <a:off x="3791039" y="2194560"/>
            <a:ext cx="4609617" cy="2880360"/>
          </a:xfrm>
          <a:prstGeom prst="rect">
            <a:avLst/>
          </a:prstGeom>
        </p:spPr>
      </p:pic>
      <p:sp>
        <p:nvSpPr>
          <p:cNvPr id="7" name="TextBox 6"/>
          <p:cNvSpPr txBox="1"/>
          <p:nvPr/>
        </p:nvSpPr>
        <p:spPr>
          <a:xfrm>
            <a:off x="566928" y="5349240"/>
            <a:ext cx="10972800" cy="4023360"/>
          </a:xfrm>
          <a:prstGeom prst="rect">
            <a:avLst/>
          </a:prstGeom>
          <a:noFill/>
        </p:spPr>
        <p:txBody>
          <a:bodyPr wrap="square" anchor="t" lIns="0" rIns="0" tIns="0" bIns="0">
            <a:spAutoFit/>
          </a:bodyPr>
          <a:lstStyle/>
          <a:p>
            <a:pPr algn="l">
              <a:lnSpc>
                <a:spcPct val="116000"/>
              </a:lnSpc>
              <a:spcBef>
                <a:spcPts val="0"/>
              </a:spcBef>
              <a:spcAft>
                <a:spcPts val="600"/>
              </a:spcAft>
            </a:pPr>
            <a:r>
              <a:rPr sz="1350" b="1" i="0">
                <a:solidFill>
                  <a:srgbClr val="E64415"/>
                </a:solidFill>
                <a:latin typeface="Lato"/>
              </a:rPr>
              <a:t>•  </a:t>
            </a:r>
            <a:r>
              <a:rPr sz="1350" b="0" i="0">
                <a:solidFill>
                  <a:srgbClr val="1A1A1A"/>
                </a:solidFill>
                <a:latin typeface="Lato"/>
              </a:rPr>
              <a:t>Matching is per passage and per relation, greedy one-to-one, so no gold triple is credited twice and nothing matches across passages.</a:t>
            </a:r>
          </a:p>
          <a:p>
            <a:pPr algn="l">
              <a:lnSpc>
                <a:spcPct val="116000"/>
              </a:lnSpc>
              <a:spcBef>
                <a:spcPts val="0"/>
              </a:spcBef>
              <a:spcAft>
                <a:spcPts val="600"/>
              </a:spcAft>
            </a:pPr>
            <a:r>
              <a:rPr sz="1350" b="1" i="0">
                <a:solidFill>
                  <a:srgbClr val="E64415"/>
                </a:solidFill>
                <a:latin typeface="Lato"/>
              </a:rPr>
              <a:t>•  </a:t>
            </a:r>
            <a:r>
              <a:rPr sz="1350" b="0" i="0">
                <a:solidFill>
                  <a:srgbClr val="1A1A1A"/>
                </a:solidFill>
                <a:latin typeface="Lato"/>
              </a:rPr>
              <a:t>One concession is declared: IN_SOLVENT and AT_CONDITION are scored on the object alone, because an annotation-tool defect left the MOF name in the subject slot.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48640" y="420624"/>
            <a:ext cx="868680" cy="671720"/>
          </a:xfrm>
          <a:prstGeom prst="rect">
            <a:avLst/>
          </a:prstGeom>
        </p:spPr>
      </p:pic>
      <p:sp>
        <p:nvSpPr>
          <p:cNvPr id="3" name="TextBox 2"/>
          <p:cNvSpPr txBox="1"/>
          <p:nvPr/>
        </p:nvSpPr>
        <p:spPr>
          <a:xfrm>
            <a:off x="566928" y="1298448"/>
            <a:ext cx="11064240" cy="640080"/>
          </a:xfrm>
          <a:prstGeom prst="rect">
            <a:avLst/>
          </a:prstGeom>
          <a:noFill/>
        </p:spPr>
        <p:txBody>
          <a:bodyPr wrap="square" anchor="t" lIns="0" rIns="0" tIns="0" bIns="0">
            <a:spAutoFit/>
          </a:bodyPr>
          <a:lstStyle/>
          <a:p>
            <a:pPr algn="l">
              <a:lnSpc>
                <a:spcPct val="112000"/>
              </a:lnSpc>
              <a:spcBef>
                <a:spcPts val="0"/>
              </a:spcBef>
              <a:spcAft>
                <a:spcPts val="600"/>
              </a:spcAft>
            </a:pPr>
            <a:r>
              <a:rPr sz="2700" b="1" i="0">
                <a:solidFill>
                  <a:srgbClr val="E64415"/>
                </a:solidFill>
                <a:latin typeface="Lato"/>
              </a:rPr>
              <a:t>6   </a:t>
            </a:r>
            <a:r>
              <a:rPr sz="2700" b="1" i="0">
                <a:solidFill>
                  <a:srgbClr val="1A1A1A"/>
                </a:solidFill>
                <a:latin typeface="Lato"/>
              </a:rPr>
              <a:t>Results: ten configurations, 3.06 USD</a:t>
            </a:r>
          </a:p>
        </p:txBody>
      </p:sp>
      <p:sp>
        <p:nvSpPr>
          <p:cNvPr id="4" name="Rectangle 3"/>
          <p:cNvSpPr/>
          <p:nvPr/>
        </p:nvSpPr>
        <p:spPr>
          <a:xfrm>
            <a:off x="585216" y="1993392"/>
            <a:ext cx="11018520" cy="15240"/>
          </a:xfrm>
          <a:prstGeom prst="rect">
            <a:avLst/>
          </a:prstGeom>
          <a:solidFill>
            <a:srgbClr val="E3E3E3"/>
          </a:solidFill>
          <a:ln>
            <a:noFill/>
          </a:ln>
          <a:effectLst/>
        </p:spPr>
        <p:txBody>
          <a:bodyPr rtlCol="0" anchor="ctr"/>
          <a:lstStyle/>
          <a:p>
            <a:pPr algn="ctr"/>
          </a:p>
        </p:txBody>
      </p:sp>
      <p:sp>
        <p:nvSpPr>
          <p:cNvPr id="5" name="TextBox 4"/>
          <p:cNvSpPr txBox="1"/>
          <p:nvPr/>
        </p:nvSpPr>
        <p:spPr>
          <a:xfrm>
            <a:off x="11430000" y="6437376"/>
            <a:ext cx="640080" cy="274320"/>
          </a:xfrm>
          <a:prstGeom prst="rect">
            <a:avLst/>
          </a:prstGeom>
          <a:noFill/>
        </p:spPr>
        <p:txBody>
          <a:bodyPr wrap="square" anchor="t" lIns="0" rIns="0" tIns="0" bIns="0">
            <a:spAutoFit/>
          </a:bodyPr>
          <a:lstStyle/>
          <a:p>
            <a:pPr algn="r">
              <a:lnSpc>
                <a:spcPct val="112000"/>
              </a:lnSpc>
              <a:spcBef>
                <a:spcPts val="0"/>
              </a:spcBef>
              <a:spcAft>
                <a:spcPts val="600"/>
              </a:spcAft>
            </a:pPr>
            <a:r>
              <a:rPr sz="1000" b="0" i="0">
                <a:solidFill>
                  <a:srgbClr val="BBBBBB"/>
                </a:solidFill>
                <a:latin typeface="Lato"/>
              </a:rPr>
              <a:t>7</a:t>
            </a:r>
          </a:p>
        </p:txBody>
      </p:sp>
      <p:pic>
        <p:nvPicPr>
          <p:cNvPr id="6" name="Picture 5" descr="fig1_cost_vs_f1.png"/>
          <p:cNvPicPr>
            <a:picLocks noChangeAspect="1"/>
          </p:cNvPicPr>
          <p:nvPr/>
        </p:nvPicPr>
        <p:blipFill>
          <a:blip r:embed="rId3"/>
          <a:stretch>
            <a:fillRect/>
          </a:stretch>
        </p:blipFill>
        <p:spPr>
          <a:xfrm>
            <a:off x="3620066" y="2240280"/>
            <a:ext cx="4951562" cy="3200400"/>
          </a:xfrm>
          <a:prstGeom prst="rect">
            <a:avLst/>
          </a:prstGeom>
        </p:spPr>
      </p:pic>
      <p:sp>
        <p:nvSpPr>
          <p:cNvPr id="7" name="TextBox 6"/>
          <p:cNvSpPr txBox="1"/>
          <p:nvPr/>
        </p:nvSpPr>
        <p:spPr>
          <a:xfrm>
            <a:off x="566928" y="5577840"/>
            <a:ext cx="10972800" cy="4023360"/>
          </a:xfrm>
          <a:prstGeom prst="rect">
            <a:avLst/>
          </a:prstGeom>
          <a:noFill/>
        </p:spPr>
        <p:txBody>
          <a:bodyPr wrap="square" anchor="t" lIns="0" rIns="0" tIns="0" bIns="0">
            <a:spAutoFit/>
          </a:bodyPr>
          <a:lstStyle/>
          <a:p>
            <a:pPr algn="l">
              <a:lnSpc>
                <a:spcPct val="116000"/>
              </a:lnSpc>
              <a:spcBef>
                <a:spcPts val="0"/>
              </a:spcBef>
              <a:spcAft>
                <a:spcPts val="500"/>
              </a:spcAft>
            </a:pPr>
            <a:r>
              <a:rPr sz="1350" b="1" i="0">
                <a:solidFill>
                  <a:srgbClr val="E64415"/>
                </a:solidFill>
                <a:latin typeface="Lato"/>
              </a:rPr>
              <a:t>•  </a:t>
            </a:r>
            <a:r>
              <a:rPr sz="1350" b="0" i="0">
                <a:solidFill>
                  <a:srgbClr val="1A1A1A"/>
                </a:solidFill>
                <a:latin typeface="Lato"/>
              </a:rPr>
              <a:t>Every language-model configuration beats the rule-based baseline. The weakest scores 0.191 against the baseline's 0.112.</a:t>
            </a:r>
          </a:p>
          <a:p>
            <a:pPr algn="l">
              <a:lnSpc>
                <a:spcPct val="116000"/>
              </a:lnSpc>
              <a:spcBef>
                <a:spcPts val="0"/>
              </a:spcBef>
              <a:spcAft>
                <a:spcPts val="500"/>
              </a:spcAft>
            </a:pPr>
            <a:r>
              <a:rPr sz="1350" b="1" i="0">
                <a:solidFill>
                  <a:srgbClr val="E64415"/>
                </a:solidFill>
                <a:latin typeface="Lato"/>
              </a:rPr>
              <a:t>•  </a:t>
            </a:r>
            <a:r>
              <a:rPr sz="1350" b="0" i="0">
                <a:solidFill>
                  <a:srgbClr val="1A1A1A"/>
                </a:solidFill>
                <a:latin typeface="Lato"/>
              </a:rPr>
              <a:t>The strongest configuration is also among the cheapest.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48640" y="420624"/>
            <a:ext cx="868680" cy="671720"/>
          </a:xfrm>
          <a:prstGeom prst="rect">
            <a:avLst/>
          </a:prstGeom>
        </p:spPr>
      </p:pic>
      <p:sp>
        <p:nvSpPr>
          <p:cNvPr id="3" name="TextBox 2"/>
          <p:cNvSpPr txBox="1"/>
          <p:nvPr/>
        </p:nvSpPr>
        <p:spPr>
          <a:xfrm>
            <a:off x="566928" y="1298448"/>
            <a:ext cx="11064240" cy="640080"/>
          </a:xfrm>
          <a:prstGeom prst="rect">
            <a:avLst/>
          </a:prstGeom>
          <a:noFill/>
        </p:spPr>
        <p:txBody>
          <a:bodyPr wrap="square" anchor="t" lIns="0" rIns="0" tIns="0" bIns="0">
            <a:spAutoFit/>
          </a:bodyPr>
          <a:lstStyle/>
          <a:p>
            <a:pPr algn="l">
              <a:lnSpc>
                <a:spcPct val="112000"/>
              </a:lnSpc>
              <a:spcBef>
                <a:spcPts val="0"/>
              </a:spcBef>
              <a:spcAft>
                <a:spcPts val="600"/>
              </a:spcAft>
            </a:pPr>
            <a:r>
              <a:rPr sz="2700" b="1" i="0">
                <a:solidFill>
                  <a:srgbClr val="E64415"/>
                </a:solidFill>
                <a:latin typeface="Lato"/>
              </a:rPr>
              <a:t>7   </a:t>
            </a:r>
            <a:r>
              <a:rPr sz="2700" b="1" i="0">
                <a:solidFill>
                  <a:srgbClr val="1A1A1A"/>
                </a:solidFill>
                <a:latin typeface="Lato"/>
              </a:rPr>
              <a:t>Per field, and a pre-registered prediction</a:t>
            </a:r>
          </a:p>
        </p:txBody>
      </p:sp>
      <p:sp>
        <p:nvSpPr>
          <p:cNvPr id="4" name="Rectangle 3"/>
          <p:cNvSpPr/>
          <p:nvPr/>
        </p:nvSpPr>
        <p:spPr>
          <a:xfrm>
            <a:off x="585216" y="1993392"/>
            <a:ext cx="11018520" cy="15240"/>
          </a:xfrm>
          <a:prstGeom prst="rect">
            <a:avLst/>
          </a:prstGeom>
          <a:solidFill>
            <a:srgbClr val="E3E3E3"/>
          </a:solidFill>
          <a:ln>
            <a:noFill/>
          </a:ln>
          <a:effectLst/>
        </p:spPr>
        <p:txBody>
          <a:bodyPr rtlCol="0" anchor="ctr"/>
          <a:lstStyle/>
          <a:p>
            <a:pPr algn="ctr"/>
          </a:p>
        </p:txBody>
      </p:sp>
      <p:sp>
        <p:nvSpPr>
          <p:cNvPr id="5" name="TextBox 4"/>
          <p:cNvSpPr txBox="1"/>
          <p:nvPr/>
        </p:nvSpPr>
        <p:spPr>
          <a:xfrm>
            <a:off x="11430000" y="6437376"/>
            <a:ext cx="640080" cy="274320"/>
          </a:xfrm>
          <a:prstGeom prst="rect">
            <a:avLst/>
          </a:prstGeom>
          <a:noFill/>
        </p:spPr>
        <p:txBody>
          <a:bodyPr wrap="square" anchor="t" lIns="0" rIns="0" tIns="0" bIns="0">
            <a:spAutoFit/>
          </a:bodyPr>
          <a:lstStyle/>
          <a:p>
            <a:pPr algn="r">
              <a:lnSpc>
                <a:spcPct val="112000"/>
              </a:lnSpc>
              <a:spcBef>
                <a:spcPts val="0"/>
              </a:spcBef>
              <a:spcAft>
                <a:spcPts val="600"/>
              </a:spcAft>
            </a:pPr>
            <a:r>
              <a:rPr sz="1000" b="0" i="0">
                <a:solidFill>
                  <a:srgbClr val="BBBBBB"/>
                </a:solidFill>
                <a:latin typeface="Lato"/>
              </a:rPr>
              <a:t>8</a:t>
            </a:r>
          </a:p>
        </p:txBody>
      </p:sp>
      <p:pic>
        <p:nvPicPr>
          <p:cNvPr id="6" name="Picture 5" descr="fig2_per_field_f1.png"/>
          <p:cNvPicPr>
            <a:picLocks noChangeAspect="1"/>
          </p:cNvPicPr>
          <p:nvPr/>
        </p:nvPicPr>
        <p:blipFill>
          <a:blip r:embed="rId3"/>
          <a:stretch>
            <a:fillRect/>
          </a:stretch>
        </p:blipFill>
        <p:spPr>
          <a:xfrm>
            <a:off x="566928" y="2240280"/>
            <a:ext cx="4950798" cy="3017520"/>
          </a:xfrm>
          <a:prstGeom prst="rect">
            <a:avLst/>
          </a:prstGeom>
        </p:spPr>
      </p:pic>
      <p:sp>
        <p:nvSpPr>
          <p:cNvPr id="7" name="Rectangle 6"/>
          <p:cNvSpPr/>
          <p:nvPr/>
        </p:nvSpPr>
        <p:spPr>
          <a:xfrm>
            <a:off x="6903720" y="2286000"/>
            <a:ext cx="4709160" cy="2971800"/>
          </a:xfrm>
          <a:prstGeom prst="rect">
            <a:avLst/>
          </a:prstGeom>
          <a:solidFill>
            <a:srgbClr val="FAF6F4"/>
          </a:solidFill>
          <a:ln>
            <a:noFill/>
          </a:ln>
          <a:effectLst/>
        </p:spPr>
        <p:txBody>
          <a:bodyPr rtlCol="0" anchor="ctr"/>
          <a:lstStyle/>
          <a:p>
            <a:pPr algn="ctr"/>
          </a:p>
        </p:txBody>
      </p:sp>
      <p:sp>
        <p:nvSpPr>
          <p:cNvPr id="8" name="TextBox 7"/>
          <p:cNvSpPr txBox="1"/>
          <p:nvPr/>
        </p:nvSpPr>
        <p:spPr>
          <a:xfrm>
            <a:off x="7223760" y="2542032"/>
            <a:ext cx="4114800" cy="2468880"/>
          </a:xfrm>
          <a:prstGeom prst="rect">
            <a:avLst/>
          </a:prstGeom>
          <a:noFill/>
        </p:spPr>
        <p:txBody>
          <a:bodyPr wrap="square" anchor="t" lIns="0" rIns="0" tIns="0" bIns="0">
            <a:spAutoFit/>
          </a:bodyPr>
          <a:lstStyle/>
          <a:p>
            <a:pPr algn="l">
              <a:lnSpc>
                <a:spcPct val="120000"/>
              </a:lnSpc>
              <a:spcBef>
                <a:spcPts val="0"/>
              </a:spcBef>
              <a:spcAft>
                <a:spcPts val="900"/>
              </a:spcAft>
            </a:pPr>
            <a:r>
              <a:rPr sz="1300" b="1" i="0">
                <a:solidFill>
                  <a:srgbClr val="E64415"/>
                </a:solidFill>
                <a:latin typeface="Lato"/>
              </a:rPr>
              <a:t>Committed 23 August, before any results existed</a:t>
            </a:r>
          </a:p>
          <a:p>
            <a:pPr algn="l">
              <a:lnSpc>
                <a:spcPct val="120000"/>
              </a:lnSpc>
              <a:spcBef>
                <a:spcPts val="0"/>
              </a:spcBef>
              <a:spcAft>
                <a:spcPts val="900"/>
              </a:spcAft>
            </a:pPr>
            <a:r>
              <a:rPr sz="1300" b="0" i="1">
                <a:solidFill>
                  <a:srgbClr val="1A1A1A"/>
                </a:solidFill>
                <a:latin typeface="Lato"/>
              </a:rPr>
              <a:t>“The LLM margin should be largest on USES_PRECURSOR, USES_LINKER and SYNTHESIZED_BY, and smallest on AT_CONDITION and IN_SOLVENT.”</a:t>
            </a:r>
          </a:p>
          <a:p>
            <a:pPr algn="l">
              <a:lnSpc>
                <a:spcPct val="120000"/>
              </a:lnSpc>
              <a:spcBef>
                <a:spcPts val="0"/>
              </a:spcBef>
              <a:spcAft>
                <a:spcPts val="900"/>
              </a:spcAft>
            </a:pPr>
            <a:r>
              <a:rPr sz="1300" b="0" i="0">
                <a:solidFill>
                  <a:srgbClr val="1A1A1A"/>
                </a:solidFill>
                <a:latin typeface="Lato"/>
              </a:rPr>
              <a:t>SYNTHESIZED_BY has one gold triple, so it cannot be tested. On the four fields that can: +0.42, +0.31, +0.25, +0.17. Precursor and linker lead, solvent and condition trail, as predicted.</a:t>
            </a:r>
          </a:p>
        </p:txBody>
      </p:sp>
      <p:sp>
        <p:nvSpPr>
          <p:cNvPr id="9" name="TextBox 8"/>
          <p:cNvSpPr txBox="1"/>
          <p:nvPr/>
        </p:nvSpPr>
        <p:spPr>
          <a:xfrm>
            <a:off x="566928" y="5532120"/>
            <a:ext cx="10972800" cy="457200"/>
          </a:xfrm>
          <a:prstGeom prst="rect">
            <a:avLst/>
          </a:prstGeom>
          <a:noFill/>
        </p:spPr>
        <p:txBody>
          <a:bodyPr wrap="square" anchor="t" lIns="0" rIns="0" tIns="0" bIns="0">
            <a:spAutoFit/>
          </a:bodyPr>
          <a:lstStyle/>
          <a:p>
            <a:pPr algn="l">
              <a:lnSpc>
                <a:spcPct val="112000"/>
              </a:lnSpc>
              <a:spcBef>
                <a:spcPts val="0"/>
              </a:spcBef>
              <a:spcAft>
                <a:spcPts val="600"/>
              </a:spcAft>
            </a:pPr>
            <a:r>
              <a:rPr sz="1300" b="0" i="0">
                <a:solidFill>
                  <a:srgbClr val="555555"/>
                </a:solidFill>
                <a:latin typeface="Lato"/>
              </a:rPr>
              <a:t>AT_CONDITION scores measure annotation granularity, not extraction quality, and are excluded from every conclusion. Excluding it, the best configuration averages about 0.53.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48640" y="420624"/>
            <a:ext cx="868680" cy="671720"/>
          </a:xfrm>
          <a:prstGeom prst="rect">
            <a:avLst/>
          </a:prstGeom>
        </p:spPr>
      </p:pic>
      <p:sp>
        <p:nvSpPr>
          <p:cNvPr id="3" name="TextBox 2"/>
          <p:cNvSpPr txBox="1"/>
          <p:nvPr/>
        </p:nvSpPr>
        <p:spPr>
          <a:xfrm>
            <a:off x="566928" y="1298448"/>
            <a:ext cx="11064240" cy="640080"/>
          </a:xfrm>
          <a:prstGeom prst="rect">
            <a:avLst/>
          </a:prstGeom>
          <a:noFill/>
        </p:spPr>
        <p:txBody>
          <a:bodyPr wrap="square" anchor="t" lIns="0" rIns="0" tIns="0" bIns="0">
            <a:spAutoFit/>
          </a:bodyPr>
          <a:lstStyle/>
          <a:p>
            <a:pPr algn="l">
              <a:lnSpc>
                <a:spcPct val="112000"/>
              </a:lnSpc>
              <a:spcBef>
                <a:spcPts val="0"/>
              </a:spcBef>
              <a:spcAft>
                <a:spcPts val="600"/>
              </a:spcAft>
            </a:pPr>
            <a:r>
              <a:rPr sz="2700" b="1" i="0">
                <a:solidFill>
                  <a:srgbClr val="E64415"/>
                </a:solidFill>
                <a:latin typeface="Lato"/>
              </a:rPr>
              <a:t>8   </a:t>
            </a:r>
            <a:r>
              <a:rPr sz="2700" b="1" i="0">
                <a:solidFill>
                  <a:srgbClr val="1A1A1A"/>
                </a:solidFill>
                <a:latin typeface="Lato"/>
              </a:rPr>
              <a:t>The cheap model beat the expensive one</a:t>
            </a:r>
          </a:p>
        </p:txBody>
      </p:sp>
      <p:sp>
        <p:nvSpPr>
          <p:cNvPr id="4" name="Rectangle 3"/>
          <p:cNvSpPr/>
          <p:nvPr/>
        </p:nvSpPr>
        <p:spPr>
          <a:xfrm>
            <a:off x="585216" y="1993392"/>
            <a:ext cx="11018520" cy="15240"/>
          </a:xfrm>
          <a:prstGeom prst="rect">
            <a:avLst/>
          </a:prstGeom>
          <a:solidFill>
            <a:srgbClr val="E3E3E3"/>
          </a:solidFill>
          <a:ln>
            <a:noFill/>
          </a:ln>
          <a:effectLst/>
        </p:spPr>
        <p:txBody>
          <a:bodyPr rtlCol="0" anchor="ctr"/>
          <a:lstStyle/>
          <a:p>
            <a:pPr algn="ctr"/>
          </a:p>
        </p:txBody>
      </p:sp>
      <p:sp>
        <p:nvSpPr>
          <p:cNvPr id="5" name="TextBox 4"/>
          <p:cNvSpPr txBox="1"/>
          <p:nvPr/>
        </p:nvSpPr>
        <p:spPr>
          <a:xfrm>
            <a:off x="11430000" y="6437376"/>
            <a:ext cx="640080" cy="274320"/>
          </a:xfrm>
          <a:prstGeom prst="rect">
            <a:avLst/>
          </a:prstGeom>
          <a:noFill/>
        </p:spPr>
        <p:txBody>
          <a:bodyPr wrap="square" anchor="t" lIns="0" rIns="0" tIns="0" bIns="0">
            <a:spAutoFit/>
          </a:bodyPr>
          <a:lstStyle/>
          <a:p>
            <a:pPr algn="r">
              <a:lnSpc>
                <a:spcPct val="112000"/>
              </a:lnSpc>
              <a:spcBef>
                <a:spcPts val="0"/>
              </a:spcBef>
              <a:spcAft>
                <a:spcPts val="600"/>
              </a:spcAft>
            </a:pPr>
            <a:r>
              <a:rPr sz="1000" b="0" i="0">
                <a:solidFill>
                  <a:srgbClr val="BBBBBB"/>
                </a:solidFill>
                <a:latin typeface="Lato"/>
              </a:rPr>
              <a:t>9</a:t>
            </a:r>
          </a:p>
        </p:txBody>
      </p:sp>
      <p:sp>
        <p:nvSpPr>
          <p:cNvPr id="6" name="TextBox 5"/>
          <p:cNvSpPr txBox="1"/>
          <p:nvPr/>
        </p:nvSpPr>
        <p:spPr>
          <a:xfrm>
            <a:off x="566928" y="2286000"/>
            <a:ext cx="2651760" cy="548640"/>
          </a:xfrm>
          <a:prstGeom prst="rect">
            <a:avLst/>
          </a:prstGeom>
          <a:noFill/>
        </p:spPr>
        <p:txBody>
          <a:bodyPr wrap="square" anchor="t" lIns="0" rIns="0" tIns="0" bIns="0">
            <a:spAutoFit/>
          </a:bodyPr>
          <a:lstStyle/>
          <a:p>
            <a:pPr algn="l">
              <a:lnSpc>
                <a:spcPct val="112000"/>
              </a:lnSpc>
              <a:spcBef>
                <a:spcPts val="0"/>
              </a:spcBef>
              <a:spcAft>
                <a:spcPts val="600"/>
              </a:spcAft>
            </a:pPr>
            <a:r>
              <a:rPr sz="3300" b="1" i="0">
                <a:solidFill>
                  <a:srgbClr val="E64415"/>
                </a:solidFill>
                <a:latin typeface="Lato"/>
              </a:rPr>
              <a:t>0.364</a:t>
            </a:r>
          </a:p>
        </p:txBody>
      </p:sp>
      <p:sp>
        <p:nvSpPr>
          <p:cNvPr id="7" name="TextBox 6"/>
          <p:cNvSpPr txBox="1"/>
          <p:nvPr/>
        </p:nvSpPr>
        <p:spPr>
          <a:xfrm>
            <a:off x="566928" y="2852928"/>
            <a:ext cx="2651760" cy="457200"/>
          </a:xfrm>
          <a:prstGeom prst="rect">
            <a:avLst/>
          </a:prstGeom>
          <a:noFill/>
        </p:spPr>
        <p:txBody>
          <a:bodyPr wrap="square" anchor="t" lIns="0" rIns="0" tIns="0" bIns="0">
            <a:spAutoFit/>
          </a:bodyPr>
          <a:lstStyle/>
          <a:p>
            <a:pPr algn="l">
              <a:lnSpc>
                <a:spcPct val="110000"/>
              </a:lnSpc>
              <a:spcBef>
                <a:spcPts val="0"/>
              </a:spcBef>
              <a:spcAft>
                <a:spcPts val="600"/>
              </a:spcAft>
            </a:pPr>
            <a:r>
              <a:rPr sz="1250" b="0" i="0">
                <a:solidFill>
                  <a:srgbClr val="555555"/>
                </a:solidFill>
                <a:latin typeface="Lato"/>
              </a:rPr>
              <a:t>gpt-4o-mini, schema-guided
0.028 USD</a:t>
            </a:r>
          </a:p>
        </p:txBody>
      </p:sp>
      <p:sp>
        <p:nvSpPr>
          <p:cNvPr id="8" name="TextBox 7"/>
          <p:cNvSpPr txBox="1"/>
          <p:nvPr/>
        </p:nvSpPr>
        <p:spPr>
          <a:xfrm>
            <a:off x="3328416" y="2286000"/>
            <a:ext cx="2651760" cy="548640"/>
          </a:xfrm>
          <a:prstGeom prst="rect">
            <a:avLst/>
          </a:prstGeom>
          <a:noFill/>
        </p:spPr>
        <p:txBody>
          <a:bodyPr wrap="square" anchor="t" lIns="0" rIns="0" tIns="0" bIns="0">
            <a:spAutoFit/>
          </a:bodyPr>
          <a:lstStyle/>
          <a:p>
            <a:pPr algn="l">
              <a:lnSpc>
                <a:spcPct val="112000"/>
              </a:lnSpc>
              <a:spcBef>
                <a:spcPts val="0"/>
              </a:spcBef>
              <a:spcAft>
                <a:spcPts val="600"/>
              </a:spcAft>
            </a:pPr>
            <a:r>
              <a:rPr sz="3300" b="1" i="0">
                <a:solidFill>
                  <a:srgbClr val="E64415"/>
                </a:solidFill>
                <a:latin typeface="Lato"/>
              </a:rPr>
              <a:t>0.245</a:t>
            </a:r>
          </a:p>
        </p:txBody>
      </p:sp>
      <p:sp>
        <p:nvSpPr>
          <p:cNvPr id="9" name="TextBox 8"/>
          <p:cNvSpPr txBox="1"/>
          <p:nvPr/>
        </p:nvSpPr>
        <p:spPr>
          <a:xfrm>
            <a:off x="3328416" y="2852928"/>
            <a:ext cx="2651760" cy="457200"/>
          </a:xfrm>
          <a:prstGeom prst="rect">
            <a:avLst/>
          </a:prstGeom>
          <a:noFill/>
        </p:spPr>
        <p:txBody>
          <a:bodyPr wrap="square" anchor="t" lIns="0" rIns="0" tIns="0" bIns="0">
            <a:spAutoFit/>
          </a:bodyPr>
          <a:lstStyle/>
          <a:p>
            <a:pPr algn="l">
              <a:lnSpc>
                <a:spcPct val="110000"/>
              </a:lnSpc>
              <a:spcBef>
                <a:spcPts val="0"/>
              </a:spcBef>
              <a:spcAft>
                <a:spcPts val="600"/>
              </a:spcAft>
            </a:pPr>
            <a:r>
              <a:rPr sz="1250" b="0" i="0">
                <a:solidFill>
                  <a:srgbClr val="555555"/>
                </a:solidFill>
                <a:latin typeface="Lato"/>
              </a:rPr>
              <a:t>gpt-4o, few-shot
1.289 USD</a:t>
            </a:r>
          </a:p>
        </p:txBody>
      </p:sp>
      <p:sp>
        <p:nvSpPr>
          <p:cNvPr id="10" name="TextBox 9"/>
          <p:cNvSpPr txBox="1"/>
          <p:nvPr/>
        </p:nvSpPr>
        <p:spPr>
          <a:xfrm>
            <a:off x="6089904" y="2286000"/>
            <a:ext cx="2651760" cy="548640"/>
          </a:xfrm>
          <a:prstGeom prst="rect">
            <a:avLst/>
          </a:prstGeom>
          <a:noFill/>
        </p:spPr>
        <p:txBody>
          <a:bodyPr wrap="square" anchor="t" lIns="0" rIns="0" tIns="0" bIns="0">
            <a:spAutoFit/>
          </a:bodyPr>
          <a:lstStyle/>
          <a:p>
            <a:pPr algn="l">
              <a:lnSpc>
                <a:spcPct val="112000"/>
              </a:lnSpc>
              <a:spcBef>
                <a:spcPts val="0"/>
              </a:spcBef>
              <a:spcAft>
                <a:spcPts val="600"/>
              </a:spcAft>
            </a:pPr>
            <a:r>
              <a:rPr sz="3300" b="1" i="0">
                <a:solidFill>
                  <a:srgbClr val="E64415"/>
                </a:solidFill>
                <a:latin typeface="Lato"/>
              </a:rPr>
              <a:t>47×</a:t>
            </a:r>
          </a:p>
        </p:txBody>
      </p:sp>
      <p:sp>
        <p:nvSpPr>
          <p:cNvPr id="11" name="TextBox 10"/>
          <p:cNvSpPr txBox="1"/>
          <p:nvPr/>
        </p:nvSpPr>
        <p:spPr>
          <a:xfrm>
            <a:off x="6089904" y="2852928"/>
            <a:ext cx="2651760" cy="457200"/>
          </a:xfrm>
          <a:prstGeom prst="rect">
            <a:avLst/>
          </a:prstGeom>
          <a:noFill/>
        </p:spPr>
        <p:txBody>
          <a:bodyPr wrap="square" anchor="t" lIns="0" rIns="0" tIns="0" bIns="0">
            <a:spAutoFit/>
          </a:bodyPr>
          <a:lstStyle/>
          <a:p>
            <a:pPr algn="l">
              <a:lnSpc>
                <a:spcPct val="110000"/>
              </a:lnSpc>
              <a:spcBef>
                <a:spcPts val="0"/>
              </a:spcBef>
              <a:spcAft>
                <a:spcPts val="600"/>
              </a:spcAft>
            </a:pPr>
            <a:r>
              <a:rPr sz="1250" b="0" i="0">
                <a:solidFill>
                  <a:srgbClr val="555555"/>
                </a:solidFill>
                <a:latin typeface="Lato"/>
              </a:rPr>
              <a:t>cost difference, in favour
of the weaker model</a:t>
            </a:r>
          </a:p>
        </p:txBody>
      </p:sp>
      <p:sp>
        <p:nvSpPr>
          <p:cNvPr id="12" name="TextBox 11"/>
          <p:cNvSpPr txBox="1"/>
          <p:nvPr/>
        </p:nvSpPr>
        <p:spPr>
          <a:xfrm>
            <a:off x="8851392" y="2286000"/>
            <a:ext cx="2651760" cy="548640"/>
          </a:xfrm>
          <a:prstGeom prst="rect">
            <a:avLst/>
          </a:prstGeom>
          <a:noFill/>
        </p:spPr>
        <p:txBody>
          <a:bodyPr wrap="square" anchor="t" lIns="0" rIns="0" tIns="0" bIns="0">
            <a:spAutoFit/>
          </a:bodyPr>
          <a:lstStyle/>
          <a:p>
            <a:pPr algn="l">
              <a:lnSpc>
                <a:spcPct val="112000"/>
              </a:lnSpc>
              <a:spcBef>
                <a:spcPts val="0"/>
              </a:spcBef>
              <a:spcAft>
                <a:spcPts val="600"/>
              </a:spcAft>
            </a:pPr>
            <a:r>
              <a:rPr sz="3300" b="1" i="0">
                <a:solidFill>
                  <a:srgbClr val="E64415"/>
                </a:solidFill>
                <a:latin typeface="Lato"/>
              </a:rPr>
              <a:t>3.06</a:t>
            </a:r>
          </a:p>
        </p:txBody>
      </p:sp>
      <p:sp>
        <p:nvSpPr>
          <p:cNvPr id="13" name="TextBox 12"/>
          <p:cNvSpPr txBox="1"/>
          <p:nvPr/>
        </p:nvSpPr>
        <p:spPr>
          <a:xfrm>
            <a:off x="8851392" y="2852928"/>
            <a:ext cx="2651760" cy="457200"/>
          </a:xfrm>
          <a:prstGeom prst="rect">
            <a:avLst/>
          </a:prstGeom>
          <a:noFill/>
        </p:spPr>
        <p:txBody>
          <a:bodyPr wrap="square" anchor="t" lIns="0" rIns="0" tIns="0" bIns="0">
            <a:spAutoFit/>
          </a:bodyPr>
          <a:lstStyle/>
          <a:p>
            <a:pPr algn="l">
              <a:lnSpc>
                <a:spcPct val="110000"/>
              </a:lnSpc>
              <a:spcBef>
                <a:spcPts val="0"/>
              </a:spcBef>
              <a:spcAft>
                <a:spcPts val="600"/>
              </a:spcAft>
            </a:pPr>
            <a:r>
              <a:rPr sz="1250" b="0" i="0">
                <a:solidFill>
                  <a:srgbClr val="555555"/>
                </a:solidFill>
                <a:latin typeface="Lato"/>
              </a:rPr>
              <a:t>USD, every experiment
in this study</a:t>
            </a:r>
          </a:p>
        </p:txBody>
      </p:sp>
      <p:sp>
        <p:nvSpPr>
          <p:cNvPr id="14" name="Rectangle 13"/>
          <p:cNvSpPr/>
          <p:nvPr/>
        </p:nvSpPr>
        <p:spPr>
          <a:xfrm>
            <a:off x="585216" y="3703320"/>
            <a:ext cx="11018520" cy="12700"/>
          </a:xfrm>
          <a:prstGeom prst="rect">
            <a:avLst/>
          </a:prstGeom>
          <a:solidFill>
            <a:srgbClr val="E3E3E3"/>
          </a:solidFill>
          <a:ln>
            <a:noFill/>
          </a:ln>
          <a:effectLst/>
        </p:spPr>
        <p:txBody>
          <a:bodyPr rtlCol="0" anchor="ctr"/>
          <a:lstStyle/>
          <a:p>
            <a:pPr algn="ctr"/>
          </a:p>
        </p:txBody>
      </p:sp>
      <p:sp>
        <p:nvSpPr>
          <p:cNvPr id="15" name="TextBox 14"/>
          <p:cNvSpPr txBox="1"/>
          <p:nvPr/>
        </p:nvSpPr>
        <p:spPr>
          <a:xfrm>
            <a:off x="566928" y="3977639"/>
            <a:ext cx="10972800" cy="4023360"/>
          </a:xfrm>
          <a:prstGeom prst="rect">
            <a:avLst/>
          </a:prstGeom>
          <a:noFill/>
        </p:spPr>
        <p:txBody>
          <a:bodyPr wrap="square" anchor="t" lIns="0" rIns="0" tIns="0" bIns="0">
            <a:spAutoFit/>
          </a:bodyPr>
          <a:lstStyle/>
          <a:p>
            <a:pPr algn="l">
              <a:lnSpc>
                <a:spcPct val="116000"/>
              </a:lnSpc>
              <a:spcBef>
                <a:spcPts val="0"/>
              </a:spcBef>
              <a:spcAft>
                <a:spcPts val="1000"/>
              </a:spcAft>
            </a:pPr>
            <a:r>
              <a:rPr sz="1500" b="1" i="0">
                <a:solidFill>
                  <a:srgbClr val="E64415"/>
                </a:solidFill>
                <a:latin typeface="Lato"/>
              </a:rPr>
              <a:t>•  </a:t>
            </a:r>
            <a:r>
              <a:rPr sz="1500" b="0" i="0">
                <a:solidFill>
                  <a:srgbClr val="1A1A1A"/>
                </a:solidFill>
                <a:latin typeface="Lato"/>
              </a:rPr>
              <a:t>My first explanation was that the larger model over-extracts, and that verbosity becomes false positives. I tested it by counting emitted triples.</a:t>
            </a:r>
          </a:p>
          <a:p>
            <a:pPr algn="l">
              <a:lnSpc>
                <a:spcPct val="116000"/>
              </a:lnSpc>
              <a:spcBef>
                <a:spcPts val="0"/>
              </a:spcBef>
              <a:spcAft>
                <a:spcPts val="1000"/>
              </a:spcAft>
            </a:pPr>
            <a:r>
              <a:rPr sz="1500" b="1" i="0">
                <a:solidFill>
                  <a:srgbClr val="E64415"/>
                </a:solidFill>
                <a:latin typeface="Lato"/>
              </a:rPr>
              <a:t>•  </a:t>
            </a:r>
            <a:r>
              <a:rPr sz="1500" b="0" i="0">
                <a:solidFill>
                  <a:srgbClr val="1A1A1A"/>
                </a:solidFill>
                <a:latin typeface="Lato"/>
              </a:rPr>
              <a:t>It is wrong, and wrong in the opposite direction. gpt-4o emits fewer triples than gpt-4o-mini in all four strategies, by 32, 29, 19 and 6 percent.</a:t>
            </a:r>
          </a:p>
          <a:p>
            <a:pPr algn="l">
              <a:lnSpc>
                <a:spcPct val="116000"/>
              </a:lnSpc>
              <a:spcBef>
                <a:spcPts val="0"/>
              </a:spcBef>
              <a:spcAft>
                <a:spcPts val="1000"/>
              </a:spcAft>
            </a:pPr>
            <a:r>
              <a:rPr sz="1500" b="1" i="0">
                <a:solidFill>
                  <a:srgbClr val="E64415"/>
                </a:solidFill>
                <a:latin typeface="Lato"/>
              </a:rPr>
              <a:t>•  </a:t>
            </a:r>
            <a:r>
              <a:rPr sz="1500" b="0" i="0">
                <a:solidFill>
                  <a:srgbClr val="1A1A1A"/>
                </a:solidFill>
                <a:latin typeface="Lato"/>
              </a:rPr>
              <a:t>The gap is recall, not precision. gpt-4o recovers 39 of 138 gold triples on schema-guided against gpt-4o-mini's 61, at near-identical precision.</a:t>
            </a:r>
          </a:p>
          <a:p>
            <a:pPr algn="l">
              <a:lnSpc>
                <a:spcPct val="116000"/>
              </a:lnSpc>
              <a:spcBef>
                <a:spcPts val="0"/>
              </a:spcBef>
              <a:spcAft>
                <a:spcPts val="1000"/>
              </a:spcAft>
            </a:pPr>
            <a:r>
              <a:rPr sz="1500" b="1" i="0">
                <a:solidFill>
                  <a:srgbClr val="E64415"/>
                </a:solidFill>
                <a:latin typeface="Lato"/>
              </a:rPr>
              <a:t>•  </a:t>
            </a:r>
            <a:r>
              <a:rPr sz="1500" b="0" i="0">
                <a:solidFill>
                  <a:srgbClr val="1A1A1A"/>
                </a:solidFill>
                <a:latin typeface="Lato"/>
              </a:rPr>
              <a:t>Every prompt says to omit when unsure. Whether gpt-4o is more cautious or simply more obedient, this design cannot tell apart.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48640" y="420624"/>
            <a:ext cx="868680" cy="671720"/>
          </a:xfrm>
          <a:prstGeom prst="rect">
            <a:avLst/>
          </a:prstGeom>
        </p:spPr>
      </p:pic>
      <p:sp>
        <p:nvSpPr>
          <p:cNvPr id="3" name="TextBox 2"/>
          <p:cNvSpPr txBox="1"/>
          <p:nvPr/>
        </p:nvSpPr>
        <p:spPr>
          <a:xfrm>
            <a:off x="566928" y="1298448"/>
            <a:ext cx="11064240" cy="640080"/>
          </a:xfrm>
          <a:prstGeom prst="rect">
            <a:avLst/>
          </a:prstGeom>
          <a:noFill/>
        </p:spPr>
        <p:txBody>
          <a:bodyPr wrap="square" anchor="t" lIns="0" rIns="0" tIns="0" bIns="0">
            <a:spAutoFit/>
          </a:bodyPr>
          <a:lstStyle/>
          <a:p>
            <a:pPr algn="l">
              <a:lnSpc>
                <a:spcPct val="112000"/>
              </a:lnSpc>
              <a:spcBef>
                <a:spcPts val="0"/>
              </a:spcBef>
              <a:spcAft>
                <a:spcPts val="600"/>
              </a:spcAft>
            </a:pPr>
            <a:r>
              <a:rPr sz="2700" b="1" i="0">
                <a:solidFill>
                  <a:srgbClr val="E64415"/>
                </a:solidFill>
                <a:latin typeface="Lato"/>
              </a:rPr>
              <a:t>9   </a:t>
            </a:r>
            <a:r>
              <a:rPr sz="2700" b="1" i="0">
                <a:solidFill>
                  <a:srgbClr val="1A1A1A"/>
                </a:solidFill>
                <a:latin typeface="Lato"/>
              </a:rPr>
              <a:t>Why the rule baseline fails</a:t>
            </a:r>
          </a:p>
        </p:txBody>
      </p:sp>
      <p:sp>
        <p:nvSpPr>
          <p:cNvPr id="4" name="Rectangle 3"/>
          <p:cNvSpPr/>
          <p:nvPr/>
        </p:nvSpPr>
        <p:spPr>
          <a:xfrm>
            <a:off x="585216" y="1993392"/>
            <a:ext cx="11018520" cy="15240"/>
          </a:xfrm>
          <a:prstGeom prst="rect">
            <a:avLst/>
          </a:prstGeom>
          <a:solidFill>
            <a:srgbClr val="E3E3E3"/>
          </a:solidFill>
          <a:ln>
            <a:noFill/>
          </a:ln>
          <a:effectLst/>
        </p:spPr>
        <p:txBody>
          <a:bodyPr rtlCol="0" anchor="ctr"/>
          <a:lstStyle/>
          <a:p>
            <a:pPr algn="ctr"/>
          </a:p>
        </p:txBody>
      </p:sp>
      <p:sp>
        <p:nvSpPr>
          <p:cNvPr id="5" name="TextBox 4"/>
          <p:cNvSpPr txBox="1"/>
          <p:nvPr/>
        </p:nvSpPr>
        <p:spPr>
          <a:xfrm>
            <a:off x="11430000" y="6437376"/>
            <a:ext cx="640080" cy="274320"/>
          </a:xfrm>
          <a:prstGeom prst="rect">
            <a:avLst/>
          </a:prstGeom>
          <a:noFill/>
        </p:spPr>
        <p:txBody>
          <a:bodyPr wrap="square" anchor="t" lIns="0" rIns="0" tIns="0" bIns="0">
            <a:spAutoFit/>
          </a:bodyPr>
          <a:lstStyle/>
          <a:p>
            <a:pPr algn="r">
              <a:lnSpc>
                <a:spcPct val="112000"/>
              </a:lnSpc>
              <a:spcBef>
                <a:spcPts val="0"/>
              </a:spcBef>
              <a:spcAft>
                <a:spcPts val="600"/>
              </a:spcAft>
            </a:pPr>
            <a:r>
              <a:rPr sz="1000" b="0" i="0">
                <a:solidFill>
                  <a:srgbClr val="BBBBBB"/>
                </a:solidFill>
                <a:latin typeface="Lato"/>
              </a:rPr>
              <a:t>10</a:t>
            </a:r>
          </a:p>
        </p:txBody>
      </p:sp>
      <p:pic>
        <p:nvPicPr>
          <p:cNvPr id="6" name="Picture 5" descr="fig6_baseline_failure_modes.png"/>
          <p:cNvPicPr>
            <a:picLocks noChangeAspect="1"/>
          </p:cNvPicPr>
          <p:nvPr/>
        </p:nvPicPr>
        <p:blipFill>
          <a:blip r:embed="rId3"/>
          <a:stretch>
            <a:fillRect/>
          </a:stretch>
        </p:blipFill>
        <p:spPr>
          <a:xfrm>
            <a:off x="2929374" y="2240280"/>
            <a:ext cx="6332947" cy="2697480"/>
          </a:xfrm>
          <a:prstGeom prst="rect">
            <a:avLst/>
          </a:prstGeom>
        </p:spPr>
      </p:pic>
      <p:sp>
        <p:nvSpPr>
          <p:cNvPr id="7" name="TextBox 6"/>
          <p:cNvSpPr txBox="1"/>
          <p:nvPr/>
        </p:nvSpPr>
        <p:spPr>
          <a:xfrm>
            <a:off x="566928" y="5120640"/>
            <a:ext cx="10972800" cy="4023360"/>
          </a:xfrm>
          <a:prstGeom prst="rect">
            <a:avLst/>
          </a:prstGeom>
          <a:noFill/>
        </p:spPr>
        <p:txBody>
          <a:bodyPr wrap="square" anchor="t" lIns="0" rIns="0" tIns="0" bIns="0">
            <a:spAutoFit/>
          </a:bodyPr>
          <a:lstStyle/>
          <a:p>
            <a:pPr algn="l">
              <a:lnSpc>
                <a:spcPct val="116000"/>
              </a:lnSpc>
              <a:spcBef>
                <a:spcPts val="0"/>
              </a:spcBef>
              <a:spcAft>
                <a:spcPts val="600"/>
              </a:spcAft>
            </a:pPr>
            <a:r>
              <a:rPr sz="1350" b="1" i="0">
                <a:solidFill>
                  <a:srgbClr val="E64415"/>
                </a:solidFill>
                <a:latin typeface="Lato"/>
              </a:rPr>
              <a:t>•  </a:t>
            </a:r>
            <a:r>
              <a:rPr sz="1350" b="0" i="0">
                <a:solidFill>
                  <a:srgbClr val="1A1A1A"/>
                </a:solidFill>
                <a:latin typeface="Lato"/>
              </a:rPr>
              <a:t>The baseline names a MOF in only 121 of 794 synthesis passages, about 15 percent. Five of the eight relations take MOF as their subject, so that one failure suppresses most of what it could otherwise extract.</a:t>
            </a:r>
          </a:p>
          <a:p>
            <a:pPr algn="l">
              <a:lnSpc>
                <a:spcPct val="116000"/>
              </a:lnSpc>
              <a:spcBef>
                <a:spcPts val="0"/>
              </a:spcBef>
              <a:spcAft>
                <a:spcPts val="600"/>
              </a:spcAft>
            </a:pPr>
            <a:r>
              <a:rPr sz="1350" b="1" i="0">
                <a:solidFill>
                  <a:srgbClr val="E64415"/>
                </a:solidFill>
                <a:latin typeface="Lato"/>
              </a:rPr>
              <a:t>•  </a:t>
            </a:r>
            <a:r>
              <a:rPr sz="1350" b="0" i="0">
                <a:solidFill>
                  <a:srgbClr val="1A1A1A"/>
                </a:solidFill>
                <a:latin typeface="Lato"/>
              </a:rPr>
              <a:t>Neither dominant cause is a lexicon gap. The highest-leverage fix is coreference across a paper and table parsing, not a bigger dictionary.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48640" y="420624"/>
            <a:ext cx="868680" cy="671720"/>
          </a:xfrm>
          <a:prstGeom prst="rect">
            <a:avLst/>
          </a:prstGeom>
        </p:spPr>
      </p:pic>
      <p:sp>
        <p:nvSpPr>
          <p:cNvPr id="3" name="TextBox 2"/>
          <p:cNvSpPr txBox="1"/>
          <p:nvPr/>
        </p:nvSpPr>
        <p:spPr>
          <a:xfrm>
            <a:off x="566928" y="1298448"/>
            <a:ext cx="11064240" cy="640080"/>
          </a:xfrm>
          <a:prstGeom prst="rect">
            <a:avLst/>
          </a:prstGeom>
          <a:noFill/>
        </p:spPr>
        <p:txBody>
          <a:bodyPr wrap="square" anchor="t" lIns="0" rIns="0" tIns="0" bIns="0">
            <a:spAutoFit/>
          </a:bodyPr>
          <a:lstStyle/>
          <a:p>
            <a:pPr algn="l">
              <a:lnSpc>
                <a:spcPct val="112000"/>
              </a:lnSpc>
              <a:spcBef>
                <a:spcPts val="0"/>
              </a:spcBef>
              <a:spcAft>
                <a:spcPts val="600"/>
              </a:spcAft>
            </a:pPr>
            <a:r>
              <a:rPr sz="2700" b="1" i="0">
                <a:solidFill>
                  <a:srgbClr val="E64415"/>
                </a:solidFill>
                <a:latin typeface="Lato"/>
              </a:rPr>
              <a:t>10   </a:t>
            </a:r>
            <a:r>
              <a:rPr sz="2700" b="1" i="0">
                <a:solidFill>
                  <a:srgbClr val="1A1A1A"/>
                </a:solidFill>
                <a:latin typeface="Lato"/>
              </a:rPr>
              <a:t>The knowledge graph (RQ5)</a:t>
            </a:r>
          </a:p>
        </p:txBody>
      </p:sp>
      <p:sp>
        <p:nvSpPr>
          <p:cNvPr id="4" name="Rectangle 3"/>
          <p:cNvSpPr/>
          <p:nvPr/>
        </p:nvSpPr>
        <p:spPr>
          <a:xfrm>
            <a:off x="585216" y="1993392"/>
            <a:ext cx="11018520" cy="15240"/>
          </a:xfrm>
          <a:prstGeom prst="rect">
            <a:avLst/>
          </a:prstGeom>
          <a:solidFill>
            <a:srgbClr val="E3E3E3"/>
          </a:solidFill>
          <a:ln>
            <a:noFill/>
          </a:ln>
          <a:effectLst/>
        </p:spPr>
        <p:txBody>
          <a:bodyPr rtlCol="0" anchor="ctr"/>
          <a:lstStyle/>
          <a:p>
            <a:pPr algn="ctr"/>
          </a:p>
        </p:txBody>
      </p:sp>
      <p:sp>
        <p:nvSpPr>
          <p:cNvPr id="5" name="TextBox 4"/>
          <p:cNvSpPr txBox="1"/>
          <p:nvPr/>
        </p:nvSpPr>
        <p:spPr>
          <a:xfrm>
            <a:off x="11430000" y="6437376"/>
            <a:ext cx="640080" cy="274320"/>
          </a:xfrm>
          <a:prstGeom prst="rect">
            <a:avLst/>
          </a:prstGeom>
          <a:noFill/>
        </p:spPr>
        <p:txBody>
          <a:bodyPr wrap="square" anchor="t" lIns="0" rIns="0" tIns="0" bIns="0">
            <a:spAutoFit/>
          </a:bodyPr>
          <a:lstStyle/>
          <a:p>
            <a:pPr algn="r">
              <a:lnSpc>
                <a:spcPct val="112000"/>
              </a:lnSpc>
              <a:spcBef>
                <a:spcPts val="0"/>
              </a:spcBef>
              <a:spcAft>
                <a:spcPts val="600"/>
              </a:spcAft>
            </a:pPr>
            <a:r>
              <a:rPr sz="1000" b="0" i="0">
                <a:solidFill>
                  <a:srgbClr val="BBBBBB"/>
                </a:solidFill>
                <a:latin typeface="Lato"/>
              </a:rPr>
              <a:t>11</a:t>
            </a:r>
          </a:p>
        </p:txBody>
      </p:sp>
      <p:sp>
        <p:nvSpPr>
          <p:cNvPr id="6" name="TextBox 5"/>
          <p:cNvSpPr txBox="1"/>
          <p:nvPr/>
        </p:nvSpPr>
        <p:spPr>
          <a:xfrm>
            <a:off x="566928" y="2286000"/>
            <a:ext cx="2651760" cy="548640"/>
          </a:xfrm>
          <a:prstGeom prst="rect">
            <a:avLst/>
          </a:prstGeom>
          <a:noFill/>
        </p:spPr>
        <p:txBody>
          <a:bodyPr wrap="square" anchor="t" lIns="0" rIns="0" tIns="0" bIns="0">
            <a:spAutoFit/>
          </a:bodyPr>
          <a:lstStyle/>
          <a:p>
            <a:pPr algn="l">
              <a:lnSpc>
                <a:spcPct val="112000"/>
              </a:lnSpc>
              <a:spcBef>
                <a:spcPts val="0"/>
              </a:spcBef>
              <a:spcAft>
                <a:spcPts val="600"/>
              </a:spcAft>
            </a:pPr>
            <a:r>
              <a:rPr sz="3300" b="1" i="0">
                <a:solidFill>
                  <a:srgbClr val="E64415"/>
                </a:solidFill>
                <a:latin typeface="Lato"/>
              </a:rPr>
              <a:t>485</a:t>
            </a:r>
          </a:p>
        </p:txBody>
      </p:sp>
      <p:sp>
        <p:nvSpPr>
          <p:cNvPr id="7" name="TextBox 6"/>
          <p:cNvSpPr txBox="1"/>
          <p:nvPr/>
        </p:nvSpPr>
        <p:spPr>
          <a:xfrm>
            <a:off x="566928" y="2852928"/>
            <a:ext cx="2651760" cy="457200"/>
          </a:xfrm>
          <a:prstGeom prst="rect">
            <a:avLst/>
          </a:prstGeom>
          <a:noFill/>
        </p:spPr>
        <p:txBody>
          <a:bodyPr wrap="square" anchor="t" lIns="0" rIns="0" tIns="0" bIns="0">
            <a:spAutoFit/>
          </a:bodyPr>
          <a:lstStyle/>
          <a:p>
            <a:pPr algn="l">
              <a:lnSpc>
                <a:spcPct val="110000"/>
              </a:lnSpc>
              <a:spcBef>
                <a:spcPts val="0"/>
              </a:spcBef>
              <a:spcAft>
                <a:spcPts val="600"/>
              </a:spcAft>
            </a:pPr>
            <a:r>
              <a:rPr sz="1250" b="0" i="0">
                <a:solidFill>
                  <a:srgbClr val="555555"/>
                </a:solidFill>
                <a:latin typeface="Lato"/>
              </a:rPr>
              <a:t>distinct nodes</a:t>
            </a:r>
          </a:p>
        </p:txBody>
      </p:sp>
      <p:sp>
        <p:nvSpPr>
          <p:cNvPr id="8" name="TextBox 7"/>
          <p:cNvSpPr txBox="1"/>
          <p:nvPr/>
        </p:nvSpPr>
        <p:spPr>
          <a:xfrm>
            <a:off x="3328416" y="2286000"/>
            <a:ext cx="2651760" cy="548640"/>
          </a:xfrm>
          <a:prstGeom prst="rect">
            <a:avLst/>
          </a:prstGeom>
          <a:noFill/>
        </p:spPr>
        <p:txBody>
          <a:bodyPr wrap="square" anchor="t" lIns="0" rIns="0" tIns="0" bIns="0">
            <a:spAutoFit/>
          </a:bodyPr>
          <a:lstStyle/>
          <a:p>
            <a:pPr algn="l">
              <a:lnSpc>
                <a:spcPct val="112000"/>
              </a:lnSpc>
              <a:spcBef>
                <a:spcPts val="0"/>
              </a:spcBef>
              <a:spcAft>
                <a:spcPts val="600"/>
              </a:spcAft>
            </a:pPr>
            <a:r>
              <a:rPr sz="3300" b="1" i="0">
                <a:solidFill>
                  <a:srgbClr val="E64415"/>
                </a:solidFill>
                <a:latin typeface="Lato"/>
              </a:rPr>
              <a:t>2,429</a:t>
            </a:r>
          </a:p>
        </p:txBody>
      </p:sp>
      <p:sp>
        <p:nvSpPr>
          <p:cNvPr id="9" name="TextBox 8"/>
          <p:cNvSpPr txBox="1"/>
          <p:nvPr/>
        </p:nvSpPr>
        <p:spPr>
          <a:xfrm>
            <a:off x="3328416" y="2852928"/>
            <a:ext cx="2651760" cy="457200"/>
          </a:xfrm>
          <a:prstGeom prst="rect">
            <a:avLst/>
          </a:prstGeom>
          <a:noFill/>
        </p:spPr>
        <p:txBody>
          <a:bodyPr wrap="square" anchor="t" lIns="0" rIns="0" tIns="0" bIns="0">
            <a:spAutoFit/>
          </a:bodyPr>
          <a:lstStyle/>
          <a:p>
            <a:pPr algn="l">
              <a:lnSpc>
                <a:spcPct val="110000"/>
              </a:lnSpc>
              <a:spcBef>
                <a:spcPts val="0"/>
              </a:spcBef>
              <a:spcAft>
                <a:spcPts val="600"/>
              </a:spcAft>
            </a:pPr>
            <a:r>
              <a:rPr sz="1250" b="0" i="0">
                <a:solidFill>
                  <a:srgbClr val="555555"/>
                </a:solidFill>
                <a:latin typeface="Lato"/>
              </a:rPr>
              <a:t>relationships</a:t>
            </a:r>
          </a:p>
        </p:txBody>
      </p:sp>
      <p:sp>
        <p:nvSpPr>
          <p:cNvPr id="10" name="TextBox 9"/>
          <p:cNvSpPr txBox="1"/>
          <p:nvPr/>
        </p:nvSpPr>
        <p:spPr>
          <a:xfrm>
            <a:off x="6089904" y="2286000"/>
            <a:ext cx="2651760" cy="548640"/>
          </a:xfrm>
          <a:prstGeom prst="rect">
            <a:avLst/>
          </a:prstGeom>
          <a:noFill/>
        </p:spPr>
        <p:txBody>
          <a:bodyPr wrap="square" anchor="t" lIns="0" rIns="0" tIns="0" bIns="0">
            <a:spAutoFit/>
          </a:bodyPr>
          <a:lstStyle/>
          <a:p>
            <a:pPr algn="l">
              <a:lnSpc>
                <a:spcPct val="112000"/>
              </a:lnSpc>
              <a:spcBef>
                <a:spcPts val="0"/>
              </a:spcBef>
              <a:spcAft>
                <a:spcPts val="600"/>
              </a:spcAft>
            </a:pPr>
            <a:r>
              <a:rPr sz="3300" b="1" i="0">
                <a:solidFill>
                  <a:srgbClr val="E64415"/>
                </a:solidFill>
                <a:latin typeface="Lato"/>
              </a:rPr>
              <a:t>182</a:t>
            </a:r>
          </a:p>
        </p:txBody>
      </p:sp>
      <p:sp>
        <p:nvSpPr>
          <p:cNvPr id="11" name="TextBox 10"/>
          <p:cNvSpPr txBox="1"/>
          <p:nvPr/>
        </p:nvSpPr>
        <p:spPr>
          <a:xfrm>
            <a:off x="6089904" y="2852928"/>
            <a:ext cx="2651760" cy="457200"/>
          </a:xfrm>
          <a:prstGeom prst="rect">
            <a:avLst/>
          </a:prstGeom>
          <a:noFill/>
        </p:spPr>
        <p:txBody>
          <a:bodyPr wrap="square" anchor="t" lIns="0" rIns="0" tIns="0" bIns="0">
            <a:spAutoFit/>
          </a:bodyPr>
          <a:lstStyle/>
          <a:p>
            <a:pPr algn="l">
              <a:lnSpc>
                <a:spcPct val="110000"/>
              </a:lnSpc>
              <a:spcBef>
                <a:spcPts val="0"/>
              </a:spcBef>
              <a:spcAft>
                <a:spcPts val="600"/>
              </a:spcAft>
            </a:pPr>
            <a:r>
              <a:rPr sz="1250" b="0" i="0">
                <a:solidFill>
                  <a:srgbClr val="555555"/>
                </a:solidFill>
                <a:latin typeface="Lato"/>
              </a:rPr>
              <a:t>source papers</a:t>
            </a:r>
          </a:p>
        </p:txBody>
      </p:sp>
      <p:sp>
        <p:nvSpPr>
          <p:cNvPr id="12" name="TextBox 11"/>
          <p:cNvSpPr txBox="1"/>
          <p:nvPr/>
        </p:nvSpPr>
        <p:spPr>
          <a:xfrm>
            <a:off x="8851392" y="2286000"/>
            <a:ext cx="2651760" cy="548640"/>
          </a:xfrm>
          <a:prstGeom prst="rect">
            <a:avLst/>
          </a:prstGeom>
          <a:noFill/>
        </p:spPr>
        <p:txBody>
          <a:bodyPr wrap="square" anchor="t" lIns="0" rIns="0" tIns="0" bIns="0">
            <a:spAutoFit/>
          </a:bodyPr>
          <a:lstStyle/>
          <a:p>
            <a:pPr algn="l">
              <a:lnSpc>
                <a:spcPct val="112000"/>
              </a:lnSpc>
              <a:spcBef>
                <a:spcPts val="0"/>
              </a:spcBef>
              <a:spcAft>
                <a:spcPts val="600"/>
              </a:spcAft>
            </a:pPr>
            <a:r>
              <a:rPr sz="3300" b="1" i="0">
                <a:solidFill>
                  <a:srgbClr val="E64415"/>
                </a:solidFill>
                <a:latin typeface="Lato"/>
              </a:rPr>
              <a:t>0</a:t>
            </a:r>
          </a:p>
        </p:txBody>
      </p:sp>
      <p:sp>
        <p:nvSpPr>
          <p:cNvPr id="13" name="TextBox 12"/>
          <p:cNvSpPr txBox="1"/>
          <p:nvPr/>
        </p:nvSpPr>
        <p:spPr>
          <a:xfrm>
            <a:off x="8851392" y="2852928"/>
            <a:ext cx="2651760" cy="457200"/>
          </a:xfrm>
          <a:prstGeom prst="rect">
            <a:avLst/>
          </a:prstGeom>
          <a:noFill/>
        </p:spPr>
        <p:txBody>
          <a:bodyPr wrap="square" anchor="t" lIns="0" rIns="0" tIns="0" bIns="0">
            <a:spAutoFit/>
          </a:bodyPr>
          <a:lstStyle/>
          <a:p>
            <a:pPr algn="l">
              <a:lnSpc>
                <a:spcPct val="110000"/>
              </a:lnSpc>
              <a:spcBef>
                <a:spcPts val="0"/>
              </a:spcBef>
              <a:spcAft>
                <a:spcPts val="600"/>
              </a:spcAft>
            </a:pPr>
            <a:r>
              <a:rPr sz="1250" b="0" i="0">
                <a:solidFill>
                  <a:srgbClr val="555555"/>
                </a:solidFill>
                <a:latin typeface="Lato"/>
              </a:rPr>
              <a:t>provenance violations</a:t>
            </a:r>
          </a:p>
        </p:txBody>
      </p:sp>
      <p:sp>
        <p:nvSpPr>
          <p:cNvPr id="14" name="Rectangle 13"/>
          <p:cNvSpPr/>
          <p:nvPr/>
        </p:nvSpPr>
        <p:spPr>
          <a:xfrm>
            <a:off x="585216" y="3703320"/>
            <a:ext cx="11018520" cy="12700"/>
          </a:xfrm>
          <a:prstGeom prst="rect">
            <a:avLst/>
          </a:prstGeom>
          <a:solidFill>
            <a:srgbClr val="E3E3E3"/>
          </a:solidFill>
          <a:ln>
            <a:noFill/>
          </a:ln>
          <a:effectLst/>
        </p:spPr>
        <p:txBody>
          <a:bodyPr rtlCol="0" anchor="ctr"/>
          <a:lstStyle/>
          <a:p>
            <a:pPr algn="ctr"/>
          </a:p>
        </p:txBody>
      </p:sp>
      <p:sp>
        <p:nvSpPr>
          <p:cNvPr id="15" name="TextBox 14"/>
          <p:cNvSpPr txBox="1"/>
          <p:nvPr/>
        </p:nvSpPr>
        <p:spPr>
          <a:xfrm>
            <a:off x="566928" y="3977639"/>
            <a:ext cx="6949440" cy="4023360"/>
          </a:xfrm>
          <a:prstGeom prst="rect">
            <a:avLst/>
          </a:prstGeom>
          <a:noFill/>
        </p:spPr>
        <p:txBody>
          <a:bodyPr wrap="square" anchor="t" lIns="0" rIns="0" tIns="0" bIns="0">
            <a:spAutoFit/>
          </a:bodyPr>
          <a:lstStyle/>
          <a:p>
            <a:pPr algn="l">
              <a:lnSpc>
                <a:spcPct val="116000"/>
              </a:lnSpc>
              <a:spcBef>
                <a:spcPts val="0"/>
              </a:spcBef>
              <a:spcAft>
                <a:spcPts val="1000"/>
              </a:spcAft>
            </a:pPr>
            <a:r>
              <a:rPr sz="1450" b="1" i="0">
                <a:solidFill>
                  <a:srgbClr val="E64415"/>
                </a:solidFill>
                <a:latin typeface="Lato"/>
              </a:rPr>
              <a:t>•  </a:t>
            </a:r>
            <a:r>
              <a:rPr sz="1450" b="0" i="0">
                <a:solidFill>
                  <a:srgbClr val="1A1A1A"/>
                </a:solidFill>
                <a:latin typeface="Lato"/>
              </a:rPr>
              <a:t>Every entity carries a MENTIONED_IN edge to the paper it came from. Provenance is verified by query, not asserted: the violations query returns zero rows.</a:t>
            </a:r>
          </a:p>
          <a:p>
            <a:pPr algn="l">
              <a:lnSpc>
                <a:spcPct val="116000"/>
              </a:lnSpc>
              <a:spcBef>
                <a:spcPts val="0"/>
              </a:spcBef>
              <a:spcAft>
                <a:spcPts val="1000"/>
              </a:spcAft>
            </a:pPr>
            <a:r>
              <a:rPr sz="1450" b="1" i="0">
                <a:solidFill>
                  <a:srgbClr val="E64415"/>
                </a:solidFill>
                <a:latin typeface="Lato"/>
              </a:rPr>
              <a:t>•  </a:t>
            </a:r>
            <a:r>
              <a:rPr sz="1450" b="0" i="0">
                <a:solidFill>
                  <a:srgbClr val="1A1A1A"/>
                </a:solidFill>
                <a:latin typeface="Lato"/>
              </a:rPr>
              <a:t>Cross-paper aggregation works. Solvothermal appears in 61 papers across 30 MOFs, hydrothermal in 43 across 12.</a:t>
            </a:r>
          </a:p>
        </p:txBody>
      </p:sp>
      <p:sp>
        <p:nvSpPr>
          <p:cNvPr id="16" name="Rectangle 15"/>
          <p:cNvSpPr/>
          <p:nvPr/>
        </p:nvSpPr>
        <p:spPr>
          <a:xfrm>
            <a:off x="7772400" y="3931920"/>
            <a:ext cx="3840480" cy="1920240"/>
          </a:xfrm>
          <a:prstGeom prst="rect">
            <a:avLst/>
          </a:prstGeom>
          <a:solidFill>
            <a:srgbClr val="FAF6F4"/>
          </a:solidFill>
          <a:ln>
            <a:noFill/>
          </a:ln>
          <a:effectLst/>
        </p:spPr>
        <p:txBody>
          <a:bodyPr rtlCol="0" anchor="ctr"/>
          <a:lstStyle/>
          <a:p>
            <a:pPr algn="ctr"/>
          </a:p>
        </p:txBody>
      </p:sp>
      <p:sp>
        <p:nvSpPr>
          <p:cNvPr id="17" name="TextBox 16"/>
          <p:cNvSpPr txBox="1"/>
          <p:nvPr/>
        </p:nvSpPr>
        <p:spPr>
          <a:xfrm>
            <a:off x="8074152" y="4187952"/>
            <a:ext cx="3246120" cy="1463040"/>
          </a:xfrm>
          <a:prstGeom prst="rect">
            <a:avLst/>
          </a:prstGeom>
          <a:noFill/>
        </p:spPr>
        <p:txBody>
          <a:bodyPr wrap="square" anchor="t" lIns="0" rIns="0" tIns="0" bIns="0">
            <a:spAutoFit/>
          </a:bodyPr>
          <a:lstStyle/>
          <a:p>
            <a:pPr algn="l">
              <a:lnSpc>
                <a:spcPct val="120000"/>
              </a:lnSpc>
              <a:spcBef>
                <a:spcPts val="0"/>
              </a:spcBef>
              <a:spcAft>
                <a:spcPts val="800"/>
              </a:spcAft>
            </a:pPr>
            <a:r>
              <a:rPr sz="1300" b="1" i="0">
                <a:solidFill>
                  <a:srgbClr val="E64415"/>
                </a:solidFill>
                <a:latin typeface="Lato"/>
              </a:rPr>
              <a:t>An open question</a:t>
            </a:r>
          </a:p>
          <a:p>
            <a:pPr algn="l">
              <a:lnSpc>
                <a:spcPct val="120000"/>
              </a:lnSpc>
              <a:spcBef>
                <a:spcPts val="0"/>
              </a:spcBef>
              <a:spcAft>
                <a:spcPts val="800"/>
              </a:spcAft>
            </a:pPr>
            <a:r>
              <a:rPr sz="1300" b="0" i="0">
                <a:solidFill>
                  <a:srgbClr val="1A1A1A"/>
                </a:solidFill>
                <a:latin typeface="Lato"/>
              </a:rPr>
              <a:t>DigiMOF reported more hydrothermal than solvothermal records and called that surprising. This corpus shows the opposite ordering. Recorded, not resolved.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48640" y="420624"/>
            <a:ext cx="868680" cy="671720"/>
          </a:xfrm>
          <a:prstGeom prst="rect">
            <a:avLst/>
          </a:prstGeom>
        </p:spPr>
      </p:pic>
      <p:sp>
        <p:nvSpPr>
          <p:cNvPr id="3" name="TextBox 2"/>
          <p:cNvSpPr txBox="1"/>
          <p:nvPr/>
        </p:nvSpPr>
        <p:spPr>
          <a:xfrm>
            <a:off x="566928" y="1298448"/>
            <a:ext cx="11064240" cy="640080"/>
          </a:xfrm>
          <a:prstGeom prst="rect">
            <a:avLst/>
          </a:prstGeom>
          <a:noFill/>
        </p:spPr>
        <p:txBody>
          <a:bodyPr wrap="square" anchor="t" lIns="0" rIns="0" tIns="0" bIns="0">
            <a:spAutoFit/>
          </a:bodyPr>
          <a:lstStyle/>
          <a:p>
            <a:pPr algn="l">
              <a:lnSpc>
                <a:spcPct val="112000"/>
              </a:lnSpc>
              <a:spcBef>
                <a:spcPts val="0"/>
              </a:spcBef>
              <a:spcAft>
                <a:spcPts val="600"/>
              </a:spcAft>
            </a:pPr>
            <a:r>
              <a:rPr sz="2700" b="1" i="0">
                <a:solidFill>
                  <a:srgbClr val="E64415"/>
                </a:solidFill>
                <a:latin typeface="Lato"/>
              </a:rPr>
              <a:t>11   </a:t>
            </a:r>
            <a:r>
              <a:rPr sz="2700" b="1" i="0">
                <a:solidFill>
                  <a:srgbClr val="1A1A1A"/>
                </a:solidFill>
                <a:latin typeface="Lato"/>
              </a:rPr>
              <a:t>What this cannot show</a:t>
            </a:r>
          </a:p>
        </p:txBody>
      </p:sp>
      <p:sp>
        <p:nvSpPr>
          <p:cNvPr id="4" name="Rectangle 3"/>
          <p:cNvSpPr/>
          <p:nvPr/>
        </p:nvSpPr>
        <p:spPr>
          <a:xfrm>
            <a:off x="585216" y="1993392"/>
            <a:ext cx="11018520" cy="15240"/>
          </a:xfrm>
          <a:prstGeom prst="rect">
            <a:avLst/>
          </a:prstGeom>
          <a:solidFill>
            <a:srgbClr val="E3E3E3"/>
          </a:solidFill>
          <a:ln>
            <a:noFill/>
          </a:ln>
          <a:effectLst/>
        </p:spPr>
        <p:txBody>
          <a:bodyPr rtlCol="0" anchor="ctr"/>
          <a:lstStyle/>
          <a:p>
            <a:pPr algn="ctr"/>
          </a:p>
        </p:txBody>
      </p:sp>
      <p:sp>
        <p:nvSpPr>
          <p:cNvPr id="5" name="TextBox 4"/>
          <p:cNvSpPr txBox="1"/>
          <p:nvPr/>
        </p:nvSpPr>
        <p:spPr>
          <a:xfrm>
            <a:off x="11430000" y="6437376"/>
            <a:ext cx="640080" cy="274320"/>
          </a:xfrm>
          <a:prstGeom prst="rect">
            <a:avLst/>
          </a:prstGeom>
          <a:noFill/>
        </p:spPr>
        <p:txBody>
          <a:bodyPr wrap="square" anchor="t" lIns="0" rIns="0" tIns="0" bIns="0">
            <a:spAutoFit/>
          </a:bodyPr>
          <a:lstStyle/>
          <a:p>
            <a:pPr algn="r">
              <a:lnSpc>
                <a:spcPct val="112000"/>
              </a:lnSpc>
              <a:spcBef>
                <a:spcPts val="0"/>
              </a:spcBef>
              <a:spcAft>
                <a:spcPts val="600"/>
              </a:spcAft>
            </a:pPr>
            <a:r>
              <a:rPr sz="1000" b="0" i="0">
                <a:solidFill>
                  <a:srgbClr val="BBBBBB"/>
                </a:solidFill>
                <a:latin typeface="Lato"/>
              </a:rPr>
              <a:t>12</a:t>
            </a:r>
          </a:p>
        </p:txBody>
      </p:sp>
      <p:sp>
        <p:nvSpPr>
          <p:cNvPr id="6" name="TextBox 5"/>
          <p:cNvSpPr txBox="1"/>
          <p:nvPr/>
        </p:nvSpPr>
        <p:spPr>
          <a:xfrm>
            <a:off x="566928" y="2286000"/>
            <a:ext cx="10972800" cy="4023360"/>
          </a:xfrm>
          <a:prstGeom prst="rect">
            <a:avLst/>
          </a:prstGeom>
          <a:noFill/>
        </p:spPr>
        <p:txBody>
          <a:bodyPr wrap="square" anchor="t" lIns="0" rIns="0" tIns="0" bIns="0">
            <a:spAutoFit/>
          </a:bodyPr>
          <a:lstStyle/>
          <a:p>
            <a:pPr algn="l">
              <a:lnSpc>
                <a:spcPct val="116000"/>
              </a:lnSpc>
              <a:spcBef>
                <a:spcPts val="0"/>
              </a:spcBef>
              <a:spcAft>
                <a:spcPts val="1100"/>
              </a:spcAft>
            </a:pPr>
            <a:r>
              <a:rPr sz="1450" b="1" i="0">
                <a:solidFill>
                  <a:srgbClr val="E64415"/>
                </a:solidFill>
                <a:latin typeface="Lato"/>
              </a:rPr>
              <a:t>•  </a:t>
            </a:r>
            <a:r>
              <a:rPr sz="1450" b="0" i="0">
                <a:solidFill>
                  <a:srgbClr val="1A1A1A"/>
                </a:solidFill>
                <a:latin typeface="Lato"/>
              </a:rPr>
              <a:t>RQ3 is not answered. DigiMOF and SynMOF are keyed by CSD refcode, this corpus by DOI and by the MOF name a paper uses, and joining them needs a licensed mapping. The overlap is undetermined, which is not the same as zero.</a:t>
            </a:r>
          </a:p>
          <a:p>
            <a:pPr algn="l">
              <a:lnSpc>
                <a:spcPct val="116000"/>
              </a:lnSpc>
              <a:spcBef>
                <a:spcPts val="0"/>
              </a:spcBef>
              <a:spcAft>
                <a:spcPts val="1100"/>
              </a:spcAft>
            </a:pPr>
            <a:r>
              <a:rPr sz="1350" b="0" i="0">
                <a:solidFill>
                  <a:srgbClr val="E64415"/>
                </a:solidFill>
                <a:latin typeface="Lato"/>
              </a:rPr>
              <a:t>      –  </a:t>
            </a:r>
            <a:r>
              <a:rPr sz="1350" b="0" i="0">
                <a:solidFill>
                  <a:srgbClr val="555555"/>
                </a:solidFill>
                <a:latin typeface="Lato"/>
              </a:rPr>
              <a:t>What could be measured: the two databases agree on the metal 98.9 percent across the 509 MOFs they share.</a:t>
            </a:r>
          </a:p>
          <a:p>
            <a:pPr algn="l">
              <a:lnSpc>
                <a:spcPct val="116000"/>
              </a:lnSpc>
              <a:spcBef>
                <a:spcPts val="0"/>
              </a:spcBef>
              <a:spcAft>
                <a:spcPts val="1100"/>
              </a:spcAft>
            </a:pPr>
            <a:r>
              <a:rPr sz="1450" b="1" i="0">
                <a:solidFill>
                  <a:srgbClr val="E64415"/>
                </a:solidFill>
                <a:latin typeface="Lato"/>
              </a:rPr>
              <a:t>•  </a:t>
            </a:r>
            <a:r>
              <a:rPr sz="1450" b="0" i="0">
                <a:solidFill>
                  <a:srgbClr val="1A1A1A"/>
                </a:solidFill>
                <a:latin typeface="Lato"/>
              </a:rPr>
              <a:t>0.364 micro-F1 is below the 0.80 target in the exposé, and is a lower bound: strict surface-form matching scores correct extractions as failures.</a:t>
            </a:r>
          </a:p>
          <a:p>
            <a:pPr algn="l">
              <a:lnSpc>
                <a:spcPct val="116000"/>
              </a:lnSpc>
              <a:spcBef>
                <a:spcPts val="0"/>
              </a:spcBef>
              <a:spcAft>
                <a:spcPts val="1100"/>
              </a:spcAft>
            </a:pPr>
            <a:r>
              <a:rPr sz="1450" b="1" i="0">
                <a:solidFill>
                  <a:srgbClr val="E64415"/>
                </a:solidFill>
                <a:latin typeface="Lato"/>
              </a:rPr>
              <a:t>•  </a:t>
            </a:r>
            <a:r>
              <a:rPr sz="1450" b="0" i="0">
                <a:solidFill>
                  <a:srgbClr val="1A1A1A"/>
                </a:solidFill>
                <a:latin typeface="Lato"/>
              </a:rPr>
              <a:t>The gold standard is 100 passages, not the 150 to 200 planned, and has a single annotator, so no inter-annotator agreement can be computed.</a:t>
            </a:r>
          </a:p>
          <a:p>
            <a:pPr algn="l">
              <a:lnSpc>
                <a:spcPct val="116000"/>
              </a:lnSpc>
              <a:spcBef>
                <a:spcPts val="0"/>
              </a:spcBef>
              <a:spcAft>
                <a:spcPts val="1100"/>
              </a:spcAft>
            </a:pPr>
            <a:r>
              <a:rPr sz="1450" b="1" i="0">
                <a:solidFill>
                  <a:srgbClr val="E64415"/>
                </a:solidFill>
                <a:latin typeface="Lato"/>
              </a:rPr>
              <a:t>•  </a:t>
            </a:r>
            <a:r>
              <a:rPr sz="1450" b="0" i="0">
                <a:solidFill>
                  <a:srgbClr val="1A1A1A"/>
                </a:solidFill>
                <a:latin typeface="Lato"/>
              </a:rPr>
              <a:t>Two open-weight configurations hit a free-tier daily cap and were deleted rather than scored. A partial run makes a rate-limited model look like a weak one.</a:t>
            </a:r>
          </a:p>
          <a:p>
            <a:pPr algn="l">
              <a:lnSpc>
                <a:spcPct val="116000"/>
              </a:lnSpc>
              <a:spcBef>
                <a:spcPts val="0"/>
              </a:spcBef>
              <a:spcAft>
                <a:spcPts val="1100"/>
              </a:spcAft>
            </a:pPr>
            <a:r>
              <a:rPr sz="1450" b="1" i="0">
                <a:solidFill>
                  <a:srgbClr val="E64415"/>
                </a:solidFill>
                <a:latin typeface="Lato"/>
              </a:rPr>
              <a:t>•  </a:t>
            </a:r>
            <a:r>
              <a:rPr sz="1450" b="0" i="0">
                <a:solidFill>
                  <a:srgbClr val="1A1A1A"/>
                </a:solidFill>
                <a:latin typeface="Lato"/>
              </a:rPr>
              <a:t>Every configuration ran once, so no variance is reported.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48640" y="420624"/>
            <a:ext cx="868680" cy="671720"/>
          </a:xfrm>
          <a:prstGeom prst="rect">
            <a:avLst/>
          </a:prstGeom>
        </p:spPr>
      </p:pic>
      <p:sp>
        <p:nvSpPr>
          <p:cNvPr id="3" name="TextBox 2"/>
          <p:cNvSpPr txBox="1"/>
          <p:nvPr/>
        </p:nvSpPr>
        <p:spPr>
          <a:xfrm>
            <a:off x="566928" y="1298448"/>
            <a:ext cx="11064240" cy="640080"/>
          </a:xfrm>
          <a:prstGeom prst="rect">
            <a:avLst/>
          </a:prstGeom>
          <a:noFill/>
        </p:spPr>
        <p:txBody>
          <a:bodyPr wrap="square" anchor="t" lIns="0" rIns="0" tIns="0" bIns="0">
            <a:spAutoFit/>
          </a:bodyPr>
          <a:lstStyle/>
          <a:p>
            <a:pPr algn="l">
              <a:lnSpc>
                <a:spcPct val="112000"/>
              </a:lnSpc>
              <a:spcBef>
                <a:spcPts val="0"/>
              </a:spcBef>
              <a:spcAft>
                <a:spcPts val="600"/>
              </a:spcAft>
            </a:pPr>
            <a:r>
              <a:rPr sz="2700" b="1" i="0">
                <a:solidFill>
                  <a:srgbClr val="E64415"/>
                </a:solidFill>
                <a:latin typeface="Lato"/>
              </a:rPr>
              <a:t>12   </a:t>
            </a:r>
            <a:r>
              <a:rPr sz="2700" b="1" i="0">
                <a:solidFill>
                  <a:srgbClr val="1A1A1A"/>
                </a:solidFill>
                <a:latin typeface="Lato"/>
              </a:rPr>
              <a:t>Conclusion</a:t>
            </a:r>
          </a:p>
        </p:txBody>
      </p:sp>
      <p:sp>
        <p:nvSpPr>
          <p:cNvPr id="4" name="Rectangle 3"/>
          <p:cNvSpPr/>
          <p:nvPr/>
        </p:nvSpPr>
        <p:spPr>
          <a:xfrm>
            <a:off x="585216" y="1993392"/>
            <a:ext cx="11018520" cy="15240"/>
          </a:xfrm>
          <a:prstGeom prst="rect">
            <a:avLst/>
          </a:prstGeom>
          <a:solidFill>
            <a:srgbClr val="E3E3E3"/>
          </a:solidFill>
          <a:ln>
            <a:noFill/>
          </a:ln>
          <a:effectLst/>
        </p:spPr>
        <p:txBody>
          <a:bodyPr rtlCol="0" anchor="ctr"/>
          <a:lstStyle/>
          <a:p>
            <a:pPr algn="ctr"/>
          </a:p>
        </p:txBody>
      </p:sp>
      <p:sp>
        <p:nvSpPr>
          <p:cNvPr id="5" name="TextBox 4"/>
          <p:cNvSpPr txBox="1"/>
          <p:nvPr/>
        </p:nvSpPr>
        <p:spPr>
          <a:xfrm>
            <a:off x="11430000" y="6437376"/>
            <a:ext cx="640080" cy="274320"/>
          </a:xfrm>
          <a:prstGeom prst="rect">
            <a:avLst/>
          </a:prstGeom>
          <a:noFill/>
        </p:spPr>
        <p:txBody>
          <a:bodyPr wrap="square" anchor="t" lIns="0" rIns="0" tIns="0" bIns="0">
            <a:spAutoFit/>
          </a:bodyPr>
          <a:lstStyle/>
          <a:p>
            <a:pPr algn="r">
              <a:lnSpc>
                <a:spcPct val="112000"/>
              </a:lnSpc>
              <a:spcBef>
                <a:spcPts val="0"/>
              </a:spcBef>
              <a:spcAft>
                <a:spcPts val="600"/>
              </a:spcAft>
            </a:pPr>
            <a:r>
              <a:rPr sz="1000" b="0" i="0">
                <a:solidFill>
                  <a:srgbClr val="BBBBBB"/>
                </a:solidFill>
                <a:latin typeface="Lato"/>
              </a:rPr>
              <a:t>13</a:t>
            </a:r>
          </a:p>
        </p:txBody>
      </p:sp>
      <p:sp>
        <p:nvSpPr>
          <p:cNvPr id="6" name="TextBox 5"/>
          <p:cNvSpPr txBox="1"/>
          <p:nvPr/>
        </p:nvSpPr>
        <p:spPr>
          <a:xfrm>
            <a:off x="566928" y="2286000"/>
            <a:ext cx="6858000" cy="4023360"/>
          </a:xfrm>
          <a:prstGeom prst="rect">
            <a:avLst/>
          </a:prstGeom>
          <a:noFill/>
        </p:spPr>
        <p:txBody>
          <a:bodyPr wrap="square" anchor="t" lIns="0" rIns="0" tIns="0" bIns="0">
            <a:spAutoFit/>
          </a:bodyPr>
          <a:lstStyle/>
          <a:p>
            <a:pPr algn="l">
              <a:lnSpc>
                <a:spcPct val="116000"/>
              </a:lnSpc>
              <a:spcBef>
                <a:spcPts val="0"/>
              </a:spcBef>
              <a:spcAft>
                <a:spcPts val="1000"/>
              </a:spcAft>
            </a:pPr>
            <a:r>
              <a:rPr sz="1450" b="1" i="0">
                <a:solidFill>
                  <a:srgbClr val="E64415"/>
                </a:solidFill>
                <a:latin typeface="Lato"/>
              </a:rPr>
              <a:t>•  </a:t>
            </a:r>
            <a:r>
              <a:rPr sz="1450" b="0" i="0">
                <a:solidFill>
                  <a:srgbClr val="1A1A1A"/>
                </a:solidFill>
                <a:latin typeface="Lato"/>
              </a:rPr>
              <a:t>Language models beat the rule baseline on every configuration tested, and the testable part of a pre-registered prediction held.</a:t>
            </a:r>
          </a:p>
          <a:p>
            <a:pPr algn="l">
              <a:lnSpc>
                <a:spcPct val="116000"/>
              </a:lnSpc>
              <a:spcBef>
                <a:spcPts val="0"/>
              </a:spcBef>
              <a:spcAft>
                <a:spcPts val="1000"/>
              </a:spcAft>
            </a:pPr>
            <a:r>
              <a:rPr sz="1450" b="1" i="0">
                <a:solidFill>
                  <a:srgbClr val="E64415"/>
                </a:solidFill>
                <a:latin typeface="Lato"/>
              </a:rPr>
              <a:t>•  </a:t>
            </a:r>
            <a:r>
              <a:rPr sz="1450" b="0" i="0">
                <a:solidFill>
                  <a:srgbClr val="1A1A1A"/>
                </a:solidFill>
                <a:latin typeface="Lato"/>
              </a:rPr>
              <a:t>The cheaper model won because the larger one extracts less. That is measured; why it extracts less is not.</a:t>
            </a:r>
          </a:p>
          <a:p>
            <a:pPr algn="l">
              <a:lnSpc>
                <a:spcPct val="116000"/>
              </a:lnSpc>
              <a:spcBef>
                <a:spcPts val="0"/>
              </a:spcBef>
              <a:spcAft>
                <a:spcPts val="1000"/>
              </a:spcAft>
            </a:pPr>
            <a:r>
              <a:rPr sz="1450" b="1" i="0">
                <a:solidFill>
                  <a:srgbClr val="E64415"/>
                </a:solidFill>
                <a:latin typeface="Lato"/>
              </a:rPr>
              <a:t>•  </a:t>
            </a:r>
            <a:r>
              <a:rPr sz="1450" b="0" i="0">
                <a:solidFill>
                  <a:srgbClr val="1A1A1A"/>
                </a:solidFill>
                <a:latin typeface="Lato"/>
              </a:rPr>
              <a:t>On the like-for-like zero-shot comparison, an open-weight model reached about two thirds of the commercial F1 at zero marginal cost.</a:t>
            </a:r>
          </a:p>
          <a:p>
            <a:pPr algn="l">
              <a:lnSpc>
                <a:spcPct val="116000"/>
              </a:lnSpc>
              <a:spcBef>
                <a:spcPts val="0"/>
              </a:spcBef>
              <a:spcAft>
                <a:spcPts val="1000"/>
              </a:spcAft>
            </a:pPr>
            <a:r>
              <a:rPr sz="1450" b="1" i="0">
                <a:solidFill>
                  <a:srgbClr val="E64415"/>
                </a:solidFill>
                <a:latin typeface="Lato"/>
              </a:rPr>
              <a:t>•  </a:t>
            </a:r>
            <a:r>
              <a:rPr sz="1450" b="0" i="0">
                <a:solidFill>
                  <a:srgbClr val="1A1A1A"/>
                </a:solidFill>
                <a:latin typeface="Lato"/>
              </a:rPr>
              <a:t>A provenance-complete knowledge graph, verified by query.</a:t>
            </a:r>
          </a:p>
        </p:txBody>
      </p:sp>
      <p:sp>
        <p:nvSpPr>
          <p:cNvPr id="7" name="Rectangle 6"/>
          <p:cNvSpPr/>
          <p:nvPr/>
        </p:nvSpPr>
        <p:spPr>
          <a:xfrm>
            <a:off x="7635240" y="2286000"/>
            <a:ext cx="3977639" cy="3611880"/>
          </a:xfrm>
          <a:prstGeom prst="rect">
            <a:avLst/>
          </a:prstGeom>
          <a:noFill/>
          <a:ln w="15240">
            <a:solidFill>
              <a:srgbClr val="E3E3E3"/>
            </a:solidFill>
          </a:ln>
          <a:effectLst/>
        </p:spPr>
        <p:txBody>
          <a:bodyPr rtlCol="0" anchor="ctr"/>
          <a:lstStyle/>
          <a:p>
            <a:pPr algn="ctr"/>
          </a:p>
        </p:txBody>
      </p:sp>
      <p:sp>
        <p:nvSpPr>
          <p:cNvPr id="8" name="TextBox 7"/>
          <p:cNvSpPr txBox="1"/>
          <p:nvPr/>
        </p:nvSpPr>
        <p:spPr>
          <a:xfrm>
            <a:off x="7936992" y="2560320"/>
            <a:ext cx="3383280" cy="3154680"/>
          </a:xfrm>
          <a:prstGeom prst="rect">
            <a:avLst/>
          </a:prstGeom>
          <a:noFill/>
        </p:spPr>
        <p:txBody>
          <a:bodyPr wrap="square" anchor="t" lIns="0" rIns="0" tIns="0" bIns="0">
            <a:spAutoFit/>
          </a:bodyPr>
          <a:lstStyle/>
          <a:p>
            <a:pPr algn="l">
              <a:lnSpc>
                <a:spcPct val="120000"/>
              </a:lnSpc>
              <a:spcBef>
                <a:spcPts val="0"/>
              </a:spcBef>
              <a:spcAft>
                <a:spcPts val="900"/>
              </a:spcAft>
            </a:pPr>
            <a:r>
              <a:rPr sz="1300" b="1" i="0">
                <a:solidFill>
                  <a:srgbClr val="E64415"/>
                </a:solidFill>
                <a:latin typeface="Lato"/>
              </a:rPr>
              <a:t>Future work</a:t>
            </a:r>
          </a:p>
          <a:p>
            <a:pPr algn="l">
              <a:lnSpc>
                <a:spcPct val="120000"/>
              </a:lnSpc>
              <a:spcBef>
                <a:spcPts val="0"/>
              </a:spcBef>
              <a:spcAft>
                <a:spcPts val="900"/>
              </a:spcAft>
            </a:pPr>
            <a:r>
              <a:rPr sz="1350" b="0" i="0">
                <a:solidFill>
                  <a:srgbClr val="1A1A1A"/>
                </a:solidFill>
                <a:latin typeface="Lato"/>
              </a:rPr>
              <a:t>Obtain a name-to-refcode mapping and close RQ3.</a:t>
            </a:r>
          </a:p>
          <a:p>
            <a:pPr algn="l">
              <a:lnSpc>
                <a:spcPct val="120000"/>
              </a:lnSpc>
              <a:spcBef>
                <a:spcPts val="0"/>
              </a:spcBef>
              <a:spcAft>
                <a:spcPts val="900"/>
              </a:spcAft>
            </a:pPr>
            <a:r>
              <a:rPr sz="1350" b="0" i="0">
                <a:solidFill>
                  <a:srgbClr val="1A1A1A"/>
                </a:solidFill>
                <a:latin typeface="Lato"/>
              </a:rPr>
              <a:t>Rerun without the “omit when unsure” instruction, to separate caution from obedience.</a:t>
            </a:r>
          </a:p>
          <a:p>
            <a:pPr algn="l">
              <a:lnSpc>
                <a:spcPct val="120000"/>
              </a:lnSpc>
              <a:spcBef>
                <a:spcPts val="0"/>
              </a:spcBef>
              <a:spcAft>
                <a:spcPts val="900"/>
              </a:spcAft>
            </a:pPr>
            <a:r>
              <a:rPr sz="1350" b="0" i="0">
                <a:solidFill>
                  <a:srgbClr val="1A1A1A"/>
                </a:solidFill>
                <a:latin typeface="Lato"/>
              </a:rPr>
              <a:t>Repair the condition evaluation and add identifier resolution.</a:t>
            </a:r>
          </a:p>
          <a:p>
            <a:pPr algn="l">
              <a:lnSpc>
                <a:spcPct val="120000"/>
              </a:lnSpc>
              <a:spcBef>
                <a:spcPts val="0"/>
              </a:spcBef>
              <a:spcAft>
                <a:spcPts val="900"/>
              </a:spcAft>
            </a:pPr>
            <a:r>
              <a:rPr sz="1350" b="0" i="0">
                <a:solidFill>
                  <a:srgbClr val="1A1A1A"/>
                </a:solidFill>
                <a:latin typeface="Lato"/>
              </a:rPr>
              <a:t>Enlarge the gold standard and add a second annotator.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