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rh_logo.jpg"/>
          <p:cNvPicPr>
            <a:picLocks noChangeAspect="1"/>
          </p:cNvPicPr>
          <p:nvPr/>
        </p:nvPicPr>
        <p:blipFill>
          <a:blip r:embed="rId2"/>
          <a:stretch>
            <a:fillRect/>
          </a:stretch>
        </p:blipFill>
        <p:spPr>
          <a:xfrm>
            <a:off x="5318607" y="960120"/>
            <a:ext cx="1554480" cy="1202025"/>
          </a:xfrm>
          <a:prstGeom prst="rect">
            <a:avLst/>
          </a:prstGeom>
        </p:spPr>
      </p:pic>
      <p:sp>
        <p:nvSpPr>
          <p:cNvPr id="3" name="TextBox 2"/>
          <p:cNvSpPr txBox="1"/>
          <p:nvPr/>
        </p:nvSpPr>
        <p:spPr>
          <a:xfrm>
            <a:off x="914400" y="2514600"/>
            <a:ext cx="10360152" cy="365760"/>
          </a:xfrm>
          <a:prstGeom prst="rect">
            <a:avLst/>
          </a:prstGeom>
          <a:noFill/>
        </p:spPr>
        <p:txBody>
          <a:bodyPr wrap="square" anchor="t" lIns="0" rIns="0" tIns="0" bIns="0">
            <a:spAutoFit/>
          </a:bodyPr>
          <a:lstStyle/>
          <a:p>
            <a:pPr algn="ctr">
              <a:lnSpc>
                <a:spcPct val="112000"/>
              </a:lnSpc>
              <a:spcBef>
                <a:spcPts val="0"/>
              </a:spcBef>
              <a:spcAft>
                <a:spcPts val="600"/>
              </a:spcAft>
            </a:pPr>
            <a:r>
              <a:rPr sz="1400" b="1" i="0">
                <a:solidFill>
                  <a:srgbClr val="555555"/>
                </a:solidFill>
                <a:latin typeface="Lato"/>
              </a:rPr>
              <a:t>C A S E   S T U D Y   2      ·      F I N A L</a:t>
            </a:r>
          </a:p>
        </p:txBody>
      </p:sp>
      <p:sp>
        <p:nvSpPr>
          <p:cNvPr id="4" name="TextBox 3"/>
          <p:cNvSpPr txBox="1"/>
          <p:nvPr/>
        </p:nvSpPr>
        <p:spPr>
          <a:xfrm>
            <a:off x="914400" y="2971800"/>
            <a:ext cx="10360152" cy="1188720"/>
          </a:xfrm>
          <a:prstGeom prst="rect">
            <a:avLst/>
          </a:prstGeom>
          <a:noFill/>
        </p:spPr>
        <p:txBody>
          <a:bodyPr wrap="square" anchor="t" lIns="0" rIns="0" tIns="0" bIns="0">
            <a:spAutoFit/>
          </a:bodyPr>
          <a:lstStyle/>
          <a:p>
            <a:pPr algn="ctr">
              <a:lnSpc>
                <a:spcPct val="118000"/>
              </a:lnSpc>
              <a:spcBef>
                <a:spcPts val="0"/>
              </a:spcBef>
              <a:spcAft>
                <a:spcPts val="600"/>
              </a:spcAft>
            </a:pPr>
            <a:r>
              <a:rPr sz="3100" b="1" i="0">
                <a:solidFill>
                  <a:srgbClr val="1A1A1A"/>
                </a:solidFill>
                <a:latin typeface="Lato"/>
              </a:rPr>
              <a:t>Building and Validating a Metal–Organic Framework</a:t>
            </a:r>
          </a:p>
          <a:p>
            <a:pPr algn="ctr">
              <a:lnSpc>
                <a:spcPct val="118000"/>
              </a:lnSpc>
              <a:spcBef>
                <a:spcPts val="0"/>
              </a:spcBef>
              <a:spcAft>
                <a:spcPts val="600"/>
              </a:spcAft>
            </a:pPr>
            <a:r>
              <a:rPr sz="3100" b="1" i="0">
                <a:solidFill>
                  <a:srgbClr val="1A1A1A"/>
                </a:solidFill>
                <a:latin typeface="Lato"/>
              </a:rPr>
              <a:t>Synthesis Knowledge Graph with Large Language Models</a:t>
            </a:r>
          </a:p>
        </p:txBody>
      </p:sp>
      <p:sp>
        <p:nvSpPr>
          <p:cNvPr id="5" name="Rectangle 4"/>
          <p:cNvSpPr/>
          <p:nvPr/>
        </p:nvSpPr>
        <p:spPr>
          <a:xfrm>
            <a:off x="5458968" y="4498848"/>
            <a:ext cx="1280160" cy="30480"/>
          </a:xfrm>
          <a:prstGeom prst="rect">
            <a:avLst/>
          </a:prstGeom>
          <a:solidFill>
            <a:srgbClr val="E64415"/>
          </a:solidFill>
          <a:ln>
            <a:noFill/>
          </a:ln>
          <a:effectLst/>
        </p:spPr>
        <p:txBody>
          <a:bodyPr rtlCol="0" anchor="ctr"/>
          <a:lstStyle/>
          <a:p>
            <a:pPr algn="ctr"/>
          </a:p>
        </p:txBody>
      </p:sp>
      <p:sp>
        <p:nvSpPr>
          <p:cNvPr id="6" name="TextBox 5"/>
          <p:cNvSpPr txBox="1"/>
          <p:nvPr/>
        </p:nvSpPr>
        <p:spPr>
          <a:xfrm>
            <a:off x="914400" y="4864608"/>
            <a:ext cx="10360152" cy="1371600"/>
          </a:xfrm>
          <a:prstGeom prst="rect">
            <a:avLst/>
          </a:prstGeom>
          <a:noFill/>
        </p:spPr>
        <p:txBody>
          <a:bodyPr wrap="square" anchor="t" lIns="0" rIns="0" tIns="0" bIns="0">
            <a:spAutoFit/>
          </a:bodyPr>
          <a:lstStyle/>
          <a:p>
            <a:pPr algn="ctr">
              <a:lnSpc>
                <a:spcPct val="112000"/>
              </a:lnSpc>
              <a:spcBef>
                <a:spcPts val="0"/>
              </a:spcBef>
              <a:spcAft>
                <a:spcPts val="500"/>
              </a:spcAft>
            </a:pPr>
            <a:r>
              <a:rPr sz="1600" b="1" i="0">
                <a:solidFill>
                  <a:srgbClr val="1A1A1A"/>
                </a:solidFill>
                <a:latin typeface="Lato"/>
              </a:rPr>
              <a:t>Devendra Singh Dhakad</a:t>
            </a:r>
            <a:r>
              <a:rPr sz="1600" b="0" i="0">
                <a:solidFill>
                  <a:srgbClr val="BBBBBB"/>
                </a:solidFill>
                <a:latin typeface="Lato"/>
              </a:rPr>
              <a:t>      ·      </a:t>
            </a:r>
            <a:r>
              <a:rPr sz="1600" b="0" i="0">
                <a:solidFill>
                  <a:srgbClr val="555555"/>
                </a:solidFill>
                <a:latin typeface="Lato"/>
              </a:rPr>
              <a:t>Matriculation No. 100004684</a:t>
            </a:r>
          </a:p>
          <a:p>
            <a:pPr algn="ctr">
              <a:lnSpc>
                <a:spcPct val="112000"/>
              </a:lnSpc>
              <a:spcBef>
                <a:spcPts val="0"/>
              </a:spcBef>
              <a:spcAft>
                <a:spcPts val="500"/>
              </a:spcAft>
            </a:pPr>
            <a:r>
              <a:rPr sz="1400" b="0" i="0">
                <a:solidFill>
                  <a:srgbClr val="555555"/>
                </a:solidFill>
                <a:latin typeface="Lato"/>
              </a:rPr>
              <a:t>M.Sc. Data Science and Artificial Intelligence</a:t>
            </a:r>
          </a:p>
          <a:p>
            <a:pPr algn="ctr">
              <a:lnSpc>
                <a:spcPct val="112000"/>
              </a:lnSpc>
              <a:spcBef>
                <a:spcPts val="0"/>
              </a:spcBef>
              <a:spcAft>
                <a:spcPts val="500"/>
              </a:spcAft>
            </a:pPr>
            <a:r>
              <a:rPr sz="1400" b="0" i="0">
                <a:solidFill>
                  <a:srgbClr val="555555"/>
                </a:solidFill>
                <a:latin typeface="Lato"/>
              </a:rPr>
              <a:t>Supervisor: Prof. Dr. Mehrdad Jalali</a:t>
            </a:r>
          </a:p>
          <a:p>
            <a:pPr algn="ctr">
              <a:lnSpc>
                <a:spcPct val="112000"/>
              </a:lnSpc>
              <a:spcBef>
                <a:spcPts val="0"/>
              </a:spcBef>
              <a:spcAft>
                <a:spcPts val="500"/>
              </a:spcAft>
            </a:pPr>
            <a:r>
              <a:rPr sz="1400" b="0" i="0">
                <a:solidFill>
                  <a:srgbClr val="555555"/>
                </a:solidFill>
                <a:latin typeface="Lato"/>
              </a:rPr>
              <a:t>SRH University of Applied Sciences Heidelberg</a:t>
            </a:r>
          </a:p>
          <a:p>
            <a:pPr algn="ctr">
              <a:lnSpc>
                <a:spcPct val="112000"/>
              </a:lnSpc>
              <a:spcBef>
                <a:spcPts val="0"/>
              </a:spcBef>
              <a:spcAft>
                <a:spcPts val="500"/>
              </a:spcAft>
            </a:pPr>
            <a:r>
              <a:rPr sz="1200" b="0" i="0">
                <a:solidFill>
                  <a:srgbClr val="BBBBBB"/>
                </a:solidFill>
                <a:latin typeface="Lato"/>
              </a:rPr>
              <a:t>September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rh_logo.jpg"/>
          <p:cNvPicPr>
            <a:picLocks noChangeAspect="1"/>
          </p:cNvPicPr>
          <p:nvPr/>
        </p:nvPicPr>
        <p:blipFill>
          <a:blip r:embed="rId2"/>
          <a:stretch>
            <a:fillRect/>
          </a:stretch>
        </p:blipFill>
        <p:spPr>
          <a:xfrm>
            <a:off x="548640" y="420624"/>
            <a:ext cx="868680" cy="671720"/>
          </a:xfrm>
          <a:prstGeom prst="rect">
            <a:avLst/>
          </a:prstGeom>
        </p:spPr>
      </p:pic>
      <p:sp>
        <p:nvSpPr>
          <p:cNvPr id="3" name="TextBox 2"/>
          <p:cNvSpPr txBox="1"/>
          <p:nvPr/>
        </p:nvSpPr>
        <p:spPr>
          <a:xfrm>
            <a:off x="566928" y="1298448"/>
            <a:ext cx="11064240" cy="640080"/>
          </a:xfrm>
          <a:prstGeom prst="rect">
            <a:avLst/>
          </a:prstGeom>
          <a:noFill/>
        </p:spPr>
        <p:txBody>
          <a:bodyPr wrap="square" anchor="t" lIns="0" rIns="0" tIns="0" bIns="0">
            <a:spAutoFit/>
          </a:bodyPr>
          <a:lstStyle/>
          <a:p>
            <a:pPr algn="l">
              <a:lnSpc>
                <a:spcPct val="112000"/>
              </a:lnSpc>
              <a:spcBef>
                <a:spcPts val="0"/>
              </a:spcBef>
              <a:spcAft>
                <a:spcPts val="600"/>
              </a:spcAft>
            </a:pPr>
            <a:r>
              <a:rPr sz="2700" b="1" i="0">
                <a:solidFill>
                  <a:srgbClr val="E64415"/>
                </a:solidFill>
                <a:latin typeface="Lato"/>
              </a:rPr>
              <a:t>1   </a:t>
            </a:r>
            <a:r>
              <a:rPr sz="2700" b="1" i="0">
                <a:solidFill>
                  <a:srgbClr val="1A1A1A"/>
                </a:solidFill>
                <a:latin typeface="Lato"/>
              </a:rPr>
              <a:t>The problem</a:t>
            </a:r>
          </a:p>
        </p:txBody>
      </p:sp>
      <p:sp>
        <p:nvSpPr>
          <p:cNvPr id="4" name="Rectangle 3"/>
          <p:cNvSpPr/>
          <p:nvPr/>
        </p:nvSpPr>
        <p:spPr>
          <a:xfrm>
            <a:off x="585216" y="1993392"/>
            <a:ext cx="11018520" cy="15240"/>
          </a:xfrm>
          <a:prstGeom prst="rect">
            <a:avLst/>
          </a:prstGeom>
          <a:solidFill>
            <a:srgbClr val="E3E3E3"/>
          </a:solidFill>
          <a:ln>
            <a:noFill/>
          </a:ln>
          <a:effectLst/>
        </p:spPr>
        <p:txBody>
          <a:bodyPr rtlCol="0" anchor="ctr"/>
          <a:lstStyle/>
          <a:p>
            <a:pPr algn="ctr"/>
          </a:p>
        </p:txBody>
      </p:sp>
      <p:sp>
        <p:nvSpPr>
          <p:cNvPr id="5" name="TextBox 4"/>
          <p:cNvSpPr txBox="1"/>
          <p:nvPr/>
        </p:nvSpPr>
        <p:spPr>
          <a:xfrm>
            <a:off x="11430000" y="6437376"/>
            <a:ext cx="640080" cy="274320"/>
          </a:xfrm>
          <a:prstGeom prst="rect">
            <a:avLst/>
          </a:prstGeom>
          <a:noFill/>
        </p:spPr>
        <p:txBody>
          <a:bodyPr wrap="square" anchor="t" lIns="0" rIns="0" tIns="0" bIns="0">
            <a:spAutoFit/>
          </a:bodyPr>
          <a:lstStyle/>
          <a:p>
            <a:pPr algn="r">
              <a:lnSpc>
                <a:spcPct val="112000"/>
              </a:lnSpc>
              <a:spcBef>
                <a:spcPts val="0"/>
              </a:spcBef>
              <a:spcAft>
                <a:spcPts val="600"/>
              </a:spcAft>
            </a:pPr>
            <a:r>
              <a:rPr sz="1000" b="0" i="0">
                <a:solidFill>
                  <a:srgbClr val="BBBBBB"/>
                </a:solidFill>
                <a:latin typeface="Lato"/>
              </a:rPr>
              <a:t>2</a:t>
            </a:r>
          </a:p>
        </p:txBody>
      </p:sp>
      <p:sp>
        <p:nvSpPr>
          <p:cNvPr id="6" name="TextBox 5"/>
          <p:cNvSpPr txBox="1"/>
          <p:nvPr/>
        </p:nvSpPr>
        <p:spPr>
          <a:xfrm>
            <a:off x="566928" y="2286000"/>
            <a:ext cx="6766560" cy="4023360"/>
          </a:xfrm>
          <a:prstGeom prst="rect">
            <a:avLst/>
          </a:prstGeom>
          <a:noFill/>
        </p:spPr>
        <p:txBody>
          <a:bodyPr wrap="square" anchor="t" lIns="0" rIns="0" tIns="0" bIns="0">
            <a:spAutoFit/>
          </a:bodyPr>
          <a:lstStyle/>
          <a:p>
            <a:pPr algn="l">
              <a:lnSpc>
                <a:spcPct val="116000"/>
              </a:lnSpc>
              <a:spcBef>
                <a:spcPts val="0"/>
              </a:spcBef>
              <a:spcAft>
                <a:spcPts val="900"/>
              </a:spcAft>
            </a:pPr>
            <a:r>
              <a:rPr sz="1550" b="1" i="0">
                <a:solidFill>
                  <a:srgbClr val="E64415"/>
                </a:solidFill>
                <a:latin typeface="Lato"/>
              </a:rPr>
              <a:t>•  </a:t>
            </a:r>
            <a:r>
              <a:rPr sz="1550" b="0" i="0">
                <a:solidFill>
                  <a:srgbClr val="1A1A1A"/>
                </a:solidFill>
                <a:latin typeface="Lato"/>
              </a:rPr>
              <a:t>MOFs are porous crystals built from metal nodes and organic linkers. Over 100,000 synthesised structures are recorded in the CSD.</a:t>
            </a:r>
          </a:p>
          <a:p>
            <a:pPr algn="l">
              <a:lnSpc>
                <a:spcPct val="116000"/>
              </a:lnSpc>
              <a:spcBef>
                <a:spcPts val="0"/>
              </a:spcBef>
              <a:spcAft>
                <a:spcPts val="900"/>
              </a:spcAft>
            </a:pPr>
            <a:r>
              <a:rPr sz="1550" b="1" i="0">
                <a:solidFill>
                  <a:srgbClr val="E64415"/>
                </a:solidFill>
                <a:latin typeface="Lato"/>
              </a:rPr>
              <a:t>•  </a:t>
            </a:r>
            <a:r>
              <a:rPr sz="1550" b="0" i="0">
                <a:solidFill>
                  <a:srgbClr val="1A1A1A"/>
                </a:solidFill>
                <a:latin typeface="Lato"/>
              </a:rPr>
              <a:t>Applications span CO2 capture, gas storage, catalysis, sensing and drug delivery.</a:t>
            </a:r>
          </a:p>
          <a:p>
            <a:pPr algn="l">
              <a:lnSpc>
                <a:spcPct val="116000"/>
              </a:lnSpc>
              <a:spcBef>
                <a:spcPts val="0"/>
              </a:spcBef>
              <a:spcAft>
                <a:spcPts val="900"/>
              </a:spcAft>
            </a:pPr>
            <a:r>
              <a:rPr sz="1550" b="1" i="0">
                <a:solidFill>
                  <a:srgbClr val="E64415"/>
                </a:solidFill>
                <a:latin typeface="Lato"/>
              </a:rPr>
              <a:t>•  </a:t>
            </a:r>
            <a:r>
              <a:rPr sz="1550" b="0" i="0">
                <a:solidFill>
                  <a:srgbClr val="1A1A1A"/>
                </a:solidFill>
                <a:latin typeface="Lato"/>
              </a:rPr>
              <a:t>How any given MOF is actually made (precursor, linker, solvent, method, temperature, time) stays locked in the prose of tens of thousands of papers.</a:t>
            </a:r>
          </a:p>
          <a:p>
            <a:pPr algn="l">
              <a:lnSpc>
                <a:spcPct val="116000"/>
              </a:lnSpc>
              <a:spcBef>
                <a:spcPts val="0"/>
              </a:spcBef>
              <a:spcAft>
                <a:spcPts val="900"/>
              </a:spcAft>
            </a:pPr>
            <a:r>
              <a:rPr sz="1550" b="1" i="0">
                <a:solidFill>
                  <a:srgbClr val="E64415"/>
                </a:solidFill>
                <a:latin typeface="Lato"/>
              </a:rPr>
              <a:t>•  </a:t>
            </a:r>
            <a:r>
              <a:rPr sz="1550" b="0" i="0">
                <a:solidFill>
                  <a:srgbClr val="1A1A1A"/>
                </a:solidFill>
                <a:latin typeface="Lato"/>
              </a:rPr>
              <a:t>Existing text-mined databases were built with rule-based systems whose own authors report that implicit synthesis routes are hard to extract.</a:t>
            </a:r>
          </a:p>
        </p:txBody>
      </p:sp>
      <p:sp>
        <p:nvSpPr>
          <p:cNvPr id="7" name="Rectangle 6"/>
          <p:cNvSpPr/>
          <p:nvPr/>
        </p:nvSpPr>
        <p:spPr>
          <a:xfrm>
            <a:off x="7635240" y="2286000"/>
            <a:ext cx="3977639" cy="2148840"/>
          </a:xfrm>
          <a:prstGeom prst="rect">
            <a:avLst/>
          </a:prstGeom>
          <a:solidFill>
            <a:srgbClr val="FAF6F4"/>
          </a:solidFill>
          <a:ln>
            <a:noFill/>
          </a:ln>
          <a:effectLst/>
        </p:spPr>
        <p:txBody>
          <a:bodyPr rtlCol="0" anchor="ctr"/>
          <a:lstStyle/>
          <a:p>
            <a:pPr algn="ctr"/>
          </a:p>
        </p:txBody>
      </p:sp>
      <p:sp>
        <p:nvSpPr>
          <p:cNvPr id="8" name="TextBox 7"/>
          <p:cNvSpPr txBox="1"/>
          <p:nvPr/>
        </p:nvSpPr>
        <p:spPr>
          <a:xfrm>
            <a:off x="7936992" y="2560320"/>
            <a:ext cx="3383280" cy="1737360"/>
          </a:xfrm>
          <a:prstGeom prst="rect">
            <a:avLst/>
          </a:prstGeom>
          <a:noFill/>
        </p:spPr>
        <p:txBody>
          <a:bodyPr wrap="square" anchor="t" lIns="0" rIns="0" tIns="0" bIns="0">
            <a:spAutoFit/>
          </a:bodyPr>
          <a:lstStyle/>
          <a:p>
            <a:pPr algn="l">
              <a:lnSpc>
                <a:spcPct val="120000"/>
              </a:lnSpc>
              <a:spcBef>
                <a:spcPts val="0"/>
              </a:spcBef>
              <a:spcAft>
                <a:spcPts val="800"/>
              </a:spcAft>
            </a:pPr>
            <a:r>
              <a:rPr sz="1300" b="1" i="0">
                <a:solidFill>
                  <a:srgbClr val="E64415"/>
                </a:solidFill>
                <a:latin typeface="Lato"/>
              </a:rPr>
              <a:t>The gap</a:t>
            </a:r>
          </a:p>
          <a:p>
            <a:pPr algn="l">
              <a:lnSpc>
                <a:spcPct val="120000"/>
              </a:lnSpc>
              <a:spcBef>
                <a:spcPts val="0"/>
              </a:spcBef>
              <a:spcAft>
                <a:spcPts val="800"/>
              </a:spcAft>
            </a:pPr>
            <a:r>
              <a:rPr sz="1400" b="0" i="0">
                <a:solidFill>
                  <a:srgbClr val="1A1A1A"/>
                </a:solidFill>
                <a:latin typeface="Lato"/>
              </a:rPr>
              <a:t>No published study measures LLM MOF extraction field by field against both expert annotation and a rule-based baseline, while reporting what each configuration costs.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rh_logo.jpg"/>
          <p:cNvPicPr>
            <a:picLocks noChangeAspect="1"/>
          </p:cNvPicPr>
          <p:nvPr/>
        </p:nvPicPr>
        <p:blipFill>
          <a:blip r:embed="rId2"/>
          <a:stretch>
            <a:fillRect/>
          </a:stretch>
        </p:blipFill>
        <p:spPr>
          <a:xfrm>
            <a:off x="548640" y="420624"/>
            <a:ext cx="868680" cy="671720"/>
          </a:xfrm>
          <a:prstGeom prst="rect">
            <a:avLst/>
          </a:prstGeom>
        </p:spPr>
      </p:pic>
      <p:sp>
        <p:nvSpPr>
          <p:cNvPr id="3" name="TextBox 2"/>
          <p:cNvSpPr txBox="1"/>
          <p:nvPr/>
        </p:nvSpPr>
        <p:spPr>
          <a:xfrm>
            <a:off x="566928" y="1298448"/>
            <a:ext cx="11064240" cy="640080"/>
          </a:xfrm>
          <a:prstGeom prst="rect">
            <a:avLst/>
          </a:prstGeom>
          <a:noFill/>
        </p:spPr>
        <p:txBody>
          <a:bodyPr wrap="square" anchor="t" lIns="0" rIns="0" tIns="0" bIns="0">
            <a:spAutoFit/>
          </a:bodyPr>
          <a:lstStyle/>
          <a:p>
            <a:pPr algn="l">
              <a:lnSpc>
                <a:spcPct val="112000"/>
              </a:lnSpc>
              <a:spcBef>
                <a:spcPts val="0"/>
              </a:spcBef>
              <a:spcAft>
                <a:spcPts val="600"/>
              </a:spcAft>
            </a:pPr>
            <a:r>
              <a:rPr sz="2700" b="1" i="0">
                <a:solidFill>
                  <a:srgbClr val="E64415"/>
                </a:solidFill>
                <a:latin typeface="Lato"/>
              </a:rPr>
              <a:t>2   </a:t>
            </a:r>
            <a:r>
              <a:rPr sz="2700" b="1" i="0">
                <a:solidFill>
                  <a:srgbClr val="1A1A1A"/>
                </a:solidFill>
                <a:latin typeface="Lato"/>
              </a:rPr>
              <a:t>Research questions</a:t>
            </a:r>
          </a:p>
        </p:txBody>
      </p:sp>
      <p:sp>
        <p:nvSpPr>
          <p:cNvPr id="4" name="Rectangle 3"/>
          <p:cNvSpPr/>
          <p:nvPr/>
        </p:nvSpPr>
        <p:spPr>
          <a:xfrm>
            <a:off x="585216" y="1993392"/>
            <a:ext cx="11018520" cy="15240"/>
          </a:xfrm>
          <a:prstGeom prst="rect">
            <a:avLst/>
          </a:prstGeom>
          <a:solidFill>
            <a:srgbClr val="E3E3E3"/>
          </a:solidFill>
          <a:ln>
            <a:noFill/>
          </a:ln>
          <a:effectLst/>
        </p:spPr>
        <p:txBody>
          <a:bodyPr rtlCol="0" anchor="ctr"/>
          <a:lstStyle/>
          <a:p>
            <a:pPr algn="ctr"/>
          </a:p>
        </p:txBody>
      </p:sp>
      <p:sp>
        <p:nvSpPr>
          <p:cNvPr id="5" name="TextBox 4"/>
          <p:cNvSpPr txBox="1"/>
          <p:nvPr/>
        </p:nvSpPr>
        <p:spPr>
          <a:xfrm>
            <a:off x="11430000" y="6437376"/>
            <a:ext cx="640080" cy="274320"/>
          </a:xfrm>
          <a:prstGeom prst="rect">
            <a:avLst/>
          </a:prstGeom>
          <a:noFill/>
        </p:spPr>
        <p:txBody>
          <a:bodyPr wrap="square" anchor="t" lIns="0" rIns="0" tIns="0" bIns="0">
            <a:spAutoFit/>
          </a:bodyPr>
          <a:lstStyle/>
          <a:p>
            <a:pPr algn="r">
              <a:lnSpc>
                <a:spcPct val="112000"/>
              </a:lnSpc>
              <a:spcBef>
                <a:spcPts val="0"/>
              </a:spcBef>
              <a:spcAft>
                <a:spcPts val="600"/>
              </a:spcAft>
            </a:pPr>
            <a:r>
              <a:rPr sz="1000" b="0" i="0">
                <a:solidFill>
                  <a:srgbClr val="BBBBBB"/>
                </a:solidFill>
                <a:latin typeface="Lato"/>
              </a:rPr>
              <a:t>3</a:t>
            </a:r>
          </a:p>
        </p:txBody>
      </p:sp>
      <p:sp>
        <p:nvSpPr>
          <p:cNvPr id="6" name="TextBox 5"/>
          <p:cNvSpPr txBox="1"/>
          <p:nvPr/>
        </p:nvSpPr>
        <p:spPr>
          <a:xfrm>
            <a:off x="566928" y="2286000"/>
            <a:ext cx="10972800" cy="4023360"/>
          </a:xfrm>
          <a:prstGeom prst="rect">
            <a:avLst/>
          </a:prstGeom>
          <a:noFill/>
        </p:spPr>
        <p:txBody>
          <a:bodyPr wrap="square" anchor="t" lIns="0" rIns="0" tIns="0" bIns="0">
            <a:spAutoFit/>
          </a:bodyPr>
          <a:lstStyle/>
          <a:p>
            <a:pPr algn="l">
              <a:lnSpc>
                <a:spcPct val="116000"/>
              </a:lnSpc>
              <a:spcBef>
                <a:spcPts val="0"/>
              </a:spcBef>
              <a:spcAft>
                <a:spcPts val="1300"/>
              </a:spcAft>
            </a:pPr>
            <a:r>
              <a:rPr sz="1550" b="1" i="0">
                <a:solidFill>
                  <a:srgbClr val="E64415"/>
                </a:solidFill>
                <a:latin typeface="Lato"/>
              </a:rPr>
              <a:t>•  </a:t>
            </a:r>
            <a:r>
              <a:rPr sz="1550" b="0" i="0">
                <a:solidFill>
                  <a:srgbClr val="1A1A1A"/>
                </a:solidFill>
                <a:latin typeface="Lato"/>
              </a:rPr>
              <a:t>RQ1  Per-field accuracy: LLMs against a rule-based baseline built from the same domain vocabulary.</a:t>
            </a:r>
          </a:p>
          <a:p>
            <a:pPr algn="l">
              <a:lnSpc>
                <a:spcPct val="116000"/>
              </a:lnSpc>
              <a:spcBef>
                <a:spcPts val="0"/>
              </a:spcBef>
              <a:spcAft>
                <a:spcPts val="1300"/>
              </a:spcAft>
            </a:pPr>
            <a:r>
              <a:rPr sz="1550" b="1" i="0">
                <a:solidFill>
                  <a:srgbClr val="E64415"/>
                </a:solidFill>
                <a:latin typeface="Lato"/>
              </a:rPr>
              <a:t>•  </a:t>
            </a:r>
            <a:r>
              <a:rPr sz="1550" b="0" i="0">
                <a:solidFill>
                  <a:srgbClr val="1A1A1A"/>
                </a:solidFill>
                <a:latin typeface="Lato"/>
              </a:rPr>
              <a:t>RQ2  Which prompting strategy is most reliable: zero-shot, few-shot, schema-guided, chain-of-thought.</a:t>
            </a:r>
          </a:p>
          <a:p>
            <a:pPr algn="l">
              <a:lnSpc>
                <a:spcPct val="116000"/>
              </a:lnSpc>
              <a:spcBef>
                <a:spcPts val="0"/>
              </a:spcBef>
              <a:spcAft>
                <a:spcPts val="1300"/>
              </a:spcAft>
            </a:pPr>
            <a:r>
              <a:rPr sz="1550" b="1" i="0">
                <a:solidFill>
                  <a:srgbClr val="E64415"/>
                </a:solidFill>
                <a:latin typeface="Lato"/>
              </a:rPr>
              <a:t>•  </a:t>
            </a:r>
            <a:r>
              <a:rPr sz="1550" b="0" i="0">
                <a:solidFill>
                  <a:srgbClr val="1A1A1A"/>
                </a:solidFill>
                <a:latin typeface="Lato"/>
              </a:rPr>
              <a:t>RQ3  Where and why extractions disagree with the DigiMOF and SynMOF reference databases.</a:t>
            </a:r>
          </a:p>
          <a:p>
            <a:pPr algn="l">
              <a:lnSpc>
                <a:spcPct val="116000"/>
              </a:lnSpc>
              <a:spcBef>
                <a:spcPts val="0"/>
              </a:spcBef>
              <a:spcAft>
                <a:spcPts val="1300"/>
              </a:spcAft>
            </a:pPr>
            <a:r>
              <a:rPr sz="1550" b="1" i="0">
                <a:solidFill>
                  <a:srgbClr val="E64415"/>
                </a:solidFill>
                <a:latin typeface="Lato"/>
              </a:rPr>
              <a:t>•  </a:t>
            </a:r>
            <a:r>
              <a:rPr sz="1550" b="0" i="0">
                <a:solidFill>
                  <a:srgbClr val="1A1A1A"/>
                </a:solidFill>
                <a:latin typeface="Lato"/>
              </a:rPr>
              <a:t>RQ4  Open-weight models against commercial APIs on accuracy, cost and latency.</a:t>
            </a:r>
          </a:p>
          <a:p>
            <a:pPr algn="l">
              <a:lnSpc>
                <a:spcPct val="116000"/>
              </a:lnSpc>
              <a:spcBef>
                <a:spcPts val="0"/>
              </a:spcBef>
              <a:spcAft>
                <a:spcPts val="1300"/>
              </a:spcAft>
            </a:pPr>
            <a:r>
              <a:rPr sz="1550" b="1" i="0">
                <a:solidFill>
                  <a:srgbClr val="E64415"/>
                </a:solidFill>
                <a:latin typeface="Lato"/>
              </a:rPr>
              <a:t>•  </a:t>
            </a:r>
            <a:r>
              <a:rPr sz="1550" b="0" i="0">
                <a:solidFill>
                  <a:srgbClr val="1A1A1A"/>
                </a:solidFill>
                <a:latin typeface="Lato"/>
              </a:rPr>
              <a:t>RQ5  Can the resulting knowledge graph answer aggregation queries across hundreds of papers.</a:t>
            </a:r>
          </a:p>
        </p:txBody>
      </p:sp>
      <p:sp>
        <p:nvSpPr>
          <p:cNvPr id="7" name="TextBox 6"/>
          <p:cNvSpPr txBox="1"/>
          <p:nvPr/>
        </p:nvSpPr>
        <p:spPr>
          <a:xfrm>
            <a:off x="566928" y="5806440"/>
            <a:ext cx="10972800" cy="548640"/>
          </a:xfrm>
          <a:prstGeom prst="rect">
            <a:avLst/>
          </a:prstGeom>
          <a:noFill/>
        </p:spPr>
        <p:txBody>
          <a:bodyPr wrap="square" anchor="t" lIns="0" rIns="0" tIns="0" bIns="0">
            <a:spAutoFit/>
          </a:bodyPr>
          <a:lstStyle/>
          <a:p>
            <a:pPr algn="l">
              <a:lnSpc>
                <a:spcPct val="112000"/>
              </a:lnSpc>
              <a:spcBef>
                <a:spcPts val="0"/>
              </a:spcBef>
              <a:spcAft>
                <a:spcPts val="600"/>
              </a:spcAft>
            </a:pPr>
            <a:r>
              <a:rPr sz="1400" b="1" i="0">
                <a:solidFill>
                  <a:srgbClr val="1A1A1A"/>
                </a:solidFill>
                <a:latin typeface="Lato"/>
              </a:rPr>
              <a:t>Answered: RQ1, RQ2, RQ4, RQ5.    </a:t>
            </a:r>
            <a:r>
              <a:rPr sz="1400" b="0" i="0">
                <a:solidFill>
                  <a:srgbClr val="555555"/>
                </a:solidFill>
                <a:latin typeface="Lato"/>
              </a:rPr>
              <a:t>RQ3 could not be answered; the reason is on slide 12.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rh_logo.jpg"/>
          <p:cNvPicPr>
            <a:picLocks noChangeAspect="1"/>
          </p:cNvPicPr>
          <p:nvPr/>
        </p:nvPicPr>
        <p:blipFill>
          <a:blip r:embed="rId2"/>
          <a:stretch>
            <a:fillRect/>
          </a:stretch>
        </p:blipFill>
        <p:spPr>
          <a:xfrm>
            <a:off x="548640" y="420624"/>
            <a:ext cx="868680" cy="671720"/>
          </a:xfrm>
          <a:prstGeom prst="rect">
            <a:avLst/>
          </a:prstGeom>
        </p:spPr>
      </p:pic>
      <p:sp>
        <p:nvSpPr>
          <p:cNvPr id="3" name="TextBox 2"/>
          <p:cNvSpPr txBox="1"/>
          <p:nvPr/>
        </p:nvSpPr>
        <p:spPr>
          <a:xfrm>
            <a:off x="566928" y="1298448"/>
            <a:ext cx="11064240" cy="640080"/>
          </a:xfrm>
          <a:prstGeom prst="rect">
            <a:avLst/>
          </a:prstGeom>
          <a:noFill/>
        </p:spPr>
        <p:txBody>
          <a:bodyPr wrap="square" anchor="t" lIns="0" rIns="0" tIns="0" bIns="0">
            <a:spAutoFit/>
          </a:bodyPr>
          <a:lstStyle/>
          <a:p>
            <a:pPr algn="l">
              <a:lnSpc>
                <a:spcPct val="112000"/>
              </a:lnSpc>
              <a:spcBef>
                <a:spcPts val="0"/>
              </a:spcBef>
              <a:spcAft>
                <a:spcPts val="600"/>
              </a:spcAft>
            </a:pPr>
            <a:r>
              <a:rPr sz="2700" b="1" i="0">
                <a:solidFill>
                  <a:srgbClr val="E64415"/>
                </a:solidFill>
                <a:latin typeface="Lato"/>
              </a:rPr>
              <a:t>3   </a:t>
            </a:r>
            <a:r>
              <a:rPr sz="2700" b="1" i="0">
                <a:solidFill>
                  <a:srgbClr val="1A1A1A"/>
                </a:solidFill>
                <a:latin typeface="Lato"/>
              </a:rPr>
              <a:t>What was built</a:t>
            </a:r>
          </a:p>
        </p:txBody>
      </p:sp>
      <p:sp>
        <p:nvSpPr>
          <p:cNvPr id="4" name="Rectangle 3"/>
          <p:cNvSpPr/>
          <p:nvPr/>
        </p:nvSpPr>
        <p:spPr>
          <a:xfrm>
            <a:off x="585216" y="1993392"/>
            <a:ext cx="11018520" cy="15240"/>
          </a:xfrm>
          <a:prstGeom prst="rect">
            <a:avLst/>
          </a:prstGeom>
          <a:solidFill>
            <a:srgbClr val="E3E3E3"/>
          </a:solidFill>
          <a:ln>
            <a:noFill/>
          </a:ln>
          <a:effectLst/>
        </p:spPr>
        <p:txBody>
          <a:bodyPr rtlCol="0" anchor="ctr"/>
          <a:lstStyle/>
          <a:p>
            <a:pPr algn="ctr"/>
          </a:p>
        </p:txBody>
      </p:sp>
      <p:sp>
        <p:nvSpPr>
          <p:cNvPr id="5" name="TextBox 4"/>
          <p:cNvSpPr txBox="1"/>
          <p:nvPr/>
        </p:nvSpPr>
        <p:spPr>
          <a:xfrm>
            <a:off x="11430000" y="6437376"/>
            <a:ext cx="640080" cy="274320"/>
          </a:xfrm>
          <a:prstGeom prst="rect">
            <a:avLst/>
          </a:prstGeom>
          <a:noFill/>
        </p:spPr>
        <p:txBody>
          <a:bodyPr wrap="square" anchor="t" lIns="0" rIns="0" tIns="0" bIns="0">
            <a:spAutoFit/>
          </a:bodyPr>
          <a:lstStyle/>
          <a:p>
            <a:pPr algn="r">
              <a:lnSpc>
                <a:spcPct val="112000"/>
              </a:lnSpc>
              <a:spcBef>
                <a:spcPts val="0"/>
              </a:spcBef>
              <a:spcAft>
                <a:spcPts val="600"/>
              </a:spcAft>
            </a:pPr>
            <a:r>
              <a:rPr sz="1000" b="0" i="0">
                <a:solidFill>
                  <a:srgbClr val="BBBBBB"/>
                </a:solidFill>
                <a:latin typeface="Lato"/>
              </a:rPr>
              <a:t>4</a:t>
            </a:r>
          </a:p>
        </p:txBody>
      </p:sp>
      <p:pic>
        <p:nvPicPr>
          <p:cNvPr id="6" name="Picture 5" descr="pipeline_architecture.png"/>
          <p:cNvPicPr>
            <a:picLocks noChangeAspect="1"/>
          </p:cNvPicPr>
          <p:nvPr/>
        </p:nvPicPr>
        <p:blipFill>
          <a:blip r:embed="rId3"/>
          <a:stretch>
            <a:fillRect/>
          </a:stretch>
        </p:blipFill>
        <p:spPr>
          <a:xfrm>
            <a:off x="3098647" y="2121408"/>
            <a:ext cx="5994400" cy="3657600"/>
          </a:xfrm>
          <a:prstGeom prst="rect">
            <a:avLst/>
          </a:prstGeom>
        </p:spPr>
      </p:pic>
      <p:sp>
        <p:nvSpPr>
          <p:cNvPr id="7" name="TextBox 6"/>
          <p:cNvSpPr txBox="1"/>
          <p:nvPr/>
        </p:nvSpPr>
        <p:spPr>
          <a:xfrm>
            <a:off x="566928" y="5806440"/>
            <a:ext cx="10972800" cy="457200"/>
          </a:xfrm>
          <a:prstGeom prst="rect">
            <a:avLst/>
          </a:prstGeom>
          <a:noFill/>
        </p:spPr>
        <p:txBody>
          <a:bodyPr wrap="square" anchor="t" lIns="0" rIns="0" tIns="0" bIns="0">
            <a:spAutoFit/>
          </a:bodyPr>
          <a:lstStyle/>
          <a:p>
            <a:pPr algn="l">
              <a:lnSpc>
                <a:spcPct val="112000"/>
              </a:lnSpc>
              <a:spcBef>
                <a:spcPts val="0"/>
              </a:spcBef>
              <a:spcAft>
                <a:spcPts val="600"/>
              </a:spcAft>
            </a:pPr>
            <a:r>
              <a:rPr sz="1350" b="0" i="0">
                <a:solidFill>
                  <a:srgbClr val="555555"/>
                </a:solidFill>
                <a:latin typeface="Lato"/>
              </a:rPr>
              <a:t>Six stages, each writing a JSON Lines file the next one reads. Any stage can be rerun without rerunning the others, and every intermediate is inspectable.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rh_logo.jpg"/>
          <p:cNvPicPr>
            <a:picLocks noChangeAspect="1"/>
          </p:cNvPicPr>
          <p:nvPr/>
        </p:nvPicPr>
        <p:blipFill>
          <a:blip r:embed="rId2"/>
          <a:stretch>
            <a:fillRect/>
          </a:stretch>
        </p:blipFill>
        <p:spPr>
          <a:xfrm>
            <a:off x="548640" y="420624"/>
            <a:ext cx="868680" cy="671720"/>
          </a:xfrm>
          <a:prstGeom prst="rect">
            <a:avLst/>
          </a:prstGeom>
        </p:spPr>
      </p:pic>
      <p:sp>
        <p:nvSpPr>
          <p:cNvPr id="3" name="TextBox 2"/>
          <p:cNvSpPr txBox="1"/>
          <p:nvPr/>
        </p:nvSpPr>
        <p:spPr>
          <a:xfrm>
            <a:off x="566928" y="1298448"/>
            <a:ext cx="11064240" cy="640080"/>
          </a:xfrm>
          <a:prstGeom prst="rect">
            <a:avLst/>
          </a:prstGeom>
          <a:noFill/>
        </p:spPr>
        <p:txBody>
          <a:bodyPr wrap="square" anchor="t" lIns="0" rIns="0" tIns="0" bIns="0">
            <a:spAutoFit/>
          </a:bodyPr>
          <a:lstStyle/>
          <a:p>
            <a:pPr algn="l">
              <a:lnSpc>
                <a:spcPct val="112000"/>
              </a:lnSpc>
              <a:spcBef>
                <a:spcPts val="0"/>
              </a:spcBef>
              <a:spcAft>
                <a:spcPts val="600"/>
              </a:spcAft>
            </a:pPr>
            <a:r>
              <a:rPr sz="2700" b="1" i="0">
                <a:solidFill>
                  <a:srgbClr val="E64415"/>
                </a:solidFill>
                <a:latin typeface="Lato"/>
              </a:rPr>
              <a:t>4   </a:t>
            </a:r>
            <a:r>
              <a:rPr sz="2700" b="1" i="0">
                <a:solidFill>
                  <a:srgbClr val="1A1A1A"/>
                </a:solidFill>
                <a:latin typeface="Lato"/>
              </a:rPr>
              <a:t>The gold standard</a:t>
            </a:r>
          </a:p>
        </p:txBody>
      </p:sp>
      <p:sp>
        <p:nvSpPr>
          <p:cNvPr id="4" name="Rectangle 3"/>
          <p:cNvSpPr/>
          <p:nvPr/>
        </p:nvSpPr>
        <p:spPr>
          <a:xfrm>
            <a:off x="585216" y="1993392"/>
            <a:ext cx="11018520" cy="15240"/>
          </a:xfrm>
          <a:prstGeom prst="rect">
            <a:avLst/>
          </a:prstGeom>
          <a:solidFill>
            <a:srgbClr val="E3E3E3"/>
          </a:solidFill>
          <a:ln>
            <a:noFill/>
          </a:ln>
          <a:effectLst/>
        </p:spPr>
        <p:txBody>
          <a:bodyPr rtlCol="0" anchor="ctr"/>
          <a:lstStyle/>
          <a:p>
            <a:pPr algn="ctr"/>
          </a:p>
        </p:txBody>
      </p:sp>
      <p:sp>
        <p:nvSpPr>
          <p:cNvPr id="5" name="TextBox 4"/>
          <p:cNvSpPr txBox="1"/>
          <p:nvPr/>
        </p:nvSpPr>
        <p:spPr>
          <a:xfrm>
            <a:off x="11430000" y="6437376"/>
            <a:ext cx="640080" cy="274320"/>
          </a:xfrm>
          <a:prstGeom prst="rect">
            <a:avLst/>
          </a:prstGeom>
          <a:noFill/>
        </p:spPr>
        <p:txBody>
          <a:bodyPr wrap="square" anchor="t" lIns="0" rIns="0" tIns="0" bIns="0">
            <a:spAutoFit/>
          </a:bodyPr>
          <a:lstStyle/>
          <a:p>
            <a:pPr algn="r">
              <a:lnSpc>
                <a:spcPct val="112000"/>
              </a:lnSpc>
              <a:spcBef>
                <a:spcPts val="0"/>
              </a:spcBef>
              <a:spcAft>
                <a:spcPts val="600"/>
              </a:spcAft>
            </a:pPr>
            <a:r>
              <a:rPr sz="1000" b="0" i="0">
                <a:solidFill>
                  <a:srgbClr val="BBBBBB"/>
                </a:solidFill>
                <a:latin typeface="Lato"/>
              </a:rPr>
              <a:t>5</a:t>
            </a:r>
          </a:p>
        </p:txBody>
      </p:sp>
      <p:sp>
        <p:nvSpPr>
          <p:cNvPr id="6" name="TextBox 5"/>
          <p:cNvSpPr txBox="1"/>
          <p:nvPr/>
        </p:nvSpPr>
        <p:spPr>
          <a:xfrm>
            <a:off x="566928" y="2286000"/>
            <a:ext cx="6675120" cy="4023360"/>
          </a:xfrm>
          <a:prstGeom prst="rect">
            <a:avLst/>
          </a:prstGeom>
          <a:noFill/>
        </p:spPr>
        <p:txBody>
          <a:bodyPr wrap="square" anchor="t" lIns="0" rIns="0" tIns="0" bIns="0">
            <a:spAutoFit/>
          </a:bodyPr>
          <a:lstStyle/>
          <a:p>
            <a:pPr algn="l">
              <a:lnSpc>
                <a:spcPct val="116000"/>
              </a:lnSpc>
              <a:spcBef>
                <a:spcPts val="0"/>
              </a:spcBef>
              <a:spcAft>
                <a:spcPts val="900"/>
              </a:spcAft>
            </a:pPr>
            <a:r>
              <a:rPr sz="1550" b="1" i="0">
                <a:solidFill>
                  <a:srgbClr val="E64415"/>
                </a:solidFill>
                <a:latin typeface="Lato"/>
              </a:rPr>
              <a:t>•  </a:t>
            </a:r>
            <a:r>
              <a:rPr sz="1550" b="0" i="0">
                <a:solidFill>
                  <a:srgbClr val="1A1A1A"/>
                </a:solidFill>
                <a:latin typeface="Lato"/>
              </a:rPr>
              <a:t>100 passages annotated by hand, yielding 138 triples. Drawn by a seeded stratified sample.</a:t>
            </a:r>
          </a:p>
          <a:p>
            <a:pPr algn="l">
              <a:lnSpc>
                <a:spcPct val="116000"/>
              </a:lnSpc>
              <a:spcBef>
                <a:spcPts val="0"/>
              </a:spcBef>
              <a:spcAft>
                <a:spcPts val="900"/>
              </a:spcAft>
            </a:pPr>
            <a:r>
              <a:rPr sz="1550" b="1" i="0">
                <a:solidFill>
                  <a:srgbClr val="E64415"/>
                </a:solidFill>
                <a:latin typeface="Lato"/>
              </a:rPr>
              <a:t>•  </a:t>
            </a:r>
            <a:r>
              <a:rPr sz="1550" b="0" i="0">
                <a:solidFill>
                  <a:srgbClr val="1A1A1A"/>
                </a:solidFill>
                <a:latin typeface="Lato"/>
              </a:rPr>
              <a:t>90 from the synthesis-flagged pool, plus 10 unflagged controls so the pre-filter's own miss rate is measurable rather than assumed.</a:t>
            </a:r>
          </a:p>
          <a:p>
            <a:pPr algn="l">
              <a:lnSpc>
                <a:spcPct val="116000"/>
              </a:lnSpc>
              <a:spcBef>
                <a:spcPts val="0"/>
              </a:spcBef>
              <a:spcAft>
                <a:spcPts val="900"/>
              </a:spcAft>
            </a:pPr>
            <a:r>
              <a:rPr sz="1550" b="1" i="0">
                <a:solidFill>
                  <a:srgbClr val="E64415"/>
                </a:solidFill>
                <a:latin typeface="Lato"/>
              </a:rPr>
              <a:t>•  </a:t>
            </a:r>
            <a:r>
              <a:rPr sz="1550" b="0" i="0">
                <a:solidFill>
                  <a:srgbClr val="1A1A1A"/>
                </a:solidFill>
                <a:latin typeface="Lato"/>
              </a:rPr>
              <a:t>Annotation used an ontology-constrained interface: an invalid triple cannot be created.</a:t>
            </a:r>
          </a:p>
        </p:txBody>
      </p:sp>
      <p:sp>
        <p:nvSpPr>
          <p:cNvPr id="7" name="Rectangle 6"/>
          <p:cNvSpPr/>
          <p:nvPr/>
        </p:nvSpPr>
        <p:spPr>
          <a:xfrm>
            <a:off x="7452360" y="2286000"/>
            <a:ext cx="4160520" cy="2514600"/>
          </a:xfrm>
          <a:prstGeom prst="rect">
            <a:avLst/>
          </a:prstGeom>
          <a:noFill/>
          <a:ln w="17780">
            <a:solidFill>
              <a:srgbClr val="E64415"/>
            </a:solidFill>
          </a:ln>
          <a:effectLst/>
        </p:spPr>
        <p:txBody>
          <a:bodyPr rtlCol="0" anchor="ctr"/>
          <a:lstStyle/>
          <a:p>
            <a:pPr algn="ctr"/>
          </a:p>
        </p:txBody>
      </p:sp>
      <p:sp>
        <p:nvSpPr>
          <p:cNvPr id="8" name="TextBox 7"/>
          <p:cNvSpPr txBox="1"/>
          <p:nvPr/>
        </p:nvSpPr>
        <p:spPr>
          <a:xfrm>
            <a:off x="7754112" y="2578608"/>
            <a:ext cx="3566160" cy="2011680"/>
          </a:xfrm>
          <a:prstGeom prst="rect">
            <a:avLst/>
          </a:prstGeom>
          <a:noFill/>
        </p:spPr>
        <p:txBody>
          <a:bodyPr wrap="square" anchor="t" lIns="0" rIns="0" tIns="0" bIns="0">
            <a:spAutoFit/>
          </a:bodyPr>
          <a:lstStyle/>
          <a:p>
            <a:pPr algn="l">
              <a:lnSpc>
                <a:spcPct val="120000"/>
              </a:lnSpc>
              <a:spcBef>
                <a:spcPts val="0"/>
              </a:spcBef>
              <a:spcAft>
                <a:spcPts val="800"/>
              </a:spcAft>
            </a:pPr>
            <a:r>
              <a:rPr sz="1300" b="1" i="0">
                <a:solidFill>
                  <a:srgbClr val="E64415"/>
                </a:solidFill>
                <a:latin typeface="Lato"/>
              </a:rPr>
              <a:t>Why it was not pre-filled by a model</a:t>
            </a:r>
          </a:p>
          <a:p>
            <a:pPr algn="l">
              <a:lnSpc>
                <a:spcPct val="120000"/>
              </a:lnSpc>
              <a:spcBef>
                <a:spcPts val="0"/>
              </a:spcBef>
              <a:spcAft>
                <a:spcPts val="800"/>
              </a:spcAft>
            </a:pPr>
            <a:r>
              <a:rPr sz="1350" b="0" i="0">
                <a:solidFill>
                  <a:srgbClr val="1A1A1A"/>
                </a:solidFill>
                <a:latin typeface="Lato"/>
              </a:rPr>
              <a:t>The gold standard is the instrument the models are measured against. Generating it with a language model would make the evaluation circular: any error the models share would score as correct.</a:t>
            </a:r>
          </a:p>
        </p:txBody>
      </p:sp>
      <p:sp>
        <p:nvSpPr>
          <p:cNvPr id="9" name="TextBox 8"/>
          <p:cNvSpPr txBox="1"/>
          <p:nvPr/>
        </p:nvSpPr>
        <p:spPr>
          <a:xfrm>
            <a:off x="566928" y="5257800"/>
            <a:ext cx="2651760" cy="548640"/>
          </a:xfrm>
          <a:prstGeom prst="rect">
            <a:avLst/>
          </a:prstGeom>
          <a:noFill/>
        </p:spPr>
        <p:txBody>
          <a:bodyPr wrap="square" anchor="t" lIns="0" rIns="0" tIns="0" bIns="0">
            <a:spAutoFit/>
          </a:bodyPr>
          <a:lstStyle/>
          <a:p>
            <a:pPr algn="l">
              <a:lnSpc>
                <a:spcPct val="112000"/>
              </a:lnSpc>
              <a:spcBef>
                <a:spcPts val="0"/>
              </a:spcBef>
              <a:spcAft>
                <a:spcPts val="600"/>
              </a:spcAft>
            </a:pPr>
            <a:r>
              <a:rPr sz="3300" b="1" i="0">
                <a:solidFill>
                  <a:srgbClr val="E64415"/>
                </a:solidFill>
                <a:latin typeface="Lato"/>
              </a:rPr>
              <a:t>399</a:t>
            </a:r>
          </a:p>
        </p:txBody>
      </p:sp>
      <p:sp>
        <p:nvSpPr>
          <p:cNvPr id="10" name="TextBox 9"/>
          <p:cNvSpPr txBox="1"/>
          <p:nvPr/>
        </p:nvSpPr>
        <p:spPr>
          <a:xfrm>
            <a:off x="566928" y="5824728"/>
            <a:ext cx="2651760" cy="457200"/>
          </a:xfrm>
          <a:prstGeom prst="rect">
            <a:avLst/>
          </a:prstGeom>
          <a:noFill/>
        </p:spPr>
        <p:txBody>
          <a:bodyPr wrap="square" anchor="t" lIns="0" rIns="0" tIns="0" bIns="0">
            <a:spAutoFit/>
          </a:bodyPr>
          <a:lstStyle/>
          <a:p>
            <a:pPr algn="l">
              <a:lnSpc>
                <a:spcPct val="110000"/>
              </a:lnSpc>
              <a:spcBef>
                <a:spcPts val="0"/>
              </a:spcBef>
              <a:spcAft>
                <a:spcPts val="600"/>
              </a:spcAft>
            </a:pPr>
            <a:r>
              <a:rPr sz="1250" b="0" i="0">
                <a:solidFill>
                  <a:srgbClr val="555555"/>
                </a:solidFill>
                <a:latin typeface="Lato"/>
              </a:rPr>
              <a:t>papers collected</a:t>
            </a:r>
          </a:p>
        </p:txBody>
      </p:sp>
      <p:sp>
        <p:nvSpPr>
          <p:cNvPr id="11" name="TextBox 10"/>
          <p:cNvSpPr txBox="1"/>
          <p:nvPr/>
        </p:nvSpPr>
        <p:spPr>
          <a:xfrm>
            <a:off x="3328416" y="5257800"/>
            <a:ext cx="2651760" cy="548640"/>
          </a:xfrm>
          <a:prstGeom prst="rect">
            <a:avLst/>
          </a:prstGeom>
          <a:noFill/>
        </p:spPr>
        <p:txBody>
          <a:bodyPr wrap="square" anchor="t" lIns="0" rIns="0" tIns="0" bIns="0">
            <a:spAutoFit/>
          </a:bodyPr>
          <a:lstStyle/>
          <a:p>
            <a:pPr algn="l">
              <a:lnSpc>
                <a:spcPct val="112000"/>
              </a:lnSpc>
              <a:spcBef>
                <a:spcPts val="0"/>
              </a:spcBef>
              <a:spcAft>
                <a:spcPts val="600"/>
              </a:spcAft>
            </a:pPr>
            <a:r>
              <a:rPr sz="3300" b="1" i="0">
                <a:solidFill>
                  <a:srgbClr val="E64415"/>
                </a:solidFill>
                <a:latin typeface="Lato"/>
              </a:rPr>
              <a:t>22,086</a:t>
            </a:r>
          </a:p>
        </p:txBody>
      </p:sp>
      <p:sp>
        <p:nvSpPr>
          <p:cNvPr id="12" name="TextBox 11"/>
          <p:cNvSpPr txBox="1"/>
          <p:nvPr/>
        </p:nvSpPr>
        <p:spPr>
          <a:xfrm>
            <a:off x="3328416" y="5824728"/>
            <a:ext cx="2651760" cy="457200"/>
          </a:xfrm>
          <a:prstGeom prst="rect">
            <a:avLst/>
          </a:prstGeom>
          <a:noFill/>
        </p:spPr>
        <p:txBody>
          <a:bodyPr wrap="square" anchor="t" lIns="0" rIns="0" tIns="0" bIns="0">
            <a:spAutoFit/>
          </a:bodyPr>
          <a:lstStyle/>
          <a:p>
            <a:pPr algn="l">
              <a:lnSpc>
                <a:spcPct val="110000"/>
              </a:lnSpc>
              <a:spcBef>
                <a:spcPts val="0"/>
              </a:spcBef>
              <a:spcAft>
                <a:spcPts val="600"/>
              </a:spcAft>
            </a:pPr>
            <a:r>
              <a:rPr sz="1250" b="0" i="0">
                <a:solidFill>
                  <a:srgbClr val="555555"/>
                </a:solidFill>
                <a:latin typeface="Lato"/>
              </a:rPr>
              <a:t>passages segmented</a:t>
            </a:r>
          </a:p>
        </p:txBody>
      </p:sp>
      <p:sp>
        <p:nvSpPr>
          <p:cNvPr id="13" name="TextBox 12"/>
          <p:cNvSpPr txBox="1"/>
          <p:nvPr/>
        </p:nvSpPr>
        <p:spPr>
          <a:xfrm>
            <a:off x="6089904" y="5257800"/>
            <a:ext cx="2651760" cy="548640"/>
          </a:xfrm>
          <a:prstGeom prst="rect">
            <a:avLst/>
          </a:prstGeom>
          <a:noFill/>
        </p:spPr>
        <p:txBody>
          <a:bodyPr wrap="square" anchor="t" lIns="0" rIns="0" tIns="0" bIns="0">
            <a:spAutoFit/>
          </a:bodyPr>
          <a:lstStyle/>
          <a:p>
            <a:pPr algn="l">
              <a:lnSpc>
                <a:spcPct val="112000"/>
              </a:lnSpc>
              <a:spcBef>
                <a:spcPts val="0"/>
              </a:spcBef>
              <a:spcAft>
                <a:spcPts val="600"/>
              </a:spcAft>
            </a:pPr>
            <a:r>
              <a:rPr sz="3300" b="1" i="0">
                <a:solidFill>
                  <a:srgbClr val="E64415"/>
                </a:solidFill>
                <a:latin typeface="Lato"/>
              </a:rPr>
              <a:t>794</a:t>
            </a:r>
          </a:p>
        </p:txBody>
      </p:sp>
      <p:sp>
        <p:nvSpPr>
          <p:cNvPr id="14" name="TextBox 13"/>
          <p:cNvSpPr txBox="1"/>
          <p:nvPr/>
        </p:nvSpPr>
        <p:spPr>
          <a:xfrm>
            <a:off x="6089904" y="5824728"/>
            <a:ext cx="2651760" cy="457200"/>
          </a:xfrm>
          <a:prstGeom prst="rect">
            <a:avLst/>
          </a:prstGeom>
          <a:noFill/>
        </p:spPr>
        <p:txBody>
          <a:bodyPr wrap="square" anchor="t" lIns="0" rIns="0" tIns="0" bIns="0">
            <a:spAutoFit/>
          </a:bodyPr>
          <a:lstStyle/>
          <a:p>
            <a:pPr algn="l">
              <a:lnSpc>
                <a:spcPct val="110000"/>
              </a:lnSpc>
              <a:spcBef>
                <a:spcPts val="0"/>
              </a:spcBef>
              <a:spcAft>
                <a:spcPts val="600"/>
              </a:spcAft>
            </a:pPr>
            <a:r>
              <a:rPr sz="1250" b="0" i="0">
                <a:solidFill>
                  <a:srgbClr val="555555"/>
                </a:solidFill>
                <a:latin typeface="Lato"/>
              </a:rPr>
              <a:t>flagged as synthesis</a:t>
            </a:r>
          </a:p>
        </p:txBody>
      </p:sp>
      <p:sp>
        <p:nvSpPr>
          <p:cNvPr id="15" name="TextBox 14"/>
          <p:cNvSpPr txBox="1"/>
          <p:nvPr/>
        </p:nvSpPr>
        <p:spPr>
          <a:xfrm>
            <a:off x="8851392" y="5257800"/>
            <a:ext cx="2651760" cy="548640"/>
          </a:xfrm>
          <a:prstGeom prst="rect">
            <a:avLst/>
          </a:prstGeom>
          <a:noFill/>
        </p:spPr>
        <p:txBody>
          <a:bodyPr wrap="square" anchor="t" lIns="0" rIns="0" tIns="0" bIns="0">
            <a:spAutoFit/>
          </a:bodyPr>
          <a:lstStyle/>
          <a:p>
            <a:pPr algn="l">
              <a:lnSpc>
                <a:spcPct val="112000"/>
              </a:lnSpc>
              <a:spcBef>
                <a:spcPts val="0"/>
              </a:spcBef>
              <a:spcAft>
                <a:spcPts val="600"/>
              </a:spcAft>
            </a:pPr>
            <a:r>
              <a:rPr sz="3300" b="1" i="0">
                <a:solidFill>
                  <a:srgbClr val="E64415"/>
                </a:solidFill>
                <a:latin typeface="Lato"/>
              </a:rPr>
              <a:t>138</a:t>
            </a:r>
          </a:p>
        </p:txBody>
      </p:sp>
      <p:sp>
        <p:nvSpPr>
          <p:cNvPr id="16" name="TextBox 15"/>
          <p:cNvSpPr txBox="1"/>
          <p:nvPr/>
        </p:nvSpPr>
        <p:spPr>
          <a:xfrm>
            <a:off x="8851392" y="5824728"/>
            <a:ext cx="2651760" cy="457200"/>
          </a:xfrm>
          <a:prstGeom prst="rect">
            <a:avLst/>
          </a:prstGeom>
          <a:noFill/>
        </p:spPr>
        <p:txBody>
          <a:bodyPr wrap="square" anchor="t" lIns="0" rIns="0" tIns="0" bIns="0">
            <a:spAutoFit/>
          </a:bodyPr>
          <a:lstStyle/>
          <a:p>
            <a:pPr algn="l">
              <a:lnSpc>
                <a:spcPct val="110000"/>
              </a:lnSpc>
              <a:spcBef>
                <a:spcPts val="0"/>
              </a:spcBef>
              <a:spcAft>
                <a:spcPts val="600"/>
              </a:spcAft>
            </a:pPr>
            <a:r>
              <a:rPr sz="1250" b="0" i="0">
                <a:solidFill>
                  <a:srgbClr val="555555"/>
                </a:solidFill>
                <a:latin typeface="Lato"/>
              </a:rPr>
              <a:t>triples, annotated by hand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rh_logo.jpg"/>
          <p:cNvPicPr>
            <a:picLocks noChangeAspect="1"/>
          </p:cNvPicPr>
          <p:nvPr/>
        </p:nvPicPr>
        <p:blipFill>
          <a:blip r:embed="rId2"/>
          <a:stretch>
            <a:fillRect/>
          </a:stretch>
        </p:blipFill>
        <p:spPr>
          <a:xfrm>
            <a:off x="548640" y="420624"/>
            <a:ext cx="868680" cy="671720"/>
          </a:xfrm>
          <a:prstGeom prst="rect">
            <a:avLst/>
          </a:prstGeom>
        </p:spPr>
      </p:pic>
      <p:sp>
        <p:nvSpPr>
          <p:cNvPr id="3" name="TextBox 2"/>
          <p:cNvSpPr txBox="1"/>
          <p:nvPr/>
        </p:nvSpPr>
        <p:spPr>
          <a:xfrm>
            <a:off x="566928" y="1298448"/>
            <a:ext cx="11064240" cy="640080"/>
          </a:xfrm>
          <a:prstGeom prst="rect">
            <a:avLst/>
          </a:prstGeom>
          <a:noFill/>
        </p:spPr>
        <p:txBody>
          <a:bodyPr wrap="square" anchor="t" lIns="0" rIns="0" tIns="0" bIns="0">
            <a:spAutoFit/>
          </a:bodyPr>
          <a:lstStyle/>
          <a:p>
            <a:pPr algn="l">
              <a:lnSpc>
                <a:spcPct val="112000"/>
              </a:lnSpc>
              <a:spcBef>
                <a:spcPts val="0"/>
              </a:spcBef>
              <a:spcAft>
                <a:spcPts val="600"/>
              </a:spcAft>
            </a:pPr>
            <a:r>
              <a:rPr sz="2700" b="1" i="0">
                <a:solidFill>
                  <a:srgbClr val="E64415"/>
                </a:solidFill>
                <a:latin typeface="Lato"/>
              </a:rPr>
              <a:t>5   </a:t>
            </a:r>
            <a:r>
              <a:rPr sz="2700" b="1" i="0">
                <a:solidFill>
                  <a:srgbClr val="1A1A1A"/>
                </a:solidFill>
                <a:latin typeface="Lato"/>
              </a:rPr>
              <a:t>How accuracy was measured</a:t>
            </a:r>
          </a:p>
        </p:txBody>
      </p:sp>
      <p:sp>
        <p:nvSpPr>
          <p:cNvPr id="4" name="Rectangle 3"/>
          <p:cNvSpPr/>
          <p:nvPr/>
        </p:nvSpPr>
        <p:spPr>
          <a:xfrm>
            <a:off x="585216" y="1993392"/>
            <a:ext cx="11018520" cy="15240"/>
          </a:xfrm>
          <a:prstGeom prst="rect">
            <a:avLst/>
          </a:prstGeom>
          <a:solidFill>
            <a:srgbClr val="E3E3E3"/>
          </a:solidFill>
          <a:ln>
            <a:noFill/>
          </a:ln>
          <a:effectLst/>
        </p:spPr>
        <p:txBody>
          <a:bodyPr rtlCol="0" anchor="ctr"/>
          <a:lstStyle/>
          <a:p>
            <a:pPr algn="ctr"/>
          </a:p>
        </p:txBody>
      </p:sp>
      <p:sp>
        <p:nvSpPr>
          <p:cNvPr id="5" name="TextBox 4"/>
          <p:cNvSpPr txBox="1"/>
          <p:nvPr/>
        </p:nvSpPr>
        <p:spPr>
          <a:xfrm>
            <a:off x="11430000" y="6437376"/>
            <a:ext cx="640080" cy="274320"/>
          </a:xfrm>
          <a:prstGeom prst="rect">
            <a:avLst/>
          </a:prstGeom>
          <a:noFill/>
        </p:spPr>
        <p:txBody>
          <a:bodyPr wrap="square" anchor="t" lIns="0" rIns="0" tIns="0" bIns="0">
            <a:spAutoFit/>
          </a:bodyPr>
          <a:lstStyle/>
          <a:p>
            <a:pPr algn="r">
              <a:lnSpc>
                <a:spcPct val="112000"/>
              </a:lnSpc>
              <a:spcBef>
                <a:spcPts val="0"/>
              </a:spcBef>
              <a:spcAft>
                <a:spcPts val="600"/>
              </a:spcAft>
            </a:pPr>
            <a:r>
              <a:rPr sz="1000" b="0" i="0">
                <a:solidFill>
                  <a:srgbClr val="BBBBBB"/>
                </a:solidFill>
                <a:latin typeface="Lato"/>
              </a:rPr>
              <a:t>6</a:t>
            </a:r>
          </a:p>
        </p:txBody>
      </p:sp>
      <p:pic>
        <p:nvPicPr>
          <p:cNvPr id="6" name="Picture 5" descr="ontology_schema.png"/>
          <p:cNvPicPr>
            <a:picLocks noChangeAspect="1"/>
          </p:cNvPicPr>
          <p:nvPr/>
        </p:nvPicPr>
        <p:blipFill>
          <a:blip r:embed="rId3"/>
          <a:stretch>
            <a:fillRect/>
          </a:stretch>
        </p:blipFill>
        <p:spPr>
          <a:xfrm>
            <a:off x="3791039" y="2194560"/>
            <a:ext cx="4609617" cy="2880360"/>
          </a:xfrm>
          <a:prstGeom prst="rect">
            <a:avLst/>
          </a:prstGeom>
        </p:spPr>
      </p:pic>
      <p:sp>
        <p:nvSpPr>
          <p:cNvPr id="7" name="TextBox 6"/>
          <p:cNvSpPr txBox="1"/>
          <p:nvPr/>
        </p:nvSpPr>
        <p:spPr>
          <a:xfrm>
            <a:off x="566928" y="5349240"/>
            <a:ext cx="10972800" cy="4023360"/>
          </a:xfrm>
          <a:prstGeom prst="rect">
            <a:avLst/>
          </a:prstGeom>
          <a:noFill/>
        </p:spPr>
        <p:txBody>
          <a:bodyPr wrap="square" anchor="t" lIns="0" rIns="0" tIns="0" bIns="0">
            <a:spAutoFit/>
          </a:bodyPr>
          <a:lstStyle/>
          <a:p>
            <a:pPr algn="l">
              <a:lnSpc>
                <a:spcPct val="116000"/>
              </a:lnSpc>
              <a:spcBef>
                <a:spcPts val="0"/>
              </a:spcBef>
              <a:spcAft>
                <a:spcPts val="600"/>
              </a:spcAft>
            </a:pPr>
            <a:r>
              <a:rPr sz="1350" b="1" i="0">
                <a:solidFill>
                  <a:srgbClr val="E64415"/>
                </a:solidFill>
                <a:latin typeface="Lato"/>
              </a:rPr>
              <a:t>•  </a:t>
            </a:r>
            <a:r>
              <a:rPr sz="1350" b="0" i="0">
                <a:solidFill>
                  <a:srgbClr val="1A1A1A"/>
                </a:solidFill>
                <a:latin typeface="Lato"/>
              </a:rPr>
              <a:t>Matching is per passage and per relation, greedy one-to-one, so no gold triple is credited twice and nothing matches across passages.</a:t>
            </a:r>
          </a:p>
          <a:p>
            <a:pPr algn="l">
              <a:lnSpc>
                <a:spcPct val="116000"/>
              </a:lnSpc>
              <a:spcBef>
                <a:spcPts val="0"/>
              </a:spcBef>
              <a:spcAft>
                <a:spcPts val="600"/>
              </a:spcAft>
            </a:pPr>
            <a:r>
              <a:rPr sz="1350" b="1" i="0">
                <a:solidFill>
                  <a:srgbClr val="E64415"/>
                </a:solidFill>
                <a:latin typeface="Lato"/>
              </a:rPr>
              <a:t>•  </a:t>
            </a:r>
            <a:r>
              <a:rPr sz="1350" b="0" i="0">
                <a:solidFill>
                  <a:srgbClr val="1A1A1A"/>
                </a:solidFill>
                <a:latin typeface="Lato"/>
              </a:rPr>
              <a:t>One concession is declared: IN_SOLVENT and AT_CONDITION are scored on the object alone, because an annotation-tool defect left the MOF name in the subject slot.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rh_logo.jpg"/>
          <p:cNvPicPr>
            <a:picLocks noChangeAspect="1"/>
          </p:cNvPicPr>
          <p:nvPr/>
        </p:nvPicPr>
        <p:blipFill>
          <a:blip r:embed="rId2"/>
          <a:stretch>
            <a:fillRect/>
          </a:stretch>
        </p:blipFill>
        <p:spPr>
          <a:xfrm>
            <a:off x="548640" y="420624"/>
            <a:ext cx="868680" cy="671720"/>
          </a:xfrm>
          <a:prstGeom prst="rect">
            <a:avLst/>
          </a:prstGeom>
        </p:spPr>
      </p:pic>
      <p:sp>
        <p:nvSpPr>
          <p:cNvPr id="3" name="TextBox 2"/>
          <p:cNvSpPr txBox="1"/>
          <p:nvPr/>
        </p:nvSpPr>
        <p:spPr>
          <a:xfrm>
            <a:off x="566928" y="1298448"/>
            <a:ext cx="11064240" cy="640080"/>
          </a:xfrm>
          <a:prstGeom prst="rect">
            <a:avLst/>
          </a:prstGeom>
          <a:noFill/>
        </p:spPr>
        <p:txBody>
          <a:bodyPr wrap="square" anchor="t" lIns="0" rIns="0" tIns="0" bIns="0">
            <a:spAutoFit/>
          </a:bodyPr>
          <a:lstStyle/>
          <a:p>
            <a:pPr algn="l">
              <a:lnSpc>
                <a:spcPct val="112000"/>
              </a:lnSpc>
              <a:spcBef>
                <a:spcPts val="0"/>
              </a:spcBef>
              <a:spcAft>
                <a:spcPts val="600"/>
              </a:spcAft>
            </a:pPr>
            <a:r>
              <a:rPr sz="2700" b="1" i="0">
                <a:solidFill>
                  <a:srgbClr val="E64415"/>
                </a:solidFill>
                <a:latin typeface="Lato"/>
              </a:rPr>
              <a:t>6   </a:t>
            </a:r>
            <a:r>
              <a:rPr sz="2700" b="1" i="0">
                <a:solidFill>
                  <a:srgbClr val="1A1A1A"/>
                </a:solidFill>
                <a:latin typeface="Lato"/>
              </a:rPr>
              <a:t>Results: ten configurations, 3.06 USD</a:t>
            </a:r>
          </a:p>
        </p:txBody>
      </p:sp>
      <p:sp>
        <p:nvSpPr>
          <p:cNvPr id="4" name="Rectangle 3"/>
          <p:cNvSpPr/>
          <p:nvPr/>
        </p:nvSpPr>
        <p:spPr>
          <a:xfrm>
            <a:off x="585216" y="1993392"/>
            <a:ext cx="11018520" cy="15240"/>
          </a:xfrm>
          <a:prstGeom prst="rect">
            <a:avLst/>
          </a:prstGeom>
          <a:solidFill>
            <a:srgbClr val="E3E3E3"/>
          </a:solidFill>
          <a:ln>
            <a:noFill/>
          </a:ln>
          <a:effectLst/>
        </p:spPr>
        <p:txBody>
          <a:bodyPr rtlCol="0" anchor="ctr"/>
          <a:lstStyle/>
          <a:p>
            <a:pPr algn="ctr"/>
          </a:p>
        </p:txBody>
      </p:sp>
      <p:sp>
        <p:nvSpPr>
          <p:cNvPr id="5" name="TextBox 4"/>
          <p:cNvSpPr txBox="1"/>
          <p:nvPr/>
        </p:nvSpPr>
        <p:spPr>
          <a:xfrm>
            <a:off x="11430000" y="6437376"/>
            <a:ext cx="640080" cy="274320"/>
          </a:xfrm>
          <a:prstGeom prst="rect">
            <a:avLst/>
          </a:prstGeom>
          <a:noFill/>
        </p:spPr>
        <p:txBody>
          <a:bodyPr wrap="square" anchor="t" lIns="0" rIns="0" tIns="0" bIns="0">
            <a:spAutoFit/>
          </a:bodyPr>
          <a:lstStyle/>
          <a:p>
            <a:pPr algn="r">
              <a:lnSpc>
                <a:spcPct val="112000"/>
              </a:lnSpc>
              <a:spcBef>
                <a:spcPts val="0"/>
              </a:spcBef>
              <a:spcAft>
                <a:spcPts val="600"/>
              </a:spcAft>
            </a:pPr>
            <a:r>
              <a:rPr sz="1000" b="0" i="0">
                <a:solidFill>
                  <a:srgbClr val="BBBBBB"/>
                </a:solidFill>
                <a:latin typeface="Lato"/>
              </a:rPr>
              <a:t>7</a:t>
            </a:r>
          </a:p>
        </p:txBody>
      </p:sp>
      <p:pic>
        <p:nvPicPr>
          <p:cNvPr id="6" name="Picture 5" descr="fig1_cost_vs_f1.png"/>
          <p:cNvPicPr>
            <a:picLocks noChangeAspect="1"/>
          </p:cNvPicPr>
          <p:nvPr/>
        </p:nvPicPr>
        <p:blipFill>
          <a:blip r:embed="rId3"/>
          <a:stretch>
            <a:fillRect/>
          </a:stretch>
        </p:blipFill>
        <p:spPr>
          <a:xfrm>
            <a:off x="3620066" y="2240280"/>
            <a:ext cx="4951562" cy="3200400"/>
          </a:xfrm>
          <a:prstGeom prst="rect">
            <a:avLst/>
          </a:prstGeom>
        </p:spPr>
      </p:pic>
      <p:sp>
        <p:nvSpPr>
          <p:cNvPr id="7" name="TextBox 6"/>
          <p:cNvSpPr txBox="1"/>
          <p:nvPr/>
        </p:nvSpPr>
        <p:spPr>
          <a:xfrm>
            <a:off x="566928" y="5577840"/>
            <a:ext cx="10972800" cy="4023360"/>
          </a:xfrm>
          <a:prstGeom prst="rect">
            <a:avLst/>
          </a:prstGeom>
          <a:noFill/>
        </p:spPr>
        <p:txBody>
          <a:bodyPr wrap="square" anchor="t" lIns="0" rIns="0" tIns="0" bIns="0">
            <a:spAutoFit/>
          </a:bodyPr>
          <a:lstStyle/>
          <a:p>
            <a:pPr algn="l">
              <a:lnSpc>
                <a:spcPct val="116000"/>
              </a:lnSpc>
              <a:spcBef>
                <a:spcPts val="0"/>
              </a:spcBef>
              <a:spcAft>
                <a:spcPts val="500"/>
              </a:spcAft>
            </a:pPr>
            <a:r>
              <a:rPr sz="1350" b="1" i="0">
                <a:solidFill>
                  <a:srgbClr val="E64415"/>
                </a:solidFill>
                <a:latin typeface="Lato"/>
              </a:rPr>
              <a:t>•  </a:t>
            </a:r>
            <a:r>
              <a:rPr sz="1350" b="0" i="0">
                <a:solidFill>
                  <a:srgbClr val="1A1A1A"/>
                </a:solidFill>
                <a:latin typeface="Lato"/>
              </a:rPr>
              <a:t>Every language-model configuration beats the rule-based baseline. The weakest scores 0.191 against the baseline's 0.112.</a:t>
            </a:r>
          </a:p>
          <a:p>
            <a:pPr algn="l">
              <a:lnSpc>
                <a:spcPct val="116000"/>
              </a:lnSpc>
              <a:spcBef>
                <a:spcPts val="0"/>
              </a:spcBef>
              <a:spcAft>
                <a:spcPts val="500"/>
              </a:spcAft>
            </a:pPr>
            <a:r>
              <a:rPr sz="1350" b="1" i="0">
                <a:solidFill>
                  <a:srgbClr val="E64415"/>
                </a:solidFill>
                <a:latin typeface="Lato"/>
              </a:rPr>
              <a:t>•  </a:t>
            </a:r>
            <a:r>
              <a:rPr sz="1350" b="0" i="0">
                <a:solidFill>
                  <a:srgbClr val="1A1A1A"/>
                </a:solidFill>
                <a:latin typeface="Lato"/>
              </a:rPr>
              <a:t>The strongest configuration is also among the cheapest.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rh_logo.jpg"/>
          <p:cNvPicPr>
            <a:picLocks noChangeAspect="1"/>
          </p:cNvPicPr>
          <p:nvPr/>
        </p:nvPicPr>
        <p:blipFill>
          <a:blip r:embed="rId2"/>
          <a:stretch>
            <a:fillRect/>
          </a:stretch>
        </p:blipFill>
        <p:spPr>
          <a:xfrm>
            <a:off x="548640" y="420624"/>
            <a:ext cx="868680" cy="671720"/>
          </a:xfrm>
          <a:prstGeom prst="rect">
            <a:avLst/>
          </a:prstGeom>
        </p:spPr>
      </p:pic>
      <p:sp>
        <p:nvSpPr>
          <p:cNvPr id="3" name="TextBox 2"/>
          <p:cNvSpPr txBox="1"/>
          <p:nvPr/>
        </p:nvSpPr>
        <p:spPr>
          <a:xfrm>
            <a:off x="566928" y="1298448"/>
            <a:ext cx="11064240" cy="640080"/>
          </a:xfrm>
          <a:prstGeom prst="rect">
            <a:avLst/>
          </a:prstGeom>
          <a:noFill/>
        </p:spPr>
        <p:txBody>
          <a:bodyPr wrap="square" anchor="t" lIns="0" rIns="0" tIns="0" bIns="0">
            <a:spAutoFit/>
          </a:bodyPr>
          <a:lstStyle/>
          <a:p>
            <a:pPr algn="l">
              <a:lnSpc>
                <a:spcPct val="112000"/>
              </a:lnSpc>
              <a:spcBef>
                <a:spcPts val="0"/>
              </a:spcBef>
              <a:spcAft>
                <a:spcPts val="600"/>
              </a:spcAft>
            </a:pPr>
            <a:r>
              <a:rPr sz="2700" b="1" i="0">
                <a:solidFill>
                  <a:srgbClr val="E64415"/>
                </a:solidFill>
                <a:latin typeface="Lato"/>
              </a:rPr>
              <a:t>7   </a:t>
            </a:r>
            <a:r>
              <a:rPr sz="2700" b="1" i="0">
                <a:solidFill>
                  <a:srgbClr val="1A1A1A"/>
                </a:solidFill>
                <a:latin typeface="Lato"/>
              </a:rPr>
              <a:t>Per field, and a pre-registered prediction</a:t>
            </a:r>
          </a:p>
        </p:txBody>
      </p:sp>
      <p:sp>
        <p:nvSpPr>
          <p:cNvPr id="4" name="Rectangle 3"/>
          <p:cNvSpPr/>
          <p:nvPr/>
        </p:nvSpPr>
        <p:spPr>
          <a:xfrm>
            <a:off x="585216" y="1993392"/>
            <a:ext cx="11018520" cy="15240"/>
          </a:xfrm>
          <a:prstGeom prst="rect">
            <a:avLst/>
          </a:prstGeom>
          <a:solidFill>
            <a:srgbClr val="E3E3E3"/>
          </a:solidFill>
          <a:ln>
            <a:noFill/>
          </a:ln>
          <a:effectLst/>
        </p:spPr>
        <p:txBody>
          <a:bodyPr rtlCol="0" anchor="ctr"/>
          <a:lstStyle/>
          <a:p>
            <a:pPr algn="ctr"/>
          </a:p>
        </p:txBody>
      </p:sp>
      <p:sp>
        <p:nvSpPr>
          <p:cNvPr id="5" name="TextBox 4"/>
          <p:cNvSpPr txBox="1"/>
          <p:nvPr/>
        </p:nvSpPr>
        <p:spPr>
          <a:xfrm>
            <a:off x="11430000" y="6437376"/>
            <a:ext cx="640080" cy="274320"/>
          </a:xfrm>
          <a:prstGeom prst="rect">
            <a:avLst/>
          </a:prstGeom>
          <a:noFill/>
        </p:spPr>
        <p:txBody>
          <a:bodyPr wrap="square" anchor="t" lIns="0" rIns="0" tIns="0" bIns="0">
            <a:spAutoFit/>
          </a:bodyPr>
          <a:lstStyle/>
          <a:p>
            <a:pPr algn="r">
              <a:lnSpc>
                <a:spcPct val="112000"/>
              </a:lnSpc>
              <a:spcBef>
                <a:spcPts val="0"/>
              </a:spcBef>
              <a:spcAft>
                <a:spcPts val="600"/>
              </a:spcAft>
            </a:pPr>
            <a:r>
              <a:rPr sz="1000" b="0" i="0">
                <a:solidFill>
                  <a:srgbClr val="BBBBBB"/>
                </a:solidFill>
                <a:latin typeface="Lato"/>
              </a:rPr>
              <a:t>8</a:t>
            </a:r>
          </a:p>
        </p:txBody>
      </p:sp>
      <p:pic>
        <p:nvPicPr>
          <p:cNvPr id="6" name="Picture 5" descr="fig2_per_field_f1.png"/>
          <p:cNvPicPr>
            <a:picLocks noChangeAspect="1"/>
          </p:cNvPicPr>
          <p:nvPr/>
        </p:nvPicPr>
        <p:blipFill>
          <a:blip r:embed="rId3"/>
          <a:stretch>
            <a:fillRect/>
          </a:stretch>
        </p:blipFill>
        <p:spPr>
          <a:xfrm>
            <a:off x="566928" y="2240280"/>
            <a:ext cx="4950798" cy="3017520"/>
          </a:xfrm>
          <a:prstGeom prst="rect">
            <a:avLst/>
          </a:prstGeom>
        </p:spPr>
      </p:pic>
      <p:sp>
        <p:nvSpPr>
          <p:cNvPr id="7" name="Rectangle 6"/>
          <p:cNvSpPr/>
          <p:nvPr/>
        </p:nvSpPr>
        <p:spPr>
          <a:xfrm>
            <a:off x="6903720" y="2286000"/>
            <a:ext cx="4709160" cy="2971800"/>
          </a:xfrm>
          <a:prstGeom prst="rect">
            <a:avLst/>
          </a:prstGeom>
          <a:solidFill>
            <a:srgbClr val="FAF6F4"/>
          </a:solidFill>
          <a:ln>
            <a:noFill/>
          </a:ln>
          <a:effectLst/>
        </p:spPr>
        <p:txBody>
          <a:bodyPr rtlCol="0" anchor="ctr"/>
          <a:lstStyle/>
          <a:p>
            <a:pPr algn="ctr"/>
          </a:p>
        </p:txBody>
      </p:sp>
      <p:sp>
        <p:nvSpPr>
          <p:cNvPr id="8" name="TextBox 7"/>
          <p:cNvSpPr txBox="1"/>
          <p:nvPr/>
        </p:nvSpPr>
        <p:spPr>
          <a:xfrm>
            <a:off x="7223760" y="2542032"/>
            <a:ext cx="4114800" cy="2468880"/>
          </a:xfrm>
          <a:prstGeom prst="rect">
            <a:avLst/>
          </a:prstGeom>
          <a:noFill/>
        </p:spPr>
        <p:txBody>
          <a:bodyPr wrap="square" anchor="t" lIns="0" rIns="0" tIns="0" bIns="0">
            <a:spAutoFit/>
          </a:bodyPr>
          <a:lstStyle/>
          <a:p>
            <a:pPr algn="l">
              <a:lnSpc>
                <a:spcPct val="120000"/>
              </a:lnSpc>
              <a:spcBef>
                <a:spcPts val="0"/>
              </a:spcBef>
              <a:spcAft>
                <a:spcPts val="900"/>
              </a:spcAft>
            </a:pPr>
            <a:r>
              <a:rPr sz="1300" b="1" i="0">
                <a:solidFill>
                  <a:srgbClr val="E64415"/>
                </a:solidFill>
                <a:latin typeface="Lato"/>
              </a:rPr>
              <a:t>Recorded before any model was run</a:t>
            </a:r>
          </a:p>
          <a:p>
            <a:pPr algn="l">
              <a:lnSpc>
                <a:spcPct val="120000"/>
              </a:lnSpc>
              <a:spcBef>
                <a:spcPts val="0"/>
              </a:spcBef>
              <a:spcAft>
                <a:spcPts val="900"/>
              </a:spcAft>
            </a:pPr>
            <a:r>
              <a:rPr sz="1350" b="0" i="1">
                <a:solidFill>
                  <a:srgbClr val="1A1A1A"/>
                </a:solidFill>
                <a:latin typeface="Lato"/>
              </a:rPr>
              <a:t>“The LLM margin over the rule baseline should be largest on USES_PRECURSOR and USES_LINKER, and smallest on AT_CONDITION and IN_SOLVENT.”</a:t>
            </a:r>
          </a:p>
          <a:p>
            <a:pPr algn="l">
              <a:lnSpc>
                <a:spcPct val="120000"/>
              </a:lnSpc>
              <a:spcBef>
                <a:spcPts val="0"/>
              </a:spcBef>
              <a:spcAft>
                <a:spcPts val="900"/>
              </a:spcAft>
            </a:pPr>
            <a:r>
              <a:rPr sz="1350" b="0" i="0">
                <a:solidFill>
                  <a:srgbClr val="1A1A1A"/>
                </a:solidFill>
                <a:latin typeface="Lato"/>
              </a:rPr>
              <a:t>Measured margins: +0.42, +0.31, +0.25, +0.17. The ordering matches exactly. The prediction was committed to the repository first, so this is a confirmation rather than a pattern found afterwards.</a:t>
            </a:r>
          </a:p>
        </p:txBody>
      </p:sp>
      <p:sp>
        <p:nvSpPr>
          <p:cNvPr id="9" name="TextBox 8"/>
          <p:cNvSpPr txBox="1"/>
          <p:nvPr/>
        </p:nvSpPr>
        <p:spPr>
          <a:xfrm>
            <a:off x="566928" y="5532120"/>
            <a:ext cx="10972800" cy="457200"/>
          </a:xfrm>
          <a:prstGeom prst="rect">
            <a:avLst/>
          </a:prstGeom>
          <a:noFill/>
        </p:spPr>
        <p:txBody>
          <a:bodyPr wrap="square" anchor="t" lIns="0" rIns="0" tIns="0" bIns="0">
            <a:spAutoFit/>
          </a:bodyPr>
          <a:lstStyle/>
          <a:p>
            <a:pPr algn="l">
              <a:lnSpc>
                <a:spcPct val="112000"/>
              </a:lnSpc>
              <a:spcBef>
                <a:spcPts val="0"/>
              </a:spcBef>
              <a:spcAft>
                <a:spcPts val="600"/>
              </a:spcAft>
            </a:pPr>
            <a:r>
              <a:rPr sz="1300" b="0" i="0">
                <a:solidFill>
                  <a:srgbClr val="555555"/>
                </a:solidFill>
                <a:latin typeface="Lato"/>
              </a:rPr>
              <a:t>AT_CONDITION scores measure annotation granularity, not extraction quality, and are excluded from every conclusion. Excluding it, the best configuration averages about 0.53.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rh_logo.jpg"/>
          <p:cNvPicPr>
            <a:picLocks noChangeAspect="1"/>
          </p:cNvPicPr>
          <p:nvPr/>
        </p:nvPicPr>
        <p:blipFill>
          <a:blip r:embed="rId2"/>
          <a:stretch>
            <a:fillRect/>
          </a:stretch>
        </p:blipFill>
        <p:spPr>
          <a:xfrm>
            <a:off x="548640" y="420624"/>
            <a:ext cx="868680" cy="671720"/>
          </a:xfrm>
          <a:prstGeom prst="rect">
            <a:avLst/>
          </a:prstGeom>
        </p:spPr>
      </p:pic>
      <p:sp>
        <p:nvSpPr>
          <p:cNvPr id="3" name="TextBox 2"/>
          <p:cNvSpPr txBox="1"/>
          <p:nvPr/>
        </p:nvSpPr>
        <p:spPr>
          <a:xfrm>
            <a:off x="566928" y="1298448"/>
            <a:ext cx="11064240" cy="640080"/>
          </a:xfrm>
          <a:prstGeom prst="rect">
            <a:avLst/>
          </a:prstGeom>
          <a:noFill/>
        </p:spPr>
        <p:txBody>
          <a:bodyPr wrap="square" anchor="t" lIns="0" rIns="0" tIns="0" bIns="0">
            <a:spAutoFit/>
          </a:bodyPr>
          <a:lstStyle/>
          <a:p>
            <a:pPr algn="l">
              <a:lnSpc>
                <a:spcPct val="112000"/>
              </a:lnSpc>
              <a:spcBef>
                <a:spcPts val="0"/>
              </a:spcBef>
              <a:spcAft>
                <a:spcPts val="600"/>
              </a:spcAft>
            </a:pPr>
            <a:r>
              <a:rPr sz="2700" b="1" i="0">
                <a:solidFill>
                  <a:srgbClr val="E64415"/>
                </a:solidFill>
                <a:latin typeface="Lato"/>
              </a:rPr>
              <a:t>8   </a:t>
            </a:r>
            <a:r>
              <a:rPr sz="2700" b="1" i="0">
                <a:solidFill>
                  <a:srgbClr val="1A1A1A"/>
                </a:solidFill>
                <a:latin typeface="Lato"/>
              </a:rPr>
              <a:t>The cheap model beat the expensive one</a:t>
            </a:r>
          </a:p>
        </p:txBody>
      </p:sp>
      <p:sp>
        <p:nvSpPr>
          <p:cNvPr id="4" name="Rectangle 3"/>
          <p:cNvSpPr/>
          <p:nvPr/>
        </p:nvSpPr>
        <p:spPr>
          <a:xfrm>
            <a:off x="585216" y="1993392"/>
            <a:ext cx="11018520" cy="15240"/>
          </a:xfrm>
          <a:prstGeom prst="rect">
            <a:avLst/>
          </a:prstGeom>
          <a:solidFill>
            <a:srgbClr val="E3E3E3"/>
          </a:solidFill>
          <a:ln>
            <a:noFill/>
          </a:ln>
          <a:effectLst/>
        </p:spPr>
        <p:txBody>
          <a:bodyPr rtlCol="0" anchor="ctr"/>
          <a:lstStyle/>
          <a:p>
            <a:pPr algn="ctr"/>
          </a:p>
        </p:txBody>
      </p:sp>
      <p:sp>
        <p:nvSpPr>
          <p:cNvPr id="5" name="TextBox 4"/>
          <p:cNvSpPr txBox="1"/>
          <p:nvPr/>
        </p:nvSpPr>
        <p:spPr>
          <a:xfrm>
            <a:off x="11430000" y="6437376"/>
            <a:ext cx="640080" cy="274320"/>
          </a:xfrm>
          <a:prstGeom prst="rect">
            <a:avLst/>
          </a:prstGeom>
          <a:noFill/>
        </p:spPr>
        <p:txBody>
          <a:bodyPr wrap="square" anchor="t" lIns="0" rIns="0" tIns="0" bIns="0">
            <a:spAutoFit/>
          </a:bodyPr>
          <a:lstStyle/>
          <a:p>
            <a:pPr algn="r">
              <a:lnSpc>
                <a:spcPct val="112000"/>
              </a:lnSpc>
              <a:spcBef>
                <a:spcPts val="0"/>
              </a:spcBef>
              <a:spcAft>
                <a:spcPts val="600"/>
              </a:spcAft>
            </a:pPr>
            <a:r>
              <a:rPr sz="1000" b="0" i="0">
                <a:solidFill>
                  <a:srgbClr val="BBBBBB"/>
                </a:solidFill>
                <a:latin typeface="Lato"/>
              </a:rPr>
              <a:t>9</a:t>
            </a:r>
          </a:p>
        </p:txBody>
      </p:sp>
      <p:sp>
        <p:nvSpPr>
          <p:cNvPr id="6" name="TextBox 5"/>
          <p:cNvSpPr txBox="1"/>
          <p:nvPr/>
        </p:nvSpPr>
        <p:spPr>
          <a:xfrm>
            <a:off x="566928" y="2286000"/>
            <a:ext cx="2651760" cy="548640"/>
          </a:xfrm>
          <a:prstGeom prst="rect">
            <a:avLst/>
          </a:prstGeom>
          <a:noFill/>
        </p:spPr>
        <p:txBody>
          <a:bodyPr wrap="square" anchor="t" lIns="0" rIns="0" tIns="0" bIns="0">
            <a:spAutoFit/>
          </a:bodyPr>
          <a:lstStyle/>
          <a:p>
            <a:pPr algn="l">
              <a:lnSpc>
                <a:spcPct val="112000"/>
              </a:lnSpc>
              <a:spcBef>
                <a:spcPts val="0"/>
              </a:spcBef>
              <a:spcAft>
                <a:spcPts val="600"/>
              </a:spcAft>
            </a:pPr>
            <a:r>
              <a:rPr sz="3300" b="1" i="0">
                <a:solidFill>
                  <a:srgbClr val="E64415"/>
                </a:solidFill>
                <a:latin typeface="Lato"/>
              </a:rPr>
              <a:t>0.364</a:t>
            </a:r>
          </a:p>
        </p:txBody>
      </p:sp>
      <p:sp>
        <p:nvSpPr>
          <p:cNvPr id="7" name="TextBox 6"/>
          <p:cNvSpPr txBox="1"/>
          <p:nvPr/>
        </p:nvSpPr>
        <p:spPr>
          <a:xfrm>
            <a:off x="566928" y="2852928"/>
            <a:ext cx="2651760" cy="457200"/>
          </a:xfrm>
          <a:prstGeom prst="rect">
            <a:avLst/>
          </a:prstGeom>
          <a:noFill/>
        </p:spPr>
        <p:txBody>
          <a:bodyPr wrap="square" anchor="t" lIns="0" rIns="0" tIns="0" bIns="0">
            <a:spAutoFit/>
          </a:bodyPr>
          <a:lstStyle/>
          <a:p>
            <a:pPr algn="l">
              <a:lnSpc>
                <a:spcPct val="110000"/>
              </a:lnSpc>
              <a:spcBef>
                <a:spcPts val="0"/>
              </a:spcBef>
              <a:spcAft>
                <a:spcPts val="600"/>
              </a:spcAft>
            </a:pPr>
            <a:r>
              <a:rPr sz="1250" b="0" i="0">
                <a:solidFill>
                  <a:srgbClr val="555555"/>
                </a:solidFill>
                <a:latin typeface="Lato"/>
              </a:rPr>
              <a:t>gpt-4o-mini, schema-guided
0.028 USD</a:t>
            </a:r>
          </a:p>
        </p:txBody>
      </p:sp>
      <p:sp>
        <p:nvSpPr>
          <p:cNvPr id="8" name="TextBox 7"/>
          <p:cNvSpPr txBox="1"/>
          <p:nvPr/>
        </p:nvSpPr>
        <p:spPr>
          <a:xfrm>
            <a:off x="3328416" y="2286000"/>
            <a:ext cx="2651760" cy="548640"/>
          </a:xfrm>
          <a:prstGeom prst="rect">
            <a:avLst/>
          </a:prstGeom>
          <a:noFill/>
        </p:spPr>
        <p:txBody>
          <a:bodyPr wrap="square" anchor="t" lIns="0" rIns="0" tIns="0" bIns="0">
            <a:spAutoFit/>
          </a:bodyPr>
          <a:lstStyle/>
          <a:p>
            <a:pPr algn="l">
              <a:lnSpc>
                <a:spcPct val="112000"/>
              </a:lnSpc>
              <a:spcBef>
                <a:spcPts val="0"/>
              </a:spcBef>
              <a:spcAft>
                <a:spcPts val="600"/>
              </a:spcAft>
            </a:pPr>
            <a:r>
              <a:rPr sz="3300" b="1" i="0">
                <a:solidFill>
                  <a:srgbClr val="E64415"/>
                </a:solidFill>
                <a:latin typeface="Lato"/>
              </a:rPr>
              <a:t>0.245</a:t>
            </a:r>
          </a:p>
        </p:txBody>
      </p:sp>
      <p:sp>
        <p:nvSpPr>
          <p:cNvPr id="9" name="TextBox 8"/>
          <p:cNvSpPr txBox="1"/>
          <p:nvPr/>
        </p:nvSpPr>
        <p:spPr>
          <a:xfrm>
            <a:off x="3328416" y="2852928"/>
            <a:ext cx="2651760" cy="457200"/>
          </a:xfrm>
          <a:prstGeom prst="rect">
            <a:avLst/>
          </a:prstGeom>
          <a:noFill/>
        </p:spPr>
        <p:txBody>
          <a:bodyPr wrap="square" anchor="t" lIns="0" rIns="0" tIns="0" bIns="0">
            <a:spAutoFit/>
          </a:bodyPr>
          <a:lstStyle/>
          <a:p>
            <a:pPr algn="l">
              <a:lnSpc>
                <a:spcPct val="110000"/>
              </a:lnSpc>
              <a:spcBef>
                <a:spcPts val="0"/>
              </a:spcBef>
              <a:spcAft>
                <a:spcPts val="600"/>
              </a:spcAft>
            </a:pPr>
            <a:r>
              <a:rPr sz="1250" b="0" i="0">
                <a:solidFill>
                  <a:srgbClr val="555555"/>
                </a:solidFill>
                <a:latin typeface="Lato"/>
              </a:rPr>
              <a:t>gpt-4o, few-shot
1.289 USD</a:t>
            </a:r>
          </a:p>
        </p:txBody>
      </p:sp>
      <p:sp>
        <p:nvSpPr>
          <p:cNvPr id="10" name="TextBox 9"/>
          <p:cNvSpPr txBox="1"/>
          <p:nvPr/>
        </p:nvSpPr>
        <p:spPr>
          <a:xfrm>
            <a:off x="6089904" y="2286000"/>
            <a:ext cx="2651760" cy="548640"/>
          </a:xfrm>
          <a:prstGeom prst="rect">
            <a:avLst/>
          </a:prstGeom>
          <a:noFill/>
        </p:spPr>
        <p:txBody>
          <a:bodyPr wrap="square" anchor="t" lIns="0" rIns="0" tIns="0" bIns="0">
            <a:spAutoFit/>
          </a:bodyPr>
          <a:lstStyle/>
          <a:p>
            <a:pPr algn="l">
              <a:lnSpc>
                <a:spcPct val="112000"/>
              </a:lnSpc>
              <a:spcBef>
                <a:spcPts val="0"/>
              </a:spcBef>
              <a:spcAft>
                <a:spcPts val="600"/>
              </a:spcAft>
            </a:pPr>
            <a:r>
              <a:rPr sz="3300" b="1" i="0">
                <a:solidFill>
                  <a:srgbClr val="E64415"/>
                </a:solidFill>
                <a:latin typeface="Lato"/>
              </a:rPr>
              <a:t>47×</a:t>
            </a:r>
          </a:p>
        </p:txBody>
      </p:sp>
      <p:sp>
        <p:nvSpPr>
          <p:cNvPr id="11" name="TextBox 10"/>
          <p:cNvSpPr txBox="1"/>
          <p:nvPr/>
        </p:nvSpPr>
        <p:spPr>
          <a:xfrm>
            <a:off x="6089904" y="2852928"/>
            <a:ext cx="2651760" cy="457200"/>
          </a:xfrm>
          <a:prstGeom prst="rect">
            <a:avLst/>
          </a:prstGeom>
          <a:noFill/>
        </p:spPr>
        <p:txBody>
          <a:bodyPr wrap="square" anchor="t" lIns="0" rIns="0" tIns="0" bIns="0">
            <a:spAutoFit/>
          </a:bodyPr>
          <a:lstStyle/>
          <a:p>
            <a:pPr algn="l">
              <a:lnSpc>
                <a:spcPct val="110000"/>
              </a:lnSpc>
              <a:spcBef>
                <a:spcPts val="0"/>
              </a:spcBef>
              <a:spcAft>
                <a:spcPts val="600"/>
              </a:spcAft>
            </a:pPr>
            <a:r>
              <a:rPr sz="1250" b="0" i="0">
                <a:solidFill>
                  <a:srgbClr val="555555"/>
                </a:solidFill>
                <a:latin typeface="Lato"/>
              </a:rPr>
              <a:t>cost difference, in favour
of the weaker model</a:t>
            </a:r>
          </a:p>
        </p:txBody>
      </p:sp>
      <p:sp>
        <p:nvSpPr>
          <p:cNvPr id="12" name="TextBox 11"/>
          <p:cNvSpPr txBox="1"/>
          <p:nvPr/>
        </p:nvSpPr>
        <p:spPr>
          <a:xfrm>
            <a:off x="8851392" y="2286000"/>
            <a:ext cx="2651760" cy="548640"/>
          </a:xfrm>
          <a:prstGeom prst="rect">
            <a:avLst/>
          </a:prstGeom>
          <a:noFill/>
        </p:spPr>
        <p:txBody>
          <a:bodyPr wrap="square" anchor="t" lIns="0" rIns="0" tIns="0" bIns="0">
            <a:spAutoFit/>
          </a:bodyPr>
          <a:lstStyle/>
          <a:p>
            <a:pPr algn="l">
              <a:lnSpc>
                <a:spcPct val="112000"/>
              </a:lnSpc>
              <a:spcBef>
                <a:spcPts val="0"/>
              </a:spcBef>
              <a:spcAft>
                <a:spcPts val="600"/>
              </a:spcAft>
            </a:pPr>
            <a:r>
              <a:rPr sz="3300" b="1" i="0">
                <a:solidFill>
                  <a:srgbClr val="E64415"/>
                </a:solidFill>
                <a:latin typeface="Lato"/>
              </a:rPr>
              <a:t>3.06</a:t>
            </a:r>
          </a:p>
        </p:txBody>
      </p:sp>
      <p:sp>
        <p:nvSpPr>
          <p:cNvPr id="13" name="TextBox 12"/>
          <p:cNvSpPr txBox="1"/>
          <p:nvPr/>
        </p:nvSpPr>
        <p:spPr>
          <a:xfrm>
            <a:off x="8851392" y="2852928"/>
            <a:ext cx="2651760" cy="457200"/>
          </a:xfrm>
          <a:prstGeom prst="rect">
            <a:avLst/>
          </a:prstGeom>
          <a:noFill/>
        </p:spPr>
        <p:txBody>
          <a:bodyPr wrap="square" anchor="t" lIns="0" rIns="0" tIns="0" bIns="0">
            <a:spAutoFit/>
          </a:bodyPr>
          <a:lstStyle/>
          <a:p>
            <a:pPr algn="l">
              <a:lnSpc>
                <a:spcPct val="110000"/>
              </a:lnSpc>
              <a:spcBef>
                <a:spcPts val="0"/>
              </a:spcBef>
              <a:spcAft>
                <a:spcPts val="600"/>
              </a:spcAft>
            </a:pPr>
            <a:r>
              <a:rPr sz="1250" b="0" i="0">
                <a:solidFill>
                  <a:srgbClr val="555555"/>
                </a:solidFill>
                <a:latin typeface="Lato"/>
              </a:rPr>
              <a:t>USD, every experiment
in this study</a:t>
            </a:r>
          </a:p>
        </p:txBody>
      </p:sp>
      <p:sp>
        <p:nvSpPr>
          <p:cNvPr id="14" name="Rectangle 13"/>
          <p:cNvSpPr/>
          <p:nvPr/>
        </p:nvSpPr>
        <p:spPr>
          <a:xfrm>
            <a:off x="585216" y="3703320"/>
            <a:ext cx="11018520" cy="12700"/>
          </a:xfrm>
          <a:prstGeom prst="rect">
            <a:avLst/>
          </a:prstGeom>
          <a:solidFill>
            <a:srgbClr val="E3E3E3"/>
          </a:solidFill>
          <a:ln>
            <a:noFill/>
          </a:ln>
          <a:effectLst/>
        </p:spPr>
        <p:txBody>
          <a:bodyPr rtlCol="0" anchor="ctr"/>
          <a:lstStyle/>
          <a:p>
            <a:pPr algn="ctr"/>
          </a:p>
        </p:txBody>
      </p:sp>
      <p:sp>
        <p:nvSpPr>
          <p:cNvPr id="15" name="TextBox 14"/>
          <p:cNvSpPr txBox="1"/>
          <p:nvPr/>
        </p:nvSpPr>
        <p:spPr>
          <a:xfrm>
            <a:off x="566928" y="3977639"/>
            <a:ext cx="10972800" cy="4023360"/>
          </a:xfrm>
          <a:prstGeom prst="rect">
            <a:avLst/>
          </a:prstGeom>
          <a:noFill/>
        </p:spPr>
        <p:txBody>
          <a:bodyPr wrap="square" anchor="t" lIns="0" rIns="0" tIns="0" bIns="0">
            <a:spAutoFit/>
          </a:bodyPr>
          <a:lstStyle/>
          <a:p>
            <a:pPr algn="l">
              <a:lnSpc>
                <a:spcPct val="116000"/>
              </a:lnSpc>
              <a:spcBef>
                <a:spcPts val="0"/>
              </a:spcBef>
              <a:spcAft>
                <a:spcPts val="1000"/>
              </a:spcAft>
            </a:pPr>
            <a:r>
              <a:rPr sz="1500" b="1" i="0">
                <a:solidFill>
                  <a:srgbClr val="E64415"/>
                </a:solidFill>
                <a:latin typeface="Lato"/>
              </a:rPr>
              <a:t>•  </a:t>
            </a:r>
            <a:r>
              <a:rPr sz="1500" b="0" i="0">
                <a:solidFill>
                  <a:srgbClr val="1A1A1A"/>
                </a:solidFill>
                <a:latin typeface="Lato"/>
              </a:rPr>
              <a:t>My first explanation was that the larger model over-extracts, and that verbosity becomes false positives. I tested it by counting emitted triples.</a:t>
            </a:r>
          </a:p>
          <a:p>
            <a:pPr algn="l">
              <a:lnSpc>
                <a:spcPct val="116000"/>
              </a:lnSpc>
              <a:spcBef>
                <a:spcPts val="0"/>
              </a:spcBef>
              <a:spcAft>
                <a:spcPts val="1000"/>
              </a:spcAft>
            </a:pPr>
            <a:r>
              <a:rPr sz="1500" b="1" i="0">
                <a:solidFill>
                  <a:srgbClr val="E64415"/>
                </a:solidFill>
                <a:latin typeface="Lato"/>
              </a:rPr>
              <a:t>•  </a:t>
            </a:r>
            <a:r>
              <a:rPr sz="1500" b="0" i="0">
                <a:solidFill>
                  <a:srgbClr val="1A1A1A"/>
                </a:solidFill>
                <a:latin typeface="Lato"/>
              </a:rPr>
              <a:t>It is wrong, and wrong in the opposite direction. gpt-4o emits fewer triples than gpt-4o-mini in all four strategies, by 32, 29, 19 and 6 percent.</a:t>
            </a:r>
          </a:p>
          <a:p>
            <a:pPr algn="l">
              <a:lnSpc>
                <a:spcPct val="116000"/>
              </a:lnSpc>
              <a:spcBef>
                <a:spcPts val="0"/>
              </a:spcBef>
              <a:spcAft>
                <a:spcPts val="1000"/>
              </a:spcAft>
            </a:pPr>
            <a:r>
              <a:rPr sz="1500" b="1" i="0">
                <a:solidFill>
                  <a:srgbClr val="E64415"/>
                </a:solidFill>
                <a:latin typeface="Lato"/>
              </a:rPr>
              <a:t>•  </a:t>
            </a:r>
            <a:r>
              <a:rPr sz="1500" b="0" i="0">
                <a:solidFill>
                  <a:srgbClr val="1A1A1A"/>
                </a:solidFill>
                <a:latin typeface="Lato"/>
              </a:rPr>
              <a:t>The gap is recall, not precision. gpt-4o recovers 39 of 138 gold triples on schema-guided against gpt-4o-mini's 61, at near-identical precision.</a:t>
            </a:r>
          </a:p>
          <a:p>
            <a:pPr algn="l">
              <a:lnSpc>
                <a:spcPct val="116000"/>
              </a:lnSpc>
              <a:spcBef>
                <a:spcPts val="0"/>
              </a:spcBef>
              <a:spcAft>
                <a:spcPts val="1000"/>
              </a:spcAft>
            </a:pPr>
            <a:r>
              <a:rPr sz="1500" b="1" i="0">
                <a:solidFill>
                  <a:srgbClr val="E64415"/>
                </a:solidFill>
                <a:latin typeface="Lato"/>
              </a:rPr>
              <a:t>•  </a:t>
            </a:r>
            <a:r>
              <a:rPr sz="1500" b="0" i="0">
                <a:solidFill>
                  <a:srgbClr val="1A1A1A"/>
                </a:solidFill>
                <a:latin typeface="Lato"/>
              </a:rPr>
              <a:t>On dense synthesis text, caution costs more than it buys.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rh_logo.jpg"/>
          <p:cNvPicPr>
            <a:picLocks noChangeAspect="1"/>
          </p:cNvPicPr>
          <p:nvPr/>
        </p:nvPicPr>
        <p:blipFill>
          <a:blip r:embed="rId2"/>
          <a:stretch>
            <a:fillRect/>
          </a:stretch>
        </p:blipFill>
        <p:spPr>
          <a:xfrm>
            <a:off x="548640" y="420624"/>
            <a:ext cx="868680" cy="671720"/>
          </a:xfrm>
          <a:prstGeom prst="rect">
            <a:avLst/>
          </a:prstGeom>
        </p:spPr>
      </p:pic>
      <p:sp>
        <p:nvSpPr>
          <p:cNvPr id="3" name="TextBox 2"/>
          <p:cNvSpPr txBox="1"/>
          <p:nvPr/>
        </p:nvSpPr>
        <p:spPr>
          <a:xfrm>
            <a:off x="566928" y="1298448"/>
            <a:ext cx="11064240" cy="640080"/>
          </a:xfrm>
          <a:prstGeom prst="rect">
            <a:avLst/>
          </a:prstGeom>
          <a:noFill/>
        </p:spPr>
        <p:txBody>
          <a:bodyPr wrap="square" anchor="t" lIns="0" rIns="0" tIns="0" bIns="0">
            <a:spAutoFit/>
          </a:bodyPr>
          <a:lstStyle/>
          <a:p>
            <a:pPr algn="l">
              <a:lnSpc>
                <a:spcPct val="112000"/>
              </a:lnSpc>
              <a:spcBef>
                <a:spcPts val="0"/>
              </a:spcBef>
              <a:spcAft>
                <a:spcPts val="600"/>
              </a:spcAft>
            </a:pPr>
            <a:r>
              <a:rPr sz="2700" b="1" i="0">
                <a:solidFill>
                  <a:srgbClr val="E64415"/>
                </a:solidFill>
                <a:latin typeface="Lato"/>
              </a:rPr>
              <a:t>9   </a:t>
            </a:r>
            <a:r>
              <a:rPr sz="2700" b="1" i="0">
                <a:solidFill>
                  <a:srgbClr val="1A1A1A"/>
                </a:solidFill>
                <a:latin typeface="Lato"/>
              </a:rPr>
              <a:t>Why the rule baseline fails</a:t>
            </a:r>
          </a:p>
        </p:txBody>
      </p:sp>
      <p:sp>
        <p:nvSpPr>
          <p:cNvPr id="4" name="Rectangle 3"/>
          <p:cNvSpPr/>
          <p:nvPr/>
        </p:nvSpPr>
        <p:spPr>
          <a:xfrm>
            <a:off x="585216" y="1993392"/>
            <a:ext cx="11018520" cy="15240"/>
          </a:xfrm>
          <a:prstGeom prst="rect">
            <a:avLst/>
          </a:prstGeom>
          <a:solidFill>
            <a:srgbClr val="E3E3E3"/>
          </a:solidFill>
          <a:ln>
            <a:noFill/>
          </a:ln>
          <a:effectLst/>
        </p:spPr>
        <p:txBody>
          <a:bodyPr rtlCol="0" anchor="ctr"/>
          <a:lstStyle/>
          <a:p>
            <a:pPr algn="ctr"/>
          </a:p>
        </p:txBody>
      </p:sp>
      <p:sp>
        <p:nvSpPr>
          <p:cNvPr id="5" name="TextBox 4"/>
          <p:cNvSpPr txBox="1"/>
          <p:nvPr/>
        </p:nvSpPr>
        <p:spPr>
          <a:xfrm>
            <a:off x="11430000" y="6437376"/>
            <a:ext cx="640080" cy="274320"/>
          </a:xfrm>
          <a:prstGeom prst="rect">
            <a:avLst/>
          </a:prstGeom>
          <a:noFill/>
        </p:spPr>
        <p:txBody>
          <a:bodyPr wrap="square" anchor="t" lIns="0" rIns="0" tIns="0" bIns="0">
            <a:spAutoFit/>
          </a:bodyPr>
          <a:lstStyle/>
          <a:p>
            <a:pPr algn="r">
              <a:lnSpc>
                <a:spcPct val="112000"/>
              </a:lnSpc>
              <a:spcBef>
                <a:spcPts val="0"/>
              </a:spcBef>
              <a:spcAft>
                <a:spcPts val="600"/>
              </a:spcAft>
            </a:pPr>
            <a:r>
              <a:rPr sz="1000" b="0" i="0">
                <a:solidFill>
                  <a:srgbClr val="BBBBBB"/>
                </a:solidFill>
                <a:latin typeface="Lato"/>
              </a:rPr>
              <a:t>10</a:t>
            </a:r>
          </a:p>
        </p:txBody>
      </p:sp>
      <p:pic>
        <p:nvPicPr>
          <p:cNvPr id="6" name="Picture 5" descr="fig6_baseline_failure_modes.png"/>
          <p:cNvPicPr>
            <a:picLocks noChangeAspect="1"/>
          </p:cNvPicPr>
          <p:nvPr/>
        </p:nvPicPr>
        <p:blipFill>
          <a:blip r:embed="rId3"/>
          <a:stretch>
            <a:fillRect/>
          </a:stretch>
        </p:blipFill>
        <p:spPr>
          <a:xfrm>
            <a:off x="2929374" y="2240280"/>
            <a:ext cx="6332947" cy="2697480"/>
          </a:xfrm>
          <a:prstGeom prst="rect">
            <a:avLst/>
          </a:prstGeom>
        </p:spPr>
      </p:pic>
      <p:sp>
        <p:nvSpPr>
          <p:cNvPr id="7" name="TextBox 6"/>
          <p:cNvSpPr txBox="1"/>
          <p:nvPr/>
        </p:nvSpPr>
        <p:spPr>
          <a:xfrm>
            <a:off x="566928" y="5120640"/>
            <a:ext cx="10972800" cy="4023360"/>
          </a:xfrm>
          <a:prstGeom prst="rect">
            <a:avLst/>
          </a:prstGeom>
          <a:noFill/>
        </p:spPr>
        <p:txBody>
          <a:bodyPr wrap="square" anchor="t" lIns="0" rIns="0" tIns="0" bIns="0">
            <a:spAutoFit/>
          </a:bodyPr>
          <a:lstStyle/>
          <a:p>
            <a:pPr algn="l">
              <a:lnSpc>
                <a:spcPct val="116000"/>
              </a:lnSpc>
              <a:spcBef>
                <a:spcPts val="0"/>
              </a:spcBef>
              <a:spcAft>
                <a:spcPts val="600"/>
              </a:spcAft>
            </a:pPr>
            <a:r>
              <a:rPr sz="1350" b="1" i="0">
                <a:solidFill>
                  <a:srgbClr val="E64415"/>
                </a:solidFill>
                <a:latin typeface="Lato"/>
              </a:rPr>
              <a:t>•  </a:t>
            </a:r>
            <a:r>
              <a:rPr sz="1350" b="0" i="0">
                <a:solidFill>
                  <a:srgbClr val="1A1A1A"/>
                </a:solidFill>
                <a:latin typeface="Lato"/>
              </a:rPr>
              <a:t>The baseline names a MOF in only 121 of 794 synthesis passages, about 15 percent. Five of the eight relations take MOF as their subject, so that one failure suppresses most of what it could otherwise extract.</a:t>
            </a:r>
          </a:p>
          <a:p>
            <a:pPr algn="l">
              <a:lnSpc>
                <a:spcPct val="116000"/>
              </a:lnSpc>
              <a:spcBef>
                <a:spcPts val="0"/>
              </a:spcBef>
              <a:spcAft>
                <a:spcPts val="600"/>
              </a:spcAft>
            </a:pPr>
            <a:r>
              <a:rPr sz="1350" b="1" i="0">
                <a:solidFill>
                  <a:srgbClr val="E64415"/>
                </a:solidFill>
                <a:latin typeface="Lato"/>
              </a:rPr>
              <a:t>•  </a:t>
            </a:r>
            <a:r>
              <a:rPr sz="1350" b="0" i="0">
                <a:solidFill>
                  <a:srgbClr val="1A1A1A"/>
                </a:solidFill>
                <a:latin typeface="Lato"/>
              </a:rPr>
              <a:t>Neither dominant cause is a lexicon gap. The highest-leverage fix is coreference across a paper and table parsing, not a bigger dictionary.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rh_logo.jpg"/>
          <p:cNvPicPr>
            <a:picLocks noChangeAspect="1"/>
          </p:cNvPicPr>
          <p:nvPr/>
        </p:nvPicPr>
        <p:blipFill>
          <a:blip r:embed="rId2"/>
          <a:stretch>
            <a:fillRect/>
          </a:stretch>
        </p:blipFill>
        <p:spPr>
          <a:xfrm>
            <a:off x="548640" y="420624"/>
            <a:ext cx="868680" cy="671720"/>
          </a:xfrm>
          <a:prstGeom prst="rect">
            <a:avLst/>
          </a:prstGeom>
        </p:spPr>
      </p:pic>
      <p:sp>
        <p:nvSpPr>
          <p:cNvPr id="3" name="TextBox 2"/>
          <p:cNvSpPr txBox="1"/>
          <p:nvPr/>
        </p:nvSpPr>
        <p:spPr>
          <a:xfrm>
            <a:off x="566928" y="1298448"/>
            <a:ext cx="11064240" cy="640080"/>
          </a:xfrm>
          <a:prstGeom prst="rect">
            <a:avLst/>
          </a:prstGeom>
          <a:noFill/>
        </p:spPr>
        <p:txBody>
          <a:bodyPr wrap="square" anchor="t" lIns="0" rIns="0" tIns="0" bIns="0">
            <a:spAutoFit/>
          </a:bodyPr>
          <a:lstStyle/>
          <a:p>
            <a:pPr algn="l">
              <a:lnSpc>
                <a:spcPct val="112000"/>
              </a:lnSpc>
              <a:spcBef>
                <a:spcPts val="0"/>
              </a:spcBef>
              <a:spcAft>
                <a:spcPts val="600"/>
              </a:spcAft>
            </a:pPr>
            <a:r>
              <a:rPr sz="2700" b="1" i="0">
                <a:solidFill>
                  <a:srgbClr val="E64415"/>
                </a:solidFill>
                <a:latin typeface="Lato"/>
              </a:rPr>
              <a:t>10   </a:t>
            </a:r>
            <a:r>
              <a:rPr sz="2700" b="1" i="0">
                <a:solidFill>
                  <a:srgbClr val="1A1A1A"/>
                </a:solidFill>
                <a:latin typeface="Lato"/>
              </a:rPr>
              <a:t>The knowledge graph (RQ5)</a:t>
            </a:r>
          </a:p>
        </p:txBody>
      </p:sp>
      <p:sp>
        <p:nvSpPr>
          <p:cNvPr id="4" name="Rectangle 3"/>
          <p:cNvSpPr/>
          <p:nvPr/>
        </p:nvSpPr>
        <p:spPr>
          <a:xfrm>
            <a:off x="585216" y="1993392"/>
            <a:ext cx="11018520" cy="15240"/>
          </a:xfrm>
          <a:prstGeom prst="rect">
            <a:avLst/>
          </a:prstGeom>
          <a:solidFill>
            <a:srgbClr val="E3E3E3"/>
          </a:solidFill>
          <a:ln>
            <a:noFill/>
          </a:ln>
          <a:effectLst/>
        </p:spPr>
        <p:txBody>
          <a:bodyPr rtlCol="0" anchor="ctr"/>
          <a:lstStyle/>
          <a:p>
            <a:pPr algn="ctr"/>
          </a:p>
        </p:txBody>
      </p:sp>
      <p:sp>
        <p:nvSpPr>
          <p:cNvPr id="5" name="TextBox 4"/>
          <p:cNvSpPr txBox="1"/>
          <p:nvPr/>
        </p:nvSpPr>
        <p:spPr>
          <a:xfrm>
            <a:off x="11430000" y="6437376"/>
            <a:ext cx="640080" cy="274320"/>
          </a:xfrm>
          <a:prstGeom prst="rect">
            <a:avLst/>
          </a:prstGeom>
          <a:noFill/>
        </p:spPr>
        <p:txBody>
          <a:bodyPr wrap="square" anchor="t" lIns="0" rIns="0" tIns="0" bIns="0">
            <a:spAutoFit/>
          </a:bodyPr>
          <a:lstStyle/>
          <a:p>
            <a:pPr algn="r">
              <a:lnSpc>
                <a:spcPct val="112000"/>
              </a:lnSpc>
              <a:spcBef>
                <a:spcPts val="0"/>
              </a:spcBef>
              <a:spcAft>
                <a:spcPts val="600"/>
              </a:spcAft>
            </a:pPr>
            <a:r>
              <a:rPr sz="1000" b="0" i="0">
                <a:solidFill>
                  <a:srgbClr val="BBBBBB"/>
                </a:solidFill>
                <a:latin typeface="Lato"/>
              </a:rPr>
              <a:t>11</a:t>
            </a:r>
          </a:p>
        </p:txBody>
      </p:sp>
      <p:sp>
        <p:nvSpPr>
          <p:cNvPr id="6" name="TextBox 5"/>
          <p:cNvSpPr txBox="1"/>
          <p:nvPr/>
        </p:nvSpPr>
        <p:spPr>
          <a:xfrm>
            <a:off x="566928" y="2286000"/>
            <a:ext cx="2651760" cy="548640"/>
          </a:xfrm>
          <a:prstGeom prst="rect">
            <a:avLst/>
          </a:prstGeom>
          <a:noFill/>
        </p:spPr>
        <p:txBody>
          <a:bodyPr wrap="square" anchor="t" lIns="0" rIns="0" tIns="0" bIns="0">
            <a:spAutoFit/>
          </a:bodyPr>
          <a:lstStyle/>
          <a:p>
            <a:pPr algn="l">
              <a:lnSpc>
                <a:spcPct val="112000"/>
              </a:lnSpc>
              <a:spcBef>
                <a:spcPts val="0"/>
              </a:spcBef>
              <a:spcAft>
                <a:spcPts val="600"/>
              </a:spcAft>
            </a:pPr>
            <a:r>
              <a:rPr sz="3300" b="1" i="0">
                <a:solidFill>
                  <a:srgbClr val="E64415"/>
                </a:solidFill>
                <a:latin typeface="Lato"/>
              </a:rPr>
              <a:t>485</a:t>
            </a:r>
          </a:p>
        </p:txBody>
      </p:sp>
      <p:sp>
        <p:nvSpPr>
          <p:cNvPr id="7" name="TextBox 6"/>
          <p:cNvSpPr txBox="1"/>
          <p:nvPr/>
        </p:nvSpPr>
        <p:spPr>
          <a:xfrm>
            <a:off x="566928" y="2852928"/>
            <a:ext cx="2651760" cy="457200"/>
          </a:xfrm>
          <a:prstGeom prst="rect">
            <a:avLst/>
          </a:prstGeom>
          <a:noFill/>
        </p:spPr>
        <p:txBody>
          <a:bodyPr wrap="square" anchor="t" lIns="0" rIns="0" tIns="0" bIns="0">
            <a:spAutoFit/>
          </a:bodyPr>
          <a:lstStyle/>
          <a:p>
            <a:pPr algn="l">
              <a:lnSpc>
                <a:spcPct val="110000"/>
              </a:lnSpc>
              <a:spcBef>
                <a:spcPts val="0"/>
              </a:spcBef>
              <a:spcAft>
                <a:spcPts val="600"/>
              </a:spcAft>
            </a:pPr>
            <a:r>
              <a:rPr sz="1250" b="0" i="0">
                <a:solidFill>
                  <a:srgbClr val="555555"/>
                </a:solidFill>
                <a:latin typeface="Lato"/>
              </a:rPr>
              <a:t>distinct nodes</a:t>
            </a:r>
          </a:p>
        </p:txBody>
      </p:sp>
      <p:sp>
        <p:nvSpPr>
          <p:cNvPr id="8" name="TextBox 7"/>
          <p:cNvSpPr txBox="1"/>
          <p:nvPr/>
        </p:nvSpPr>
        <p:spPr>
          <a:xfrm>
            <a:off x="3328416" y="2286000"/>
            <a:ext cx="2651760" cy="548640"/>
          </a:xfrm>
          <a:prstGeom prst="rect">
            <a:avLst/>
          </a:prstGeom>
          <a:noFill/>
        </p:spPr>
        <p:txBody>
          <a:bodyPr wrap="square" anchor="t" lIns="0" rIns="0" tIns="0" bIns="0">
            <a:spAutoFit/>
          </a:bodyPr>
          <a:lstStyle/>
          <a:p>
            <a:pPr algn="l">
              <a:lnSpc>
                <a:spcPct val="112000"/>
              </a:lnSpc>
              <a:spcBef>
                <a:spcPts val="0"/>
              </a:spcBef>
              <a:spcAft>
                <a:spcPts val="600"/>
              </a:spcAft>
            </a:pPr>
            <a:r>
              <a:rPr sz="3300" b="1" i="0">
                <a:solidFill>
                  <a:srgbClr val="E64415"/>
                </a:solidFill>
                <a:latin typeface="Lato"/>
              </a:rPr>
              <a:t>2,429</a:t>
            </a:r>
          </a:p>
        </p:txBody>
      </p:sp>
      <p:sp>
        <p:nvSpPr>
          <p:cNvPr id="9" name="TextBox 8"/>
          <p:cNvSpPr txBox="1"/>
          <p:nvPr/>
        </p:nvSpPr>
        <p:spPr>
          <a:xfrm>
            <a:off x="3328416" y="2852928"/>
            <a:ext cx="2651760" cy="457200"/>
          </a:xfrm>
          <a:prstGeom prst="rect">
            <a:avLst/>
          </a:prstGeom>
          <a:noFill/>
        </p:spPr>
        <p:txBody>
          <a:bodyPr wrap="square" anchor="t" lIns="0" rIns="0" tIns="0" bIns="0">
            <a:spAutoFit/>
          </a:bodyPr>
          <a:lstStyle/>
          <a:p>
            <a:pPr algn="l">
              <a:lnSpc>
                <a:spcPct val="110000"/>
              </a:lnSpc>
              <a:spcBef>
                <a:spcPts val="0"/>
              </a:spcBef>
              <a:spcAft>
                <a:spcPts val="600"/>
              </a:spcAft>
            </a:pPr>
            <a:r>
              <a:rPr sz="1250" b="0" i="0">
                <a:solidFill>
                  <a:srgbClr val="555555"/>
                </a:solidFill>
                <a:latin typeface="Lato"/>
              </a:rPr>
              <a:t>relationships</a:t>
            </a:r>
          </a:p>
        </p:txBody>
      </p:sp>
      <p:sp>
        <p:nvSpPr>
          <p:cNvPr id="10" name="TextBox 9"/>
          <p:cNvSpPr txBox="1"/>
          <p:nvPr/>
        </p:nvSpPr>
        <p:spPr>
          <a:xfrm>
            <a:off x="6089904" y="2286000"/>
            <a:ext cx="2651760" cy="548640"/>
          </a:xfrm>
          <a:prstGeom prst="rect">
            <a:avLst/>
          </a:prstGeom>
          <a:noFill/>
        </p:spPr>
        <p:txBody>
          <a:bodyPr wrap="square" anchor="t" lIns="0" rIns="0" tIns="0" bIns="0">
            <a:spAutoFit/>
          </a:bodyPr>
          <a:lstStyle/>
          <a:p>
            <a:pPr algn="l">
              <a:lnSpc>
                <a:spcPct val="112000"/>
              </a:lnSpc>
              <a:spcBef>
                <a:spcPts val="0"/>
              </a:spcBef>
              <a:spcAft>
                <a:spcPts val="600"/>
              </a:spcAft>
            </a:pPr>
            <a:r>
              <a:rPr sz="3300" b="1" i="0">
                <a:solidFill>
                  <a:srgbClr val="E64415"/>
                </a:solidFill>
                <a:latin typeface="Lato"/>
              </a:rPr>
              <a:t>182</a:t>
            </a:r>
          </a:p>
        </p:txBody>
      </p:sp>
      <p:sp>
        <p:nvSpPr>
          <p:cNvPr id="11" name="TextBox 10"/>
          <p:cNvSpPr txBox="1"/>
          <p:nvPr/>
        </p:nvSpPr>
        <p:spPr>
          <a:xfrm>
            <a:off x="6089904" y="2852928"/>
            <a:ext cx="2651760" cy="457200"/>
          </a:xfrm>
          <a:prstGeom prst="rect">
            <a:avLst/>
          </a:prstGeom>
          <a:noFill/>
        </p:spPr>
        <p:txBody>
          <a:bodyPr wrap="square" anchor="t" lIns="0" rIns="0" tIns="0" bIns="0">
            <a:spAutoFit/>
          </a:bodyPr>
          <a:lstStyle/>
          <a:p>
            <a:pPr algn="l">
              <a:lnSpc>
                <a:spcPct val="110000"/>
              </a:lnSpc>
              <a:spcBef>
                <a:spcPts val="0"/>
              </a:spcBef>
              <a:spcAft>
                <a:spcPts val="600"/>
              </a:spcAft>
            </a:pPr>
            <a:r>
              <a:rPr sz="1250" b="0" i="0">
                <a:solidFill>
                  <a:srgbClr val="555555"/>
                </a:solidFill>
                <a:latin typeface="Lato"/>
              </a:rPr>
              <a:t>source papers</a:t>
            </a:r>
          </a:p>
        </p:txBody>
      </p:sp>
      <p:sp>
        <p:nvSpPr>
          <p:cNvPr id="12" name="TextBox 11"/>
          <p:cNvSpPr txBox="1"/>
          <p:nvPr/>
        </p:nvSpPr>
        <p:spPr>
          <a:xfrm>
            <a:off x="8851392" y="2286000"/>
            <a:ext cx="2651760" cy="548640"/>
          </a:xfrm>
          <a:prstGeom prst="rect">
            <a:avLst/>
          </a:prstGeom>
          <a:noFill/>
        </p:spPr>
        <p:txBody>
          <a:bodyPr wrap="square" anchor="t" lIns="0" rIns="0" tIns="0" bIns="0">
            <a:spAutoFit/>
          </a:bodyPr>
          <a:lstStyle/>
          <a:p>
            <a:pPr algn="l">
              <a:lnSpc>
                <a:spcPct val="112000"/>
              </a:lnSpc>
              <a:spcBef>
                <a:spcPts val="0"/>
              </a:spcBef>
              <a:spcAft>
                <a:spcPts val="600"/>
              </a:spcAft>
            </a:pPr>
            <a:r>
              <a:rPr sz="3300" b="1" i="0">
                <a:solidFill>
                  <a:srgbClr val="E64415"/>
                </a:solidFill>
                <a:latin typeface="Lato"/>
              </a:rPr>
              <a:t>0</a:t>
            </a:r>
          </a:p>
        </p:txBody>
      </p:sp>
      <p:sp>
        <p:nvSpPr>
          <p:cNvPr id="13" name="TextBox 12"/>
          <p:cNvSpPr txBox="1"/>
          <p:nvPr/>
        </p:nvSpPr>
        <p:spPr>
          <a:xfrm>
            <a:off x="8851392" y="2852928"/>
            <a:ext cx="2651760" cy="457200"/>
          </a:xfrm>
          <a:prstGeom prst="rect">
            <a:avLst/>
          </a:prstGeom>
          <a:noFill/>
        </p:spPr>
        <p:txBody>
          <a:bodyPr wrap="square" anchor="t" lIns="0" rIns="0" tIns="0" bIns="0">
            <a:spAutoFit/>
          </a:bodyPr>
          <a:lstStyle/>
          <a:p>
            <a:pPr algn="l">
              <a:lnSpc>
                <a:spcPct val="110000"/>
              </a:lnSpc>
              <a:spcBef>
                <a:spcPts val="0"/>
              </a:spcBef>
              <a:spcAft>
                <a:spcPts val="600"/>
              </a:spcAft>
            </a:pPr>
            <a:r>
              <a:rPr sz="1250" b="0" i="0">
                <a:solidFill>
                  <a:srgbClr val="555555"/>
                </a:solidFill>
                <a:latin typeface="Lato"/>
              </a:rPr>
              <a:t>provenance violations</a:t>
            </a:r>
          </a:p>
        </p:txBody>
      </p:sp>
      <p:sp>
        <p:nvSpPr>
          <p:cNvPr id="14" name="Rectangle 13"/>
          <p:cNvSpPr/>
          <p:nvPr/>
        </p:nvSpPr>
        <p:spPr>
          <a:xfrm>
            <a:off x="585216" y="3703320"/>
            <a:ext cx="11018520" cy="12700"/>
          </a:xfrm>
          <a:prstGeom prst="rect">
            <a:avLst/>
          </a:prstGeom>
          <a:solidFill>
            <a:srgbClr val="E3E3E3"/>
          </a:solidFill>
          <a:ln>
            <a:noFill/>
          </a:ln>
          <a:effectLst/>
        </p:spPr>
        <p:txBody>
          <a:bodyPr rtlCol="0" anchor="ctr"/>
          <a:lstStyle/>
          <a:p>
            <a:pPr algn="ctr"/>
          </a:p>
        </p:txBody>
      </p:sp>
      <p:sp>
        <p:nvSpPr>
          <p:cNvPr id="15" name="TextBox 14"/>
          <p:cNvSpPr txBox="1"/>
          <p:nvPr/>
        </p:nvSpPr>
        <p:spPr>
          <a:xfrm>
            <a:off x="566928" y="3977639"/>
            <a:ext cx="6949440" cy="4023360"/>
          </a:xfrm>
          <a:prstGeom prst="rect">
            <a:avLst/>
          </a:prstGeom>
          <a:noFill/>
        </p:spPr>
        <p:txBody>
          <a:bodyPr wrap="square" anchor="t" lIns="0" rIns="0" tIns="0" bIns="0">
            <a:spAutoFit/>
          </a:bodyPr>
          <a:lstStyle/>
          <a:p>
            <a:pPr algn="l">
              <a:lnSpc>
                <a:spcPct val="116000"/>
              </a:lnSpc>
              <a:spcBef>
                <a:spcPts val="0"/>
              </a:spcBef>
              <a:spcAft>
                <a:spcPts val="1000"/>
              </a:spcAft>
            </a:pPr>
            <a:r>
              <a:rPr sz="1450" b="1" i="0">
                <a:solidFill>
                  <a:srgbClr val="E64415"/>
                </a:solidFill>
                <a:latin typeface="Lato"/>
              </a:rPr>
              <a:t>•  </a:t>
            </a:r>
            <a:r>
              <a:rPr sz="1450" b="0" i="0">
                <a:solidFill>
                  <a:srgbClr val="1A1A1A"/>
                </a:solidFill>
                <a:latin typeface="Lato"/>
              </a:rPr>
              <a:t>Every entity carries a MENTIONED_IN edge to the paper it came from. Provenance is verified by query, not asserted: the violations query returns zero rows.</a:t>
            </a:r>
          </a:p>
          <a:p>
            <a:pPr algn="l">
              <a:lnSpc>
                <a:spcPct val="116000"/>
              </a:lnSpc>
              <a:spcBef>
                <a:spcPts val="0"/>
              </a:spcBef>
              <a:spcAft>
                <a:spcPts val="1000"/>
              </a:spcAft>
            </a:pPr>
            <a:r>
              <a:rPr sz="1450" b="1" i="0">
                <a:solidFill>
                  <a:srgbClr val="E64415"/>
                </a:solidFill>
                <a:latin typeface="Lato"/>
              </a:rPr>
              <a:t>•  </a:t>
            </a:r>
            <a:r>
              <a:rPr sz="1450" b="0" i="0">
                <a:solidFill>
                  <a:srgbClr val="1A1A1A"/>
                </a:solidFill>
                <a:latin typeface="Lato"/>
              </a:rPr>
              <a:t>Cross-paper aggregation works. Solvothermal appears in 61 papers across 30 MOFs, hydrothermal in 43 across 12.</a:t>
            </a:r>
          </a:p>
        </p:txBody>
      </p:sp>
      <p:sp>
        <p:nvSpPr>
          <p:cNvPr id="16" name="Rectangle 15"/>
          <p:cNvSpPr/>
          <p:nvPr/>
        </p:nvSpPr>
        <p:spPr>
          <a:xfrm>
            <a:off x="7772400" y="3931920"/>
            <a:ext cx="3840480" cy="1920240"/>
          </a:xfrm>
          <a:prstGeom prst="rect">
            <a:avLst/>
          </a:prstGeom>
          <a:solidFill>
            <a:srgbClr val="FAF6F4"/>
          </a:solidFill>
          <a:ln>
            <a:noFill/>
          </a:ln>
          <a:effectLst/>
        </p:spPr>
        <p:txBody>
          <a:bodyPr rtlCol="0" anchor="ctr"/>
          <a:lstStyle/>
          <a:p>
            <a:pPr algn="ctr"/>
          </a:p>
        </p:txBody>
      </p:sp>
      <p:sp>
        <p:nvSpPr>
          <p:cNvPr id="17" name="TextBox 16"/>
          <p:cNvSpPr txBox="1"/>
          <p:nvPr/>
        </p:nvSpPr>
        <p:spPr>
          <a:xfrm>
            <a:off x="8074152" y="4187952"/>
            <a:ext cx="3246120" cy="1463040"/>
          </a:xfrm>
          <a:prstGeom prst="rect">
            <a:avLst/>
          </a:prstGeom>
          <a:noFill/>
        </p:spPr>
        <p:txBody>
          <a:bodyPr wrap="square" anchor="t" lIns="0" rIns="0" tIns="0" bIns="0">
            <a:spAutoFit/>
          </a:bodyPr>
          <a:lstStyle/>
          <a:p>
            <a:pPr algn="l">
              <a:lnSpc>
                <a:spcPct val="120000"/>
              </a:lnSpc>
              <a:spcBef>
                <a:spcPts val="0"/>
              </a:spcBef>
              <a:spcAft>
                <a:spcPts val="800"/>
              </a:spcAft>
            </a:pPr>
            <a:r>
              <a:rPr sz="1300" b="1" i="0">
                <a:solidFill>
                  <a:srgbClr val="E64415"/>
                </a:solidFill>
                <a:latin typeface="Lato"/>
              </a:rPr>
              <a:t>An open question</a:t>
            </a:r>
          </a:p>
          <a:p>
            <a:pPr algn="l">
              <a:lnSpc>
                <a:spcPct val="120000"/>
              </a:lnSpc>
              <a:spcBef>
                <a:spcPts val="0"/>
              </a:spcBef>
              <a:spcAft>
                <a:spcPts val="800"/>
              </a:spcAft>
            </a:pPr>
            <a:r>
              <a:rPr sz="1300" b="0" i="0">
                <a:solidFill>
                  <a:srgbClr val="1A1A1A"/>
                </a:solidFill>
                <a:latin typeface="Lato"/>
              </a:rPr>
              <a:t>DigiMOF reported more hydrothermal than solvothermal records and called that surprising. This corpus shows the opposite ordering. Recorded, not resolved.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rh_logo.jpg"/>
          <p:cNvPicPr>
            <a:picLocks noChangeAspect="1"/>
          </p:cNvPicPr>
          <p:nvPr/>
        </p:nvPicPr>
        <p:blipFill>
          <a:blip r:embed="rId2"/>
          <a:stretch>
            <a:fillRect/>
          </a:stretch>
        </p:blipFill>
        <p:spPr>
          <a:xfrm>
            <a:off x="548640" y="420624"/>
            <a:ext cx="868680" cy="671720"/>
          </a:xfrm>
          <a:prstGeom prst="rect">
            <a:avLst/>
          </a:prstGeom>
        </p:spPr>
      </p:pic>
      <p:sp>
        <p:nvSpPr>
          <p:cNvPr id="3" name="TextBox 2"/>
          <p:cNvSpPr txBox="1"/>
          <p:nvPr/>
        </p:nvSpPr>
        <p:spPr>
          <a:xfrm>
            <a:off x="566928" y="1298448"/>
            <a:ext cx="11064240" cy="640080"/>
          </a:xfrm>
          <a:prstGeom prst="rect">
            <a:avLst/>
          </a:prstGeom>
          <a:noFill/>
        </p:spPr>
        <p:txBody>
          <a:bodyPr wrap="square" anchor="t" lIns="0" rIns="0" tIns="0" bIns="0">
            <a:spAutoFit/>
          </a:bodyPr>
          <a:lstStyle/>
          <a:p>
            <a:pPr algn="l">
              <a:lnSpc>
                <a:spcPct val="112000"/>
              </a:lnSpc>
              <a:spcBef>
                <a:spcPts val="0"/>
              </a:spcBef>
              <a:spcAft>
                <a:spcPts val="600"/>
              </a:spcAft>
            </a:pPr>
            <a:r>
              <a:rPr sz="2700" b="1" i="0">
                <a:solidFill>
                  <a:srgbClr val="E64415"/>
                </a:solidFill>
                <a:latin typeface="Lato"/>
              </a:rPr>
              <a:t>11   </a:t>
            </a:r>
            <a:r>
              <a:rPr sz="2700" b="1" i="0">
                <a:solidFill>
                  <a:srgbClr val="1A1A1A"/>
                </a:solidFill>
                <a:latin typeface="Lato"/>
              </a:rPr>
              <a:t>What this cannot show</a:t>
            </a:r>
          </a:p>
        </p:txBody>
      </p:sp>
      <p:sp>
        <p:nvSpPr>
          <p:cNvPr id="4" name="Rectangle 3"/>
          <p:cNvSpPr/>
          <p:nvPr/>
        </p:nvSpPr>
        <p:spPr>
          <a:xfrm>
            <a:off x="585216" y="1993392"/>
            <a:ext cx="11018520" cy="15240"/>
          </a:xfrm>
          <a:prstGeom prst="rect">
            <a:avLst/>
          </a:prstGeom>
          <a:solidFill>
            <a:srgbClr val="E3E3E3"/>
          </a:solidFill>
          <a:ln>
            <a:noFill/>
          </a:ln>
          <a:effectLst/>
        </p:spPr>
        <p:txBody>
          <a:bodyPr rtlCol="0" anchor="ctr"/>
          <a:lstStyle/>
          <a:p>
            <a:pPr algn="ctr"/>
          </a:p>
        </p:txBody>
      </p:sp>
      <p:sp>
        <p:nvSpPr>
          <p:cNvPr id="5" name="TextBox 4"/>
          <p:cNvSpPr txBox="1"/>
          <p:nvPr/>
        </p:nvSpPr>
        <p:spPr>
          <a:xfrm>
            <a:off x="11430000" y="6437376"/>
            <a:ext cx="640080" cy="274320"/>
          </a:xfrm>
          <a:prstGeom prst="rect">
            <a:avLst/>
          </a:prstGeom>
          <a:noFill/>
        </p:spPr>
        <p:txBody>
          <a:bodyPr wrap="square" anchor="t" lIns="0" rIns="0" tIns="0" bIns="0">
            <a:spAutoFit/>
          </a:bodyPr>
          <a:lstStyle/>
          <a:p>
            <a:pPr algn="r">
              <a:lnSpc>
                <a:spcPct val="112000"/>
              </a:lnSpc>
              <a:spcBef>
                <a:spcPts val="0"/>
              </a:spcBef>
              <a:spcAft>
                <a:spcPts val="600"/>
              </a:spcAft>
            </a:pPr>
            <a:r>
              <a:rPr sz="1000" b="0" i="0">
                <a:solidFill>
                  <a:srgbClr val="BBBBBB"/>
                </a:solidFill>
                <a:latin typeface="Lato"/>
              </a:rPr>
              <a:t>12</a:t>
            </a:r>
          </a:p>
        </p:txBody>
      </p:sp>
      <p:sp>
        <p:nvSpPr>
          <p:cNvPr id="6" name="TextBox 5"/>
          <p:cNvSpPr txBox="1"/>
          <p:nvPr/>
        </p:nvSpPr>
        <p:spPr>
          <a:xfrm>
            <a:off x="566928" y="2286000"/>
            <a:ext cx="10972800" cy="4023360"/>
          </a:xfrm>
          <a:prstGeom prst="rect">
            <a:avLst/>
          </a:prstGeom>
          <a:noFill/>
        </p:spPr>
        <p:txBody>
          <a:bodyPr wrap="square" anchor="t" lIns="0" rIns="0" tIns="0" bIns="0">
            <a:spAutoFit/>
          </a:bodyPr>
          <a:lstStyle/>
          <a:p>
            <a:pPr algn="l">
              <a:lnSpc>
                <a:spcPct val="116000"/>
              </a:lnSpc>
              <a:spcBef>
                <a:spcPts val="0"/>
              </a:spcBef>
              <a:spcAft>
                <a:spcPts val="1100"/>
              </a:spcAft>
            </a:pPr>
            <a:r>
              <a:rPr sz="1450" b="1" i="0">
                <a:solidFill>
                  <a:srgbClr val="E64415"/>
                </a:solidFill>
                <a:latin typeface="Lato"/>
              </a:rPr>
              <a:t>•  </a:t>
            </a:r>
            <a:r>
              <a:rPr sz="1450" b="0" i="0">
                <a:solidFill>
                  <a:srgbClr val="1A1A1A"/>
                </a:solidFill>
                <a:latin typeface="Lato"/>
              </a:rPr>
              <a:t>RQ3 is not answered. DigiMOF and SynMOF are keyed by CSD refcode, this corpus by DOI and by the MOF name a paper uses, and joining them needs a licensed mapping. The overlap is undetermined, which is not the same as zero.</a:t>
            </a:r>
          </a:p>
          <a:p>
            <a:pPr algn="l">
              <a:lnSpc>
                <a:spcPct val="116000"/>
              </a:lnSpc>
              <a:spcBef>
                <a:spcPts val="0"/>
              </a:spcBef>
              <a:spcAft>
                <a:spcPts val="1100"/>
              </a:spcAft>
            </a:pPr>
            <a:r>
              <a:rPr sz="1350" b="0" i="0">
                <a:solidFill>
                  <a:srgbClr val="E64415"/>
                </a:solidFill>
                <a:latin typeface="Lato"/>
              </a:rPr>
              <a:t>      –  </a:t>
            </a:r>
            <a:r>
              <a:rPr sz="1350" b="0" i="0">
                <a:solidFill>
                  <a:srgbClr val="555555"/>
                </a:solidFill>
                <a:latin typeface="Lato"/>
              </a:rPr>
              <a:t>What could be measured: the two databases agree on the metal 98.9 percent across the 509 MOFs they share.</a:t>
            </a:r>
          </a:p>
          <a:p>
            <a:pPr algn="l">
              <a:lnSpc>
                <a:spcPct val="116000"/>
              </a:lnSpc>
              <a:spcBef>
                <a:spcPts val="0"/>
              </a:spcBef>
              <a:spcAft>
                <a:spcPts val="1100"/>
              </a:spcAft>
            </a:pPr>
            <a:r>
              <a:rPr sz="1450" b="1" i="0">
                <a:solidFill>
                  <a:srgbClr val="E64415"/>
                </a:solidFill>
                <a:latin typeface="Lato"/>
              </a:rPr>
              <a:t>•  </a:t>
            </a:r>
            <a:r>
              <a:rPr sz="1450" b="0" i="0">
                <a:solidFill>
                  <a:srgbClr val="1A1A1A"/>
                </a:solidFill>
                <a:latin typeface="Lato"/>
              </a:rPr>
              <a:t>0.364 micro-F1 is below the 0.80 target in the exposé, and is a lower bound: strict surface-form matching scores correct extractions as failures.</a:t>
            </a:r>
          </a:p>
          <a:p>
            <a:pPr algn="l">
              <a:lnSpc>
                <a:spcPct val="116000"/>
              </a:lnSpc>
              <a:spcBef>
                <a:spcPts val="0"/>
              </a:spcBef>
              <a:spcAft>
                <a:spcPts val="1100"/>
              </a:spcAft>
            </a:pPr>
            <a:r>
              <a:rPr sz="1450" b="1" i="0">
                <a:solidFill>
                  <a:srgbClr val="E64415"/>
                </a:solidFill>
                <a:latin typeface="Lato"/>
              </a:rPr>
              <a:t>•  </a:t>
            </a:r>
            <a:r>
              <a:rPr sz="1450" b="0" i="0">
                <a:solidFill>
                  <a:srgbClr val="1A1A1A"/>
                </a:solidFill>
                <a:latin typeface="Lato"/>
              </a:rPr>
              <a:t>The gold standard is 100 passages, not the 150 to 200 planned, and has a single annotator, so no inter-annotator agreement can be computed.</a:t>
            </a:r>
          </a:p>
          <a:p>
            <a:pPr algn="l">
              <a:lnSpc>
                <a:spcPct val="116000"/>
              </a:lnSpc>
              <a:spcBef>
                <a:spcPts val="0"/>
              </a:spcBef>
              <a:spcAft>
                <a:spcPts val="1100"/>
              </a:spcAft>
            </a:pPr>
            <a:r>
              <a:rPr sz="1450" b="1" i="0">
                <a:solidFill>
                  <a:srgbClr val="E64415"/>
                </a:solidFill>
                <a:latin typeface="Lato"/>
              </a:rPr>
              <a:t>•  </a:t>
            </a:r>
            <a:r>
              <a:rPr sz="1450" b="0" i="0">
                <a:solidFill>
                  <a:srgbClr val="1A1A1A"/>
                </a:solidFill>
                <a:latin typeface="Lato"/>
              </a:rPr>
              <a:t>Two open-weight configurations hit a free-tier daily cap and were deleted rather than scored. A partial run makes a rate-limited model look like a weak one.</a:t>
            </a:r>
          </a:p>
          <a:p>
            <a:pPr algn="l">
              <a:lnSpc>
                <a:spcPct val="116000"/>
              </a:lnSpc>
              <a:spcBef>
                <a:spcPts val="0"/>
              </a:spcBef>
              <a:spcAft>
                <a:spcPts val="1100"/>
              </a:spcAft>
            </a:pPr>
            <a:r>
              <a:rPr sz="1450" b="1" i="0">
                <a:solidFill>
                  <a:srgbClr val="E64415"/>
                </a:solidFill>
                <a:latin typeface="Lato"/>
              </a:rPr>
              <a:t>•  </a:t>
            </a:r>
            <a:r>
              <a:rPr sz="1450" b="0" i="0">
                <a:solidFill>
                  <a:srgbClr val="1A1A1A"/>
                </a:solidFill>
                <a:latin typeface="Lato"/>
              </a:rPr>
              <a:t>Every configuration ran once, so no variance is reported.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rh_logo.jpg"/>
          <p:cNvPicPr>
            <a:picLocks noChangeAspect="1"/>
          </p:cNvPicPr>
          <p:nvPr/>
        </p:nvPicPr>
        <p:blipFill>
          <a:blip r:embed="rId2"/>
          <a:stretch>
            <a:fillRect/>
          </a:stretch>
        </p:blipFill>
        <p:spPr>
          <a:xfrm>
            <a:off x="548640" y="420624"/>
            <a:ext cx="868680" cy="671720"/>
          </a:xfrm>
          <a:prstGeom prst="rect">
            <a:avLst/>
          </a:prstGeom>
        </p:spPr>
      </p:pic>
      <p:sp>
        <p:nvSpPr>
          <p:cNvPr id="3" name="TextBox 2"/>
          <p:cNvSpPr txBox="1"/>
          <p:nvPr/>
        </p:nvSpPr>
        <p:spPr>
          <a:xfrm>
            <a:off x="566928" y="1298448"/>
            <a:ext cx="11064240" cy="640080"/>
          </a:xfrm>
          <a:prstGeom prst="rect">
            <a:avLst/>
          </a:prstGeom>
          <a:noFill/>
        </p:spPr>
        <p:txBody>
          <a:bodyPr wrap="square" anchor="t" lIns="0" rIns="0" tIns="0" bIns="0">
            <a:spAutoFit/>
          </a:bodyPr>
          <a:lstStyle/>
          <a:p>
            <a:pPr algn="l">
              <a:lnSpc>
                <a:spcPct val="112000"/>
              </a:lnSpc>
              <a:spcBef>
                <a:spcPts val="0"/>
              </a:spcBef>
              <a:spcAft>
                <a:spcPts val="600"/>
              </a:spcAft>
            </a:pPr>
            <a:r>
              <a:rPr sz="2700" b="1" i="0">
                <a:solidFill>
                  <a:srgbClr val="E64415"/>
                </a:solidFill>
                <a:latin typeface="Lato"/>
              </a:rPr>
              <a:t>12   </a:t>
            </a:r>
            <a:r>
              <a:rPr sz="2700" b="1" i="0">
                <a:solidFill>
                  <a:srgbClr val="1A1A1A"/>
                </a:solidFill>
                <a:latin typeface="Lato"/>
              </a:rPr>
              <a:t>Conclusion</a:t>
            </a:r>
          </a:p>
        </p:txBody>
      </p:sp>
      <p:sp>
        <p:nvSpPr>
          <p:cNvPr id="4" name="Rectangle 3"/>
          <p:cNvSpPr/>
          <p:nvPr/>
        </p:nvSpPr>
        <p:spPr>
          <a:xfrm>
            <a:off x="585216" y="1993392"/>
            <a:ext cx="11018520" cy="15240"/>
          </a:xfrm>
          <a:prstGeom prst="rect">
            <a:avLst/>
          </a:prstGeom>
          <a:solidFill>
            <a:srgbClr val="E3E3E3"/>
          </a:solidFill>
          <a:ln>
            <a:noFill/>
          </a:ln>
          <a:effectLst/>
        </p:spPr>
        <p:txBody>
          <a:bodyPr rtlCol="0" anchor="ctr"/>
          <a:lstStyle/>
          <a:p>
            <a:pPr algn="ctr"/>
          </a:p>
        </p:txBody>
      </p:sp>
      <p:sp>
        <p:nvSpPr>
          <p:cNvPr id="5" name="TextBox 4"/>
          <p:cNvSpPr txBox="1"/>
          <p:nvPr/>
        </p:nvSpPr>
        <p:spPr>
          <a:xfrm>
            <a:off x="11430000" y="6437376"/>
            <a:ext cx="640080" cy="274320"/>
          </a:xfrm>
          <a:prstGeom prst="rect">
            <a:avLst/>
          </a:prstGeom>
          <a:noFill/>
        </p:spPr>
        <p:txBody>
          <a:bodyPr wrap="square" anchor="t" lIns="0" rIns="0" tIns="0" bIns="0">
            <a:spAutoFit/>
          </a:bodyPr>
          <a:lstStyle/>
          <a:p>
            <a:pPr algn="r">
              <a:lnSpc>
                <a:spcPct val="112000"/>
              </a:lnSpc>
              <a:spcBef>
                <a:spcPts val="0"/>
              </a:spcBef>
              <a:spcAft>
                <a:spcPts val="600"/>
              </a:spcAft>
            </a:pPr>
            <a:r>
              <a:rPr sz="1000" b="0" i="0">
                <a:solidFill>
                  <a:srgbClr val="BBBBBB"/>
                </a:solidFill>
                <a:latin typeface="Lato"/>
              </a:rPr>
              <a:t>13</a:t>
            </a:r>
          </a:p>
        </p:txBody>
      </p:sp>
      <p:sp>
        <p:nvSpPr>
          <p:cNvPr id="6" name="TextBox 5"/>
          <p:cNvSpPr txBox="1"/>
          <p:nvPr/>
        </p:nvSpPr>
        <p:spPr>
          <a:xfrm>
            <a:off x="566928" y="2286000"/>
            <a:ext cx="6858000" cy="4023360"/>
          </a:xfrm>
          <a:prstGeom prst="rect">
            <a:avLst/>
          </a:prstGeom>
          <a:noFill/>
        </p:spPr>
        <p:txBody>
          <a:bodyPr wrap="square" anchor="t" lIns="0" rIns="0" tIns="0" bIns="0">
            <a:spAutoFit/>
          </a:bodyPr>
          <a:lstStyle/>
          <a:p>
            <a:pPr algn="l">
              <a:lnSpc>
                <a:spcPct val="116000"/>
              </a:lnSpc>
              <a:spcBef>
                <a:spcPts val="0"/>
              </a:spcBef>
              <a:spcAft>
                <a:spcPts val="1000"/>
              </a:spcAft>
            </a:pPr>
            <a:r>
              <a:rPr sz="1450" b="1" i="0">
                <a:solidFill>
                  <a:srgbClr val="E64415"/>
                </a:solidFill>
                <a:latin typeface="Lato"/>
              </a:rPr>
              <a:t>•  </a:t>
            </a:r>
            <a:r>
              <a:rPr sz="1450" b="0" i="0">
                <a:solidFill>
                  <a:srgbClr val="1A1A1A"/>
                </a:solidFill>
                <a:latin typeface="Lato"/>
              </a:rPr>
              <a:t>Language models beat the rule baseline on every configuration tested, and by the largest margin exactly where a pre-registered prediction said they would.</a:t>
            </a:r>
          </a:p>
          <a:p>
            <a:pPr algn="l">
              <a:lnSpc>
                <a:spcPct val="116000"/>
              </a:lnSpc>
              <a:spcBef>
                <a:spcPts val="0"/>
              </a:spcBef>
              <a:spcAft>
                <a:spcPts val="1000"/>
              </a:spcAft>
            </a:pPr>
            <a:r>
              <a:rPr sz="1450" b="1" i="0">
                <a:solidFill>
                  <a:srgbClr val="E64415"/>
                </a:solidFill>
                <a:latin typeface="Lato"/>
              </a:rPr>
              <a:t>•  </a:t>
            </a:r>
            <a:r>
              <a:rPr sz="1450" b="0" i="0">
                <a:solidFill>
                  <a:srgbClr val="1A1A1A"/>
                </a:solidFill>
                <a:latin typeface="Lato"/>
              </a:rPr>
              <a:t>The cheaper model won, and the mechanism is under-extraction by the larger model, measured rather than assumed.</a:t>
            </a:r>
          </a:p>
          <a:p>
            <a:pPr algn="l">
              <a:lnSpc>
                <a:spcPct val="116000"/>
              </a:lnSpc>
              <a:spcBef>
                <a:spcPts val="0"/>
              </a:spcBef>
              <a:spcAft>
                <a:spcPts val="1000"/>
              </a:spcAft>
            </a:pPr>
            <a:r>
              <a:rPr sz="1450" b="1" i="0">
                <a:solidFill>
                  <a:srgbClr val="E64415"/>
                </a:solidFill>
                <a:latin typeface="Lato"/>
              </a:rPr>
              <a:t>•  </a:t>
            </a:r>
            <a:r>
              <a:rPr sz="1450" b="0" i="0">
                <a:solidFill>
                  <a:srgbClr val="1A1A1A"/>
                </a:solidFill>
                <a:latin typeface="Lato"/>
              </a:rPr>
              <a:t>An open-weight model reached about two thirds of the best commercial F1 at zero marginal cost.</a:t>
            </a:r>
          </a:p>
          <a:p>
            <a:pPr algn="l">
              <a:lnSpc>
                <a:spcPct val="116000"/>
              </a:lnSpc>
              <a:spcBef>
                <a:spcPts val="0"/>
              </a:spcBef>
              <a:spcAft>
                <a:spcPts val="1000"/>
              </a:spcAft>
            </a:pPr>
            <a:r>
              <a:rPr sz="1450" b="1" i="0">
                <a:solidFill>
                  <a:srgbClr val="E64415"/>
                </a:solidFill>
                <a:latin typeface="Lato"/>
              </a:rPr>
              <a:t>•  </a:t>
            </a:r>
            <a:r>
              <a:rPr sz="1450" b="0" i="0">
                <a:solidFill>
                  <a:srgbClr val="1A1A1A"/>
                </a:solidFill>
                <a:latin typeface="Lato"/>
              </a:rPr>
              <a:t>A provenance-complete knowledge graph, verified by query.</a:t>
            </a:r>
          </a:p>
        </p:txBody>
      </p:sp>
      <p:sp>
        <p:nvSpPr>
          <p:cNvPr id="7" name="Rectangle 6"/>
          <p:cNvSpPr/>
          <p:nvPr/>
        </p:nvSpPr>
        <p:spPr>
          <a:xfrm>
            <a:off x="7635240" y="2286000"/>
            <a:ext cx="3977639" cy="3017520"/>
          </a:xfrm>
          <a:prstGeom prst="rect">
            <a:avLst/>
          </a:prstGeom>
          <a:noFill/>
          <a:ln w="15240">
            <a:solidFill>
              <a:srgbClr val="E3E3E3"/>
            </a:solidFill>
          </a:ln>
          <a:effectLst/>
        </p:spPr>
        <p:txBody>
          <a:bodyPr rtlCol="0" anchor="ctr"/>
          <a:lstStyle/>
          <a:p>
            <a:pPr algn="ctr"/>
          </a:p>
        </p:txBody>
      </p:sp>
      <p:sp>
        <p:nvSpPr>
          <p:cNvPr id="8" name="TextBox 7"/>
          <p:cNvSpPr txBox="1"/>
          <p:nvPr/>
        </p:nvSpPr>
        <p:spPr>
          <a:xfrm>
            <a:off x="7936992" y="2560320"/>
            <a:ext cx="3383280" cy="2560320"/>
          </a:xfrm>
          <a:prstGeom prst="rect">
            <a:avLst/>
          </a:prstGeom>
          <a:noFill/>
        </p:spPr>
        <p:txBody>
          <a:bodyPr wrap="square" anchor="t" lIns="0" rIns="0" tIns="0" bIns="0">
            <a:spAutoFit/>
          </a:bodyPr>
          <a:lstStyle/>
          <a:p>
            <a:pPr algn="l">
              <a:lnSpc>
                <a:spcPct val="120000"/>
              </a:lnSpc>
              <a:spcBef>
                <a:spcPts val="0"/>
              </a:spcBef>
              <a:spcAft>
                <a:spcPts val="900"/>
              </a:spcAft>
            </a:pPr>
            <a:r>
              <a:rPr sz="1300" b="1" i="0">
                <a:solidFill>
                  <a:srgbClr val="E64415"/>
                </a:solidFill>
                <a:latin typeface="Lato"/>
              </a:rPr>
              <a:t>Future work</a:t>
            </a:r>
          </a:p>
          <a:p>
            <a:pPr algn="l">
              <a:lnSpc>
                <a:spcPct val="120000"/>
              </a:lnSpc>
              <a:spcBef>
                <a:spcPts val="0"/>
              </a:spcBef>
              <a:spcAft>
                <a:spcPts val="900"/>
              </a:spcAft>
            </a:pPr>
            <a:r>
              <a:rPr sz="1350" b="0" i="0">
                <a:solidFill>
                  <a:srgbClr val="1A1A1A"/>
                </a:solidFill>
                <a:latin typeface="Lato"/>
              </a:rPr>
              <a:t>Obtain a name-to-refcode mapping and close RQ3.</a:t>
            </a:r>
          </a:p>
          <a:p>
            <a:pPr algn="l">
              <a:lnSpc>
                <a:spcPct val="120000"/>
              </a:lnSpc>
              <a:spcBef>
                <a:spcPts val="0"/>
              </a:spcBef>
              <a:spcAft>
                <a:spcPts val="900"/>
              </a:spcAft>
            </a:pPr>
            <a:r>
              <a:rPr sz="1350" b="0" i="0">
                <a:solidFill>
                  <a:srgbClr val="1A1A1A"/>
                </a:solidFill>
                <a:latin typeface="Lato"/>
              </a:rPr>
              <a:t>Finish the error review: why gpt-4o declines to extract.</a:t>
            </a:r>
          </a:p>
          <a:p>
            <a:pPr algn="l">
              <a:lnSpc>
                <a:spcPct val="120000"/>
              </a:lnSpc>
              <a:spcBef>
                <a:spcPts val="0"/>
              </a:spcBef>
              <a:spcAft>
                <a:spcPts val="900"/>
              </a:spcAft>
            </a:pPr>
            <a:r>
              <a:rPr sz="1350" b="0" i="0">
                <a:solidFill>
                  <a:srgbClr val="1A1A1A"/>
                </a:solidFill>
                <a:latin typeface="Lato"/>
              </a:rPr>
              <a:t>Repair the condition evaluation and add identifier resolution.</a:t>
            </a:r>
          </a:p>
          <a:p>
            <a:pPr algn="l">
              <a:lnSpc>
                <a:spcPct val="120000"/>
              </a:lnSpc>
              <a:spcBef>
                <a:spcPts val="0"/>
              </a:spcBef>
              <a:spcAft>
                <a:spcPts val="900"/>
              </a:spcAft>
            </a:pPr>
            <a:r>
              <a:rPr sz="1350" b="0" i="0">
                <a:solidFill>
                  <a:srgbClr val="1A1A1A"/>
                </a:solidFill>
                <a:latin typeface="Lato"/>
              </a:rPr>
              <a:t>Enlarge the gold standard and add a second annotator.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