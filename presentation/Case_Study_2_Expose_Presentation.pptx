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1051560"/>
            <a:ext cx="1554480" cy="12020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060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55555"/>
                </a:solidFill>
                <a:latin typeface="Lato"/>
              </a:rPr>
              <a:t>C A S E   S T U D Y   2      ·      E X P O S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Lato"/>
              </a:rPr>
              <a:t>Building and Validating a Metal–Organic Framework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Lato"/>
              </a:rPr>
              <a:t>Synthesis Knowledge Graph with Large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5767" y="4526280"/>
            <a:ext cx="1280160" cy="381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1A1A"/>
                </a:solidFill>
                <a:latin typeface="Lato"/>
              </a:rPr>
              <a:t>Devendra Singh Dhakad</a:t>
            </a:r>
            <a:r>
              <a:rPr sz="1600" b="0" i="0">
                <a:solidFill>
                  <a:srgbClr val="555555"/>
                </a:solidFill>
                <a:latin typeface="Lato"/>
              </a:rPr>
              <a:t>      ·      Matriculation No. 100004684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M.Sc. Data Science and Artificial Intelligence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Supervisor: Prof. Dr. Mehrdad Jalali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SRH University of Applied Sciences Heidelberg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BBBBB"/>
                </a:solidFill>
                <a:latin typeface="Lato"/>
              </a:rPr>
              <a:t>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2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Introduction and relevance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Metal–Organic Frameworks (MOFs) are among the most intensively studied porous crystalline materials: over 100,000 synthesised structures are recorded in the Cambridge Structural Database.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Their applications span CO2 capture, gas storage and separation, catalysis, sensing, and drug delivery.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Yet how a MOF is made (precursor, linker, solvent, method, temperature, time) stays locked in the prose of tens of thousands of publications.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So synthesis planning still relies heavily on expert intuition and trial and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The opportunity, and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Large Language Models and Knowledge Graphs can turn this text into a structured, queryable resource (Pan et al., 2024).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Bai et al. (2025) built a 2.5-million-node knowledge graph for framework materials from over 100,000 articles. Scale is already proven.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What stays under-quantified is reliability: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How accurate are LLM-extracted synthesis records, field by field?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How do they compare with established text-mined databases and domain baselines?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What do open-weight models deliver versus commercial APIs, and at what cost?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This project: build and validate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An end-to-end pipeline extracts complete synthesis records (precursors, linkers, solvents, methods, conditions, properties, applications) from open-access MOF literature into a Neo4j graph with full provenance.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Extraction quality is validated three ways: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against a hand-annotated gold standard,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cross-checked against the DigiMOF and SynMOF databases,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E64415"/>
                </a:solidFill>
                <a:latin typeface="Lato"/>
              </a:rPr>
              <a:t>      –  </a:t>
            </a:r>
            <a:r>
              <a:rPr sz="1500" b="0" i="0">
                <a:solidFill>
                  <a:srgbClr val="555555"/>
                </a:solidFill>
                <a:latin typeface="Lato"/>
              </a:rPr>
              <a:t>benchmarked against ChemDataExtractor and MatSciBERT.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The outcome is a reproducible validation framework for LLM-based scientific extraction, plus a queryable, provenance-aware MOF synthesis knowledge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3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114300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" cy="11430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64415"/>
                </a:solidFill>
                <a:latin typeface="Lato"/>
              </a:rPr>
              <a:t>Main question:  </a:t>
            </a:r>
            <a:r>
              <a:rPr sz="1450" b="0" i="0">
                <a:solidFill>
                  <a:srgbClr val="1A1A1A"/>
                </a:solidFill>
                <a:latin typeface="Lato"/>
              </a:rPr>
              <a:t>How accurately and reliably can LLMs extract complete MOF synthesis records (precursor, linker, solvent, method, conditions) from the literature, measured against expert annotation, established text-mined databases (DigiMOF, SynMOF), and domain-specific baselines?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Which prompting strategy (zero-shot, few-shot, schema-guided, chain-of-thought) is most reliable for each field?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Where and why do LLM extractions disagree with DigiMOF and SynMOF, and which source is correct?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How do open-weight models (Llama-3) compare to commercial APIs (GPT-4o, Claude) on per-field accuracy, cost, and latency?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Can the KG answer cross-paper aggregation queries, and, as a stretch goal, support KG-grounded question answering?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550" b="0" i="0">
                <a:solidFill>
                  <a:srgbClr val="1A1A1A"/>
                </a:solidFill>
                <a:latin typeface="Lato"/>
              </a:rPr>
              <a:t>Finalise the MOF synthesis ontology (v0.2: eight entity types plus mandatory provenance) with supervisor input.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550" b="0" i="0">
                <a:solidFill>
                  <a:srgbClr val="1A1A1A"/>
                </a:solidFill>
                <a:latin typeface="Lato"/>
              </a:rPr>
              <a:t>Assemble 300–500 open-access MOF synthesis papers (CSD MOF subset, the DigiMOF article index, ChemRxiv, and PubMed Central OA).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550" b="0" i="0">
                <a:solidFill>
                  <a:srgbClr val="1A1A1A"/>
                </a:solidFill>
                <a:latin typeface="Lato"/>
              </a:rPr>
              <a:t>Implement a unified extraction interface spanning LLM strategies and baselines (ChemDataExtractor 2.0, MatSciBERT).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550" b="0" i="0">
                <a:solidFill>
                  <a:srgbClr val="1A1A1A"/>
                </a:solidFill>
                <a:latin typeface="Lato"/>
              </a:rPr>
              <a:t>Hand-annotate 150–200 synthesis paragraphs in Label Studio and define the DigiMOF/SynMOF field mapping.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550" b="0" i="0">
                <a:solidFill>
                  <a:srgbClr val="1A1A1A"/>
                </a:solidFill>
                <a:latin typeface="Lato"/>
              </a:rPr>
              <a:t>Construct a Neo4j KG with chemical-name entity resolution and a Streamlit dashboard with natural-language-to-Cypher querying.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4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State of the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350" b="1" i="0">
                <a:solidFill>
                  <a:srgbClr val="1A1A1A"/>
                </a:solidFill>
                <a:latin typeface="Lato"/>
              </a:rPr>
              <a:t>Rule-based text mining: </a:t>
            </a:r>
            <a:r>
              <a:rPr sz="1350" b="0" i="0">
                <a:solidFill>
                  <a:srgbClr val="555555"/>
                </a:solidFill>
                <a:latin typeface="Lato"/>
              </a:rPr>
              <a:t>ChemDataExtractor (Swain &amp; Cole, 2016) powers DigiMOF (Glasby, 2023) and SynMOF (Luo, 2022). Precise but rigid on free-text conditions.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350" b="1" i="0">
                <a:solidFill>
                  <a:srgbClr val="1A1A1A"/>
                </a:solidFill>
                <a:latin typeface="Lato"/>
              </a:rPr>
              <a:t>Domain language models: </a:t>
            </a:r>
            <a:r>
              <a:rPr sz="1350" b="0" i="0">
                <a:solidFill>
                  <a:srgbClr val="555555"/>
                </a:solidFill>
                <a:latin typeface="Lato"/>
              </a:rPr>
              <a:t>MatSciBERT (Gupta, 2022) improves materials NER but needs labelled data and stops at entity level, not complete records.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350" b="1" i="0">
                <a:solidFill>
                  <a:srgbClr val="1A1A1A"/>
                </a:solidFill>
                <a:latin typeface="Lato"/>
              </a:rPr>
              <a:t>LLM extraction in chemistry: </a:t>
            </a:r>
            <a:r>
              <a:rPr sz="1350" b="0" i="0">
                <a:solidFill>
                  <a:srgbClr val="555555"/>
                </a:solidFill>
                <a:latin typeface="Lato"/>
              </a:rPr>
              <a:t>Zheng (2023), Dagdelen (2024), Polak &amp; Morgan (2024), Shi (2024), Lin (2025). Mostly commercial GPT, validated on small sets.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350" b="1" i="0">
                <a:solidFill>
                  <a:srgbClr val="1A1A1A"/>
                </a:solidFill>
                <a:latin typeface="Lato"/>
              </a:rPr>
              <a:t>LLM-constructed knowledge graphs: </a:t>
            </a:r>
            <a:r>
              <a:rPr sz="1350" b="0" i="0">
                <a:solidFill>
                  <a:srgbClr val="555555"/>
                </a:solidFill>
                <a:latin typeface="Lato"/>
              </a:rPr>
              <a:t>Pan (2024), Bai (2025), GraphRAG (Edge, 2024). Scale is shown; per-field extraction validity is not the focus.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350" b="1" i="0">
                <a:solidFill>
                  <a:srgbClr val="1A1A1A"/>
                </a:solidFill>
                <a:latin typeface="Lato"/>
              </a:rPr>
              <a:t>Graph ML on MOF data: </a:t>
            </a:r>
            <a:r>
              <a:rPr sz="1350" b="0" i="0">
                <a:solidFill>
                  <a:srgbClr val="555555"/>
                </a:solidFill>
                <a:latin typeface="Lato"/>
              </a:rPr>
              <a:t>MOFGalaxyNet (Jalali, 2023) predicts properties from a MOF network, a downstream use that depends on reliable structured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32120"/>
            <a:ext cx="91440" cy="77724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The gap:  </a:t>
            </a:r>
            <a:r>
              <a:rPr sz="1350" b="0" i="0">
                <a:solidFill>
                  <a:srgbClr val="1A1A1A"/>
                </a:solidFill>
                <a:latin typeface="Lato"/>
              </a:rPr>
              <a:t>no study validates LLM-extracted MOF synthesis records field by field against both expert annotation and the text-mined databases. This project closes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5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64415"/>
                </a:solidFill>
                <a:latin typeface="La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Lato"/>
              </a:rPr>
              <a:t>Corpus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8600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300–500 open-access papers (CSD MOF subset, DigiMOF index, ChemRxiv, PubMed Central OA), parsed to clean text with GROBID / PyMuPDF.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62656"/>
            <a:ext cx="10881360" cy="9525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64415"/>
                </a:solidFill>
                <a:latin typeface="La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7238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Lato"/>
              </a:rPr>
              <a:t>Schema and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072384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MOF ontology v0.2; 150–200 paragraphs hand-annotated in Label Studio as the gold standard; field mapping to DigiMOF/SynMOF.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10881360" cy="9525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587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64415"/>
                </a:solidFill>
                <a:latin typeface="La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5876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Lato"/>
              </a:rPr>
              <a:t>Extraction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5876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LLMs (GPT-4o, Claude, Llama-3) under zero-shot, few-shot, schema-guided and chain-of-thought prompting; baselines ChemDataExtractor 2.0 and MatSciBERT; one shared output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35424"/>
            <a:ext cx="10881360" cy="9525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64415"/>
                </a:solidFill>
                <a:latin typeface="La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4515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Lato"/>
              </a:rPr>
              <a:t>KG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645152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Neo4j with SBERT chemical-name entity resolution and provenance edges; target 5,000+ entities and 25,000+ relations.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21808"/>
            <a:ext cx="10881360" cy="9525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64415"/>
                </a:solidFill>
                <a:latin typeface="Lat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31536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Lato"/>
              </a:rPr>
              <a:t>Validation and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43153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Per-field precision / recall / F1 versus the gold standard; agreement versus DigiMOF/SynMOF; cost and latency profiling; Streamlit natural-language-to-Cypher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6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Work plan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55555"/>
                </a:solidFill>
                <a:latin typeface="Lato"/>
              </a:rPr>
              <a:t>12 weeks  (22 June – 15 September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43200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Literature deep dive; finalise MOF ontology with supervisor; assemble corpus DOI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27248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PDF parsing pipeline; cleaned corpus; synthesis-paragraph coverage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1129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4–5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11296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Implement LLM extraction pipelines (zero-shot, few-shot, schema-guided, CoT) and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9534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895344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Hand-annotate the gold standard; freeze the evaluation protocol and DigiMOF/SynMOF field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9392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79392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Set up Neo4j; KG ingestion; entity resolution and chemical-name normalisation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663440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Run all extractors at scale; populate the full KG; compute per-field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4748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047488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Agreement analysis versus DigiMOF/SynMOF; error taxonomy; cost and latency comparison; ablations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3153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31536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Streamlit dashboard with natural-language-to-Cypher and provenance views; stretch: KG-RAG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1558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15584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End-to-end reproducibility (fresh Docker build); supervisor feedback round;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99632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415"/>
                </a:solidFill>
                <a:latin typeface="Lato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6199632"/>
            <a:ext cx="9921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Finalise the report, code repository, and presentation slides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7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03520" cy="320040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" cy="32004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Quantitative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Per-field precision, recall and F1 for every extractor and prompting combination (target F1 ≥ 0.80 on well-defined fields such as precursor, linker and solvent; honest reporting on harder fields such as process conditions).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Agreement rates with DigiMOF and SynMOF on overlapping papers.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A cost and latency table for commercial versus open-weight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286000"/>
            <a:ext cx="5257800" cy="320040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91440" cy="32004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8006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Qualitative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A failure-mode taxonomy of where LLM extraction breaks: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55555"/>
                </a:solidFill>
                <a:latin typeface="Lato"/>
              </a:rPr>
              <a:t>hallucinated values, unit errors, missed coreferences, and schema violations.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Per-field guidance on which prompting strategy to trust for each kind of synthesis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Artefact and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4415"/>
                </a:solidFill>
                <a:latin typeface="Lato"/>
              </a:rPr>
              <a:t>Artefact:  </a:t>
            </a:r>
            <a:r>
              <a:rPr sz="1500" b="0" i="0">
                <a:solidFill>
                  <a:srgbClr val="1A1A1A"/>
                </a:solidFill>
                <a:latin typeface="Lato"/>
              </a:rPr>
              <a:t>a provenance-aware Neo4j MOF synthesis knowledge graph (target 5,000+ entities, 25,000+ relations), queryable via a Streamlit dashboard that translates natural-language questions to Cypher.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50" b="0" i="0">
                <a:solidFill>
                  <a:srgbClr val="1A1A1A"/>
                </a:solidFill>
                <a:latin typeface="Lato"/>
              </a:rPr>
              <a:t>Reproducible Docker-packaged repository.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50" b="0" i="0">
                <a:solidFill>
                  <a:srgbClr val="1A1A1A"/>
                </a:solidFill>
                <a:latin typeface="Lato"/>
              </a:rPr>
              <a:t>KG dump, ontology, and gold standard.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50" b="0" i="0">
                <a:solidFill>
                  <a:srgbClr val="1A1A1A"/>
                </a:solidFill>
                <a:latin typeface="Lato"/>
              </a:rPr>
              <a:t>Evaluation report with full metrics and error analysis.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50" b="0" i="0">
                <a:solidFill>
                  <a:srgbClr val="1A1A1A"/>
                </a:solidFill>
                <a:latin typeface="Lato"/>
              </a:rPr>
              <a:t>Final written report and defence slides.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91440" cy="105156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0096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64415"/>
                </a:solidFill>
                <a:latin typeface="Lato"/>
              </a:rPr>
              <a:t>Ethics and reproducibility:  </a:t>
            </a:r>
            <a:r>
              <a:rPr sz="1350" b="0" i="0">
                <a:solidFill>
                  <a:srgbClr val="1A1A1A"/>
                </a:solidFill>
                <a:latin typeface="Lato"/>
              </a:rPr>
              <a:t>only open-access publications under permissive licences are processed. The pipeline is containerised for one-command reproducibility, and all LLM calls are cached and logged so experiments replay without re-incurring inference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A validated extraction pipeline turns literature into data: the KG can feed synthesis-prediction models (Luo et al., 2022) and graph-based property models such as MOFGalaxyNet (Jalali et al., 2023).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The framework extends naturally to covalent organic frameworks, a direct path to follow-on thesis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1088136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Lato"/>
              </a:rPr>
              <a:t>Devendra Singh Dhakad</a:t>
            </a:r>
            <a:r>
              <a:rPr sz="1300" b="0" i="0">
                <a:solidFill>
                  <a:srgbClr val="555555"/>
                </a:solidFill>
                <a:latin typeface="Lato"/>
              </a:rPr>
              <a:t>   ·   Matriculation No. 100004684   ·   </a:t>
            </a:r>
            <a:r>
              <a:rPr sz="1300" b="0" i="0">
                <a:solidFill>
                  <a:srgbClr val="555555"/>
                </a:solidFill>
                <a:latin typeface="Lato"/>
              </a:rPr>
              <a:t>SRH University of Applied Sciences Heidelberg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5555"/>
                </a:solidFill>
                <a:latin typeface="Lato"/>
              </a:rPr>
              <a:t>Supervisor: Prof. Dr. Mehrdad Jalali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Lato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Bai, X., et al. (2025). Construction of a Knowledge Graph for Framework Material Enabled by LLMs. npj Comput. Mater., 11, 51.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Dagdelen, J., et al. (2024). Structured Information Extraction from Scientific Text with LLMs. Nat. Commun., 15, 1418.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Edge, D., et al. (2024). From Local to Global: A GraphRAG Approach to Query-Focused Summarization. arXiv:2404.16130.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Glasby, L. T., et al. (2023). DigiMOF: A Database of MOF Synthesis Information. Chem. Mater., 35(11), 4510–4524.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Gupta, T., et al. (2022). MatSciBERT: A Materials Domain Language Model. npj Comput. Mater., 8, 102.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Jalali, M., et al. (2023). MOFGalaxyNet: Social Network Analysis for Predicting Guest Accessibility in MOFs. J. Cheminform., 15, 94.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Lin, Z., et al. (2025). Reshaping MOFs Text Mining with a Dynamic Multi-Agent Framework. arXiv:2504.18880.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Luo, Y., et al. (2022). MOF Synthesis Prediction Enabled by Automatic Data Mining and ML. Angew. Chem. Int. Ed., 61, e202200242.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Pan, S., et al. (2024). Unifying Large Language Models and Knowledge Graphs: A Roadmap. IEEE TKDE, 36(7), 3580–3599.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Polak, M. P., &amp; Morgan, D. (2024). Extracting Accurate Materials Data with Conversational LLMs. Nat. Commun., 15, 1569.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Shi, L., et al. (2024). LLM-Based MOFs Synthesis Condition Extraction Using Few-Shot Demonstrations. arXiv:2408.04665.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Swain, M. C., &amp; Cole, J. M. (2016). ChemDataExtractor. J. Chem. Inf. Model., 56(10), 1894–1904.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64415"/>
                </a:solidFill>
                <a:latin typeface="Lato"/>
              </a:rPr>
              <a:t>•  </a:t>
            </a:r>
            <a:r>
              <a:rPr sz="1050" b="0" i="0">
                <a:solidFill>
                  <a:srgbClr val="555555"/>
                </a:solidFill>
                <a:latin typeface="Lato"/>
              </a:rPr>
              <a:t>Zheng, Z., et al. (2023). ChatGPT Chemistry Assistant for Text Mining and Prediction of MOF Synthesis. JACS, 145(32), 18048–18062.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